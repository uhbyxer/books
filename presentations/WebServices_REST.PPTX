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24"/>
  </p:notesMasterIdLst>
  <p:handoutMasterIdLst>
    <p:handoutMasterId r:id="rId25"/>
  </p:handoutMasterIdLst>
  <p:sldIdLst>
    <p:sldId id="377" r:id="rId2"/>
    <p:sldId id="412" r:id="rId3"/>
    <p:sldId id="382" r:id="rId4"/>
    <p:sldId id="378" r:id="rId5"/>
    <p:sldId id="379" r:id="rId6"/>
    <p:sldId id="384" r:id="rId7"/>
    <p:sldId id="414" r:id="rId8"/>
    <p:sldId id="383" r:id="rId9"/>
    <p:sldId id="416" r:id="rId10"/>
    <p:sldId id="417" r:id="rId11"/>
    <p:sldId id="421" r:id="rId12"/>
    <p:sldId id="432" r:id="rId13"/>
    <p:sldId id="428" r:id="rId14"/>
    <p:sldId id="427" r:id="rId15"/>
    <p:sldId id="409" r:id="rId16"/>
    <p:sldId id="411" r:id="rId17"/>
    <p:sldId id="430" r:id="rId18"/>
    <p:sldId id="429" r:id="rId19"/>
    <p:sldId id="401" r:id="rId20"/>
    <p:sldId id="406" r:id="rId21"/>
    <p:sldId id="431" r:id="rId22"/>
    <p:sldId id="400" r:id="rId23"/>
  </p:sldIdLst>
  <p:sldSz cx="9144000" cy="6858000" type="screen4x3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Page Options" id="{7B6B4EC7-FC6D-4749-B97F-A2DEF9F32144}">
          <p14:sldIdLst>
            <p14:sldId id="377"/>
          </p14:sldIdLst>
        </p14:section>
        <p14:section name="Content Pages" id="{3C68DE92-C1C6-714A-8AF4-15E21920A072}">
          <p14:sldIdLst>
            <p14:sldId id="412"/>
            <p14:sldId id="382"/>
            <p14:sldId id="378"/>
            <p14:sldId id="379"/>
            <p14:sldId id="384"/>
            <p14:sldId id="414"/>
            <p14:sldId id="383"/>
            <p14:sldId id="416"/>
            <p14:sldId id="417"/>
            <p14:sldId id="421"/>
            <p14:sldId id="432"/>
            <p14:sldId id="428"/>
            <p14:sldId id="427"/>
            <p14:sldId id="409"/>
            <p14:sldId id="411"/>
            <p14:sldId id="430"/>
            <p14:sldId id="429"/>
            <p14:sldId id="401"/>
            <p14:sldId id="406"/>
            <p14:sldId id="431"/>
            <p14:sldId id="400"/>
          </p14:sldIdLst>
        </p14:section>
        <p14:section name="End Page" id="{2F30834D-CDFD-E940-8841-26779747EFE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5520" userDrawn="1">
          <p15:clr>
            <a:srgbClr val="A4A3A4"/>
          </p15:clr>
        </p15:guide>
        <p15:guide id="3" orient="horz" pos="384" userDrawn="1">
          <p15:clr>
            <a:srgbClr val="A4A3A4"/>
          </p15:clr>
        </p15:guide>
        <p15:guide id="4" pos="240" userDrawn="1">
          <p15:clr>
            <a:srgbClr val="A4A3A4"/>
          </p15:clr>
        </p15:guide>
        <p15:guide id="5" pos="48" userDrawn="1">
          <p15:clr>
            <a:srgbClr val="A4A3A4"/>
          </p15:clr>
        </p15:guide>
        <p15:guide id="6" orient="horz" pos="43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AD35"/>
    <a:srgbClr val="86A432"/>
    <a:srgbClr val="A3C644"/>
    <a:srgbClr val="A1233E"/>
    <a:srgbClr val="B22746"/>
    <a:srgbClr val="6E8729"/>
    <a:srgbClr val="B1CE60"/>
    <a:srgbClr val="F7F7F7"/>
    <a:srgbClr val="89A733"/>
    <a:srgbClr val="98BA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38" autoAdjust="0"/>
    <p:restoredTop sz="96221" autoAdjust="0"/>
  </p:normalViewPr>
  <p:slideViewPr>
    <p:cSldViewPr>
      <p:cViewPr varScale="1">
        <p:scale>
          <a:sx n="161" d="100"/>
          <a:sy n="161" d="100"/>
        </p:scale>
        <p:origin x="1680" y="150"/>
      </p:cViewPr>
      <p:guideLst>
        <p:guide orient="horz"/>
        <p:guide pos="5520"/>
        <p:guide orient="horz" pos="384"/>
        <p:guide pos="240"/>
        <p:guide pos="48"/>
        <p:guide orient="horz" pos="43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13" d="100"/>
          <a:sy n="113" d="100"/>
        </p:scale>
        <p:origin x="475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9F7FF7-50CD-D74F-8521-E72DB68B670C}" type="datetimeFigureOut">
              <a:rPr lang="en-US" smtClean="0"/>
              <a:pPr/>
              <a:t>5/12/2016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6F62F-B370-7346-B33C-1C487BFE615A}" type="slidenum">
              <a:rPr lang="en-US" smtClean="0"/>
              <a:pPr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8081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D1DD9B-E140-4D76-B427-DF4838D859EA}" type="datetimeFigureOut">
              <a:rPr lang="en-US" smtClean="0"/>
              <a:pPr/>
              <a:t>5/12/2016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67C37-924A-4F8E-82E0-C3470BACC8B3}" type="slidenum">
              <a:rPr lang="en-US" smtClean="0"/>
              <a:pPr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6580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068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67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3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83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655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964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96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403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457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087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44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295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2519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7104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2465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1759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502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318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8005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9864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961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17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68580" tIns="34290" rIns="68580" bIns="34290" anchor="ctr"/>
          <a:lstStyle>
            <a:lvl1pPr marL="0" indent="0" algn="ctr">
              <a:buNone/>
              <a:defRPr/>
            </a:lvl1pPr>
          </a:lstStyle>
          <a:p>
            <a:r>
              <a:rPr lang="en-US" dirty="0" smtClean="0"/>
              <a:t>Background Image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2075578"/>
            <a:ext cx="6910388" cy="595035"/>
          </a:xfrm>
          <a:prstGeom prst="rect">
            <a:avLst/>
          </a:prstGeom>
        </p:spPr>
        <p:txBody>
          <a:bodyPr lIns="68580" tIns="34290" rIns="68580" bIns="3429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100" spc="-150">
                <a:solidFill>
                  <a:schemeClr val="bg1"/>
                </a:solidFill>
                <a:latin typeface="Arial Black"/>
                <a:cs typeface="Arial Black"/>
              </a:defRPr>
            </a:lvl1pPr>
            <a:lvl2pPr>
              <a:defRPr sz="4500">
                <a:latin typeface="Arial Black"/>
                <a:cs typeface="Arial Black"/>
              </a:defRPr>
            </a:lvl2pPr>
            <a:lvl3pPr>
              <a:defRPr sz="4500">
                <a:latin typeface="Arial Black"/>
                <a:cs typeface="Arial Black"/>
              </a:defRPr>
            </a:lvl3pPr>
            <a:lvl4pPr>
              <a:defRPr sz="4500">
                <a:latin typeface="Arial Black"/>
                <a:cs typeface="Arial Black"/>
              </a:defRPr>
            </a:lvl4pPr>
            <a:lvl5pPr>
              <a:defRPr sz="4500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 smtClean="0"/>
              <a:t>CLICK TO ADD TITLE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660401" y="4453469"/>
            <a:ext cx="6488113" cy="284693"/>
          </a:xfrm>
          <a:prstGeom prst="rect">
            <a:avLst/>
          </a:prstGeom>
        </p:spPr>
        <p:txBody>
          <a:bodyPr lIns="68580" tIns="34290" rIns="68580" bIns="3429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 smtClean="0"/>
              <a:t>CLICK TO ADD SUBTITLE</a:t>
            </a:r>
            <a:endParaRPr lang="en-US" dirty="0"/>
          </a:p>
        </p:txBody>
      </p:sp>
      <p:sp>
        <p:nvSpPr>
          <p:cNvPr id="5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660399" y="5459486"/>
            <a:ext cx="3649662" cy="373063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lvl1pPr marL="0" indent="0">
              <a:buNone/>
              <a:defRPr sz="14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 smtClean="0"/>
              <a:t>MONTH DATE, YEAR</a:t>
            </a:r>
            <a:endParaRPr lang="en-US" dirty="0"/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9" hasCustomPrompt="1"/>
          </p:nvPr>
        </p:nvSpPr>
        <p:spPr>
          <a:xfrm>
            <a:off x="609600" y="671513"/>
            <a:ext cx="1371600" cy="7620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279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9144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 smtClean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216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idx="1" hasCustomPrompt="1"/>
          </p:nvPr>
        </p:nvSpPr>
        <p:spPr>
          <a:xfrm>
            <a:off x="352473" y="1223705"/>
            <a:ext cx="8337502" cy="452596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 dirty="0" smtClean="0">
                <a:solidFill>
                  <a:srgbClr val="444444"/>
                </a:solidFill>
              </a:rPr>
              <a:t>Click to add text - Lorem </a:t>
            </a:r>
            <a:r>
              <a:rPr lang="en-US" dirty="0" err="1" smtClean="0">
                <a:solidFill>
                  <a:srgbClr val="444444"/>
                </a:solidFill>
              </a:rPr>
              <a:t>ipsum</a:t>
            </a:r>
            <a:r>
              <a:rPr lang="en-US" dirty="0" smtClean="0">
                <a:solidFill>
                  <a:srgbClr val="444444"/>
                </a:solidFill>
              </a:rPr>
              <a:t> dolor sit </a:t>
            </a:r>
            <a:r>
              <a:rPr lang="en-US" dirty="0" err="1" smtClean="0">
                <a:solidFill>
                  <a:srgbClr val="444444"/>
                </a:solidFill>
              </a:rPr>
              <a:t>amet</a:t>
            </a:r>
            <a:r>
              <a:rPr lang="en-US" dirty="0" smtClean="0">
                <a:solidFill>
                  <a:srgbClr val="444444"/>
                </a:solidFill>
              </a:rPr>
              <a:t>, </a:t>
            </a:r>
            <a:r>
              <a:rPr lang="en-US" dirty="0" err="1" smtClean="0">
                <a:solidFill>
                  <a:srgbClr val="444444"/>
                </a:solidFill>
              </a:rPr>
              <a:t>consectetur</a:t>
            </a:r>
            <a:r>
              <a:rPr lang="en-US" dirty="0" smtClean="0">
                <a:solidFill>
                  <a:srgbClr val="444444"/>
                </a:solidFill>
              </a:rPr>
              <a:t> adipiscing </a:t>
            </a:r>
            <a:r>
              <a:rPr lang="en-US" dirty="0" err="1" smtClean="0">
                <a:solidFill>
                  <a:srgbClr val="444444"/>
                </a:solidFill>
              </a:rPr>
              <a:t>elit</a:t>
            </a:r>
            <a:r>
              <a:rPr lang="en-US" dirty="0" smtClean="0">
                <a:solidFill>
                  <a:srgbClr val="444444"/>
                </a:solidFill>
              </a:rPr>
              <a:t>. </a:t>
            </a:r>
            <a:r>
              <a:rPr lang="en-US" dirty="0" err="1" smtClean="0">
                <a:solidFill>
                  <a:srgbClr val="444444"/>
                </a:solidFill>
              </a:rPr>
              <a:t>Ut</a:t>
            </a:r>
            <a:r>
              <a:rPr lang="en-US" dirty="0" smtClean="0">
                <a:solidFill>
                  <a:srgbClr val="444444"/>
                </a:solidFill>
              </a:rPr>
              <a:t> vitae </a:t>
            </a:r>
            <a:r>
              <a:rPr lang="en-US" dirty="0" err="1" smtClean="0">
                <a:solidFill>
                  <a:srgbClr val="444444"/>
                </a:solidFill>
              </a:rPr>
              <a:t>laoreet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mauris</a:t>
            </a:r>
            <a:r>
              <a:rPr lang="en-US" dirty="0" smtClean="0">
                <a:solidFill>
                  <a:srgbClr val="444444"/>
                </a:solidFill>
              </a:rPr>
              <a:t>. </a:t>
            </a:r>
            <a:r>
              <a:rPr lang="en-US" dirty="0" err="1" smtClean="0">
                <a:solidFill>
                  <a:srgbClr val="444444"/>
                </a:solidFill>
              </a:rPr>
              <a:t>Sed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eleifend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lorem</a:t>
            </a:r>
            <a:r>
              <a:rPr lang="en-US" dirty="0" smtClean="0">
                <a:solidFill>
                  <a:srgbClr val="444444"/>
                </a:solidFill>
              </a:rPr>
              <a:t> a </a:t>
            </a:r>
            <a:r>
              <a:rPr lang="en-US" dirty="0" err="1" smtClean="0">
                <a:solidFill>
                  <a:srgbClr val="444444"/>
                </a:solidFill>
              </a:rPr>
              <a:t>purus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tincidunt</a:t>
            </a:r>
            <a:r>
              <a:rPr lang="en-US" dirty="0" smtClean="0">
                <a:solidFill>
                  <a:srgbClr val="444444"/>
                </a:solidFill>
              </a:rPr>
              <a:t>, a </a:t>
            </a:r>
            <a:r>
              <a:rPr lang="en-US" dirty="0" err="1" smtClean="0">
                <a:solidFill>
                  <a:srgbClr val="444444"/>
                </a:solidFill>
              </a:rPr>
              <a:t>malesuada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mauris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bibendum</a:t>
            </a:r>
            <a:r>
              <a:rPr lang="en-US" dirty="0" smtClean="0">
                <a:solidFill>
                  <a:srgbClr val="444444"/>
                </a:solidFill>
              </a:rPr>
              <a:t>. </a:t>
            </a:r>
            <a:r>
              <a:rPr lang="en-US" dirty="0" err="1" smtClean="0">
                <a:solidFill>
                  <a:srgbClr val="444444"/>
                </a:solidFill>
              </a:rPr>
              <a:t>Praesent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bibendum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justo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nec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metus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auctor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volutpat</a:t>
            </a:r>
            <a:r>
              <a:rPr lang="en-US" dirty="0" smtClean="0">
                <a:solidFill>
                  <a:srgbClr val="444444"/>
                </a:solidFill>
              </a:rPr>
              <a:t>. </a:t>
            </a:r>
            <a:r>
              <a:rPr lang="en-US" dirty="0" err="1" smtClean="0">
                <a:solidFill>
                  <a:srgbClr val="444444"/>
                </a:solidFill>
              </a:rPr>
              <a:t>Morbi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malesuada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mattis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eros</a:t>
            </a:r>
            <a:r>
              <a:rPr lang="en-US" dirty="0" smtClean="0">
                <a:solidFill>
                  <a:srgbClr val="444444"/>
                </a:solidFill>
              </a:rPr>
              <a:t>, </a:t>
            </a:r>
            <a:r>
              <a:rPr lang="en-US" dirty="0" err="1" smtClean="0">
                <a:solidFill>
                  <a:srgbClr val="444444"/>
                </a:solidFill>
              </a:rPr>
              <a:t>adipiscing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tempor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lorem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varius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eget</a:t>
            </a:r>
            <a:r>
              <a:rPr lang="en-US" dirty="0" smtClean="0">
                <a:solidFill>
                  <a:srgbClr val="444444"/>
                </a:solidFill>
              </a:rPr>
              <a:t>…</a:t>
            </a: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9144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 smtClean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174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2473" y="1439863"/>
            <a:ext cx="8332740" cy="4222751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marL="342900" indent="-342900">
              <a:lnSpc>
                <a:spcPts val="1800"/>
              </a:lnSpc>
              <a:spcBef>
                <a:spcPts val="0"/>
              </a:spcBef>
              <a:spcAft>
                <a:spcPts val="1800"/>
              </a:spcAft>
              <a:buSzPct val="140000"/>
              <a:buFont typeface="+mj-lt"/>
              <a:buAutoNum type="arabicPeriod"/>
              <a:defRPr sz="1500" baseline="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 smtClean="0"/>
              <a:t>Click to add numbered list</a:t>
            </a:r>
          </a:p>
          <a:p>
            <a:pPr lvl="0"/>
            <a:r>
              <a:rPr lang="en-US" dirty="0" smtClean="0"/>
              <a:t>Click to add numbered list</a:t>
            </a:r>
          </a:p>
          <a:p>
            <a:pPr lvl="0"/>
            <a:r>
              <a:rPr lang="en-US" dirty="0" smtClean="0"/>
              <a:t>Click to add numbered list</a:t>
            </a:r>
          </a:p>
          <a:p>
            <a:pPr lvl="0"/>
            <a:r>
              <a:rPr lang="en-US" dirty="0" smtClean="0"/>
              <a:t>Click to add numbered list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9144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 smtClean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330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360363" y="1439864"/>
            <a:ext cx="8329612" cy="452596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130302" marR="0" indent="-130302" algn="l" defTabSz="3429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400" baseline="0"/>
            </a:lvl1pPr>
            <a:lvl2pPr marL="557213" indent="-214313">
              <a:lnSpc>
                <a:spcPct val="120000"/>
              </a:lnSpc>
              <a:buSzPct val="100000"/>
              <a:buFont typeface="Arial"/>
              <a:buChar char="•"/>
              <a:defRPr sz="1200" baseline="0"/>
            </a:lvl2pPr>
            <a:lvl3pPr>
              <a:lnSpc>
                <a:spcPct val="120000"/>
              </a:lnSpc>
              <a:defRPr sz="1100" baseline="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 smtClean="0"/>
              <a:t>Click to add bulleted list</a:t>
            </a:r>
          </a:p>
          <a:p>
            <a:pPr lvl="1"/>
            <a:r>
              <a:rPr lang="en-US" dirty="0" smtClean="0"/>
              <a:t>Second Level Bullet</a:t>
            </a:r>
          </a:p>
          <a:p>
            <a:pPr lvl="2"/>
            <a:r>
              <a:rPr lang="en-US" dirty="0" smtClean="0"/>
              <a:t>Third Level Bullet</a:t>
            </a:r>
            <a:br>
              <a:rPr lang="en-US" dirty="0" smtClean="0"/>
            </a:br>
            <a:endParaRPr lang="en-US" dirty="0" smtClean="0"/>
          </a:p>
          <a:p>
            <a:pPr lvl="0"/>
            <a:r>
              <a:rPr lang="en-US" dirty="0" smtClean="0"/>
              <a:t>Click to add bulleted list</a:t>
            </a:r>
          </a:p>
          <a:p>
            <a:pPr lvl="0"/>
            <a:r>
              <a:rPr lang="en-US" dirty="0" smtClean="0"/>
              <a:t>Click to add bulleted list</a:t>
            </a:r>
          </a:p>
          <a:p>
            <a:pPr lvl="0"/>
            <a:r>
              <a:rPr lang="en-US" dirty="0" smtClean="0"/>
              <a:t>Click to add bulleted list</a:t>
            </a:r>
          </a:p>
          <a:p>
            <a:pPr lvl="0"/>
            <a:endParaRPr lang="en-US" dirty="0" smtClean="0"/>
          </a:p>
          <a:p>
            <a:pPr marL="130302" marR="0" lvl="0" indent="-130302" algn="l" defTabSz="3429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endParaRPr lang="en-US" dirty="0" smtClean="0"/>
          </a:p>
          <a:p>
            <a:pPr marL="130302" marR="0" lvl="0" indent="-130302" algn="l" defTabSz="3429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endParaRPr lang="en-US" dirty="0" smtClean="0"/>
          </a:p>
          <a:p>
            <a:pPr marL="130302" marR="0" lvl="0" indent="-130302" algn="l" defTabSz="3429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endParaRPr lang="en-US" dirty="0" smtClean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9144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 smtClean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7400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4568266" y="939030"/>
            <a:ext cx="4575735" cy="5541819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idx="1" hasCustomPrompt="1"/>
          </p:nvPr>
        </p:nvSpPr>
        <p:spPr>
          <a:xfrm>
            <a:off x="360364" y="1439864"/>
            <a:ext cx="3810584" cy="452596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130302" marR="0" indent="-130302" algn="l" defTabSz="3429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200" baseline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 smtClean="0"/>
              <a:t>Click to add bulleted list</a:t>
            </a:r>
          </a:p>
          <a:p>
            <a:pPr lvl="0"/>
            <a:r>
              <a:rPr lang="en-US" dirty="0" smtClean="0"/>
              <a:t>Click to add bulleted list</a:t>
            </a:r>
          </a:p>
          <a:p>
            <a:pPr lvl="0"/>
            <a:r>
              <a:rPr lang="en-US" dirty="0" smtClean="0"/>
              <a:t>Click to add bulleted list</a:t>
            </a:r>
          </a:p>
          <a:p>
            <a:pPr lvl="0"/>
            <a:endParaRPr lang="en-US" dirty="0" smtClean="0"/>
          </a:p>
          <a:p>
            <a:pPr marL="130302" marR="0" lvl="0" indent="-130302" algn="l" defTabSz="3429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endParaRPr lang="en-US" dirty="0" smtClean="0"/>
          </a:p>
          <a:p>
            <a:pPr marL="130302" marR="0" lvl="0" indent="-130302" algn="l" defTabSz="3429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endParaRPr lang="en-US" dirty="0" smtClean="0"/>
          </a:p>
          <a:p>
            <a:pPr marL="130302" marR="0" lvl="0" indent="-130302" algn="l" defTabSz="3429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endParaRPr lang="en-US" dirty="0" smtClean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9144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 smtClean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1756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idx="1" hasCustomPrompt="1"/>
          </p:nvPr>
        </p:nvSpPr>
        <p:spPr>
          <a:xfrm>
            <a:off x="360363" y="1776415"/>
            <a:ext cx="8329612" cy="452596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130302" marR="0" indent="-130302" algn="l" defTabSz="3429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200" baseline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 smtClean="0"/>
              <a:t>Click to add bulleted list</a:t>
            </a:r>
          </a:p>
          <a:p>
            <a:pPr lvl="0"/>
            <a:r>
              <a:rPr lang="en-US" dirty="0" smtClean="0"/>
              <a:t>Click to add bulleted list</a:t>
            </a:r>
          </a:p>
          <a:p>
            <a:pPr lvl="0"/>
            <a:r>
              <a:rPr lang="en-US" dirty="0" smtClean="0"/>
              <a:t>Click to add bulleted list</a:t>
            </a:r>
          </a:p>
          <a:p>
            <a:pPr marL="130302" marR="0" lvl="0" indent="-130302" algn="l" defTabSz="3429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10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smtClean="0"/>
              <a:t>Click to add bulleted list</a:t>
            </a:r>
          </a:p>
          <a:p>
            <a:pPr lvl="0"/>
            <a:endParaRPr lang="en-US" dirty="0" smtClean="0"/>
          </a:p>
          <a:p>
            <a:pPr marL="130302" marR="0" lvl="0" indent="-130302" algn="l" defTabSz="3429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endParaRPr lang="en-US" dirty="0" smtClean="0"/>
          </a:p>
          <a:p>
            <a:pPr marL="130302" marR="0" lvl="0" indent="-130302" algn="l" defTabSz="3429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endParaRPr lang="en-US" dirty="0" smtClean="0"/>
          </a:p>
          <a:p>
            <a:pPr marL="130302" marR="0" lvl="0" indent="-130302" algn="l" defTabSz="3429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endParaRPr lang="en-US" dirty="0" smtClean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9144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 smtClean="0"/>
              <a:t>CLICK TO ADD TITLE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418148" y="1345462"/>
            <a:ext cx="1748991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l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 smtClean="0"/>
              <a:t>TITLE TO GO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4762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6349741"/>
            <a:ext cx="9144000" cy="5082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342900"/>
            <a:endParaRPr lang="en-US" sz="1400">
              <a:solidFill>
                <a:prstClr val="white"/>
              </a:solidFill>
            </a:endParaRP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 smtClean="0"/>
              <a:t>Insert Image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872405" y="5263636"/>
            <a:ext cx="5014975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 smtClean="0"/>
              <a:t>And Line 3 Here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872405" y="4525827"/>
            <a:ext cx="3688427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 smtClean="0"/>
              <a:t>Line 2 Here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72405" y="3826604"/>
            <a:ext cx="5285757" cy="647100"/>
          </a:xfrm>
          <a:prstGeom prst="rect">
            <a:avLst/>
          </a:prstGeom>
          <a:solidFill>
            <a:srgbClr val="2FC2D9"/>
          </a:solidFill>
          <a:ln>
            <a:noFill/>
          </a:ln>
        </p:spPr>
        <p:txBody>
          <a:bodyPr wrap="none" lIns="137160" tIns="27432" rIns="137160" bIns="34290" anchor="t">
            <a:spAutoFit/>
          </a:bodyPr>
          <a:lstStyle>
            <a:lvl1pPr algn="l">
              <a:defRPr sz="3800" b="0" cap="all" baseline="0"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Type line 1 here</a:t>
            </a:r>
            <a:endParaRPr lang="en-US" dirty="0"/>
          </a:p>
        </p:txBody>
      </p:sp>
      <p:sp>
        <p:nvSpPr>
          <p:cNvPr id="8" name="Text Placeholder 13"/>
          <p:cNvSpPr txBox="1">
            <a:spLocks/>
          </p:cNvSpPr>
          <p:nvPr/>
        </p:nvSpPr>
        <p:spPr>
          <a:xfrm>
            <a:off x="781355" y="3328611"/>
            <a:ext cx="6488113" cy="923331"/>
          </a:xfrm>
          <a:prstGeom prst="rect">
            <a:avLst/>
          </a:prstGeom>
        </p:spPr>
        <p:txBody>
          <a:bodyPr lIns="68580" tIns="34290" rIns="68580" bIns="34290"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3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39C2D7"/>
              </a:buClr>
              <a:buFont typeface="Arial"/>
              <a:buNone/>
            </a:pPr>
            <a:endParaRPr lang="en-US" sz="1500" dirty="0">
              <a:solidFill>
                <a:srgbClr val="464547"/>
              </a:solidFill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866629" y="3276170"/>
            <a:ext cx="3731155" cy="284693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68580" tIns="34290" rIns="68580" bIns="34290"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 smtClean="0"/>
              <a:t>OPTIONAL EYEBROW HEADER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27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(No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6" descr="Pattern_ppt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872405" y="5263636"/>
            <a:ext cx="5014975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 smtClean="0"/>
              <a:t>And Line 3 Here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872405" y="4525827"/>
            <a:ext cx="3688427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 smtClean="0"/>
              <a:t>Line 2 Here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72405" y="3826604"/>
            <a:ext cx="5285757" cy="647100"/>
          </a:xfrm>
          <a:prstGeom prst="rect">
            <a:avLst/>
          </a:prstGeom>
          <a:solidFill>
            <a:srgbClr val="2FC2D9"/>
          </a:solidFill>
          <a:ln>
            <a:noFill/>
          </a:ln>
        </p:spPr>
        <p:txBody>
          <a:bodyPr wrap="none" lIns="137160" tIns="27432" rIns="137160" bIns="34290" anchor="t">
            <a:spAutoFit/>
          </a:bodyPr>
          <a:lstStyle>
            <a:lvl1pPr algn="l">
              <a:defRPr sz="3800" b="0" cap="all" baseline="0"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Type line 1 here</a:t>
            </a:r>
            <a:endParaRPr lang="en-US" dirty="0"/>
          </a:p>
        </p:txBody>
      </p:sp>
      <p:sp>
        <p:nvSpPr>
          <p:cNvPr id="8" name="Text Placeholder 13"/>
          <p:cNvSpPr txBox="1">
            <a:spLocks/>
          </p:cNvSpPr>
          <p:nvPr/>
        </p:nvSpPr>
        <p:spPr>
          <a:xfrm>
            <a:off x="781355" y="3328611"/>
            <a:ext cx="6488113" cy="923331"/>
          </a:xfrm>
          <a:prstGeom prst="rect">
            <a:avLst/>
          </a:prstGeom>
        </p:spPr>
        <p:txBody>
          <a:bodyPr lIns="68580" tIns="34290" rIns="68580" bIns="34290"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3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39C2D7"/>
              </a:buClr>
              <a:buFont typeface="Arial"/>
              <a:buNone/>
            </a:pPr>
            <a:endParaRPr lang="en-US" sz="1500" dirty="0">
              <a:solidFill>
                <a:srgbClr val="464547"/>
              </a:solidFill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866629" y="3276170"/>
            <a:ext cx="3731155" cy="284693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68580" tIns="34290" rIns="68580" bIns="34290"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 smtClean="0"/>
              <a:t>OPTIONAL EYEBROW HEADER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403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rgbClr val="1A9CB0"/>
              </a:gs>
              <a:gs pos="100000">
                <a:srgbClr val="2FC2D9"/>
              </a:gs>
            </a:gsLst>
            <a:lin ang="1764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342900">
              <a:lnSpc>
                <a:spcPct val="85000"/>
              </a:lnSpc>
            </a:pPr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626532" y="3197413"/>
            <a:ext cx="7574494" cy="292187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3400">
                <a:solidFill>
                  <a:schemeClr val="bg1"/>
                </a:solidFill>
                <a:latin typeface="Arial Black"/>
                <a:cs typeface="Arial Black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 smtClean="0"/>
              <a:t>CLICK TO ADD HEADLINE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1642264" y="0"/>
            <a:ext cx="12428528" cy="72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182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List with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5029200" y="910939"/>
            <a:ext cx="4114800" cy="557784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idx="1" hasCustomPrompt="1"/>
          </p:nvPr>
        </p:nvSpPr>
        <p:spPr>
          <a:xfrm>
            <a:off x="360363" y="1439863"/>
            <a:ext cx="43434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30302" marR="0" indent="-130302" algn="l" defTabSz="3429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200" baseline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 smtClean="0"/>
              <a:t>Click to add bulleted list</a:t>
            </a:r>
          </a:p>
          <a:p>
            <a:pPr lvl="0"/>
            <a:r>
              <a:rPr lang="en-US" dirty="0" smtClean="0"/>
              <a:t>Click to add bulleted list</a:t>
            </a:r>
          </a:p>
          <a:p>
            <a:pPr lvl="0"/>
            <a:r>
              <a:rPr lang="en-US" dirty="0" smtClean="0"/>
              <a:t>Click to add bulleted list</a:t>
            </a:r>
          </a:p>
          <a:p>
            <a:pPr lvl="0"/>
            <a:r>
              <a:rPr lang="en-US" dirty="0" smtClean="0"/>
              <a:t>Click to add bulleted list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9144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 smtClean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0994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560477"/>
            <a:ext cx="9144000" cy="30599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7281115" y="6560477"/>
            <a:ext cx="1493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2C0EDAD-27A0-9447-9004-E733B36B95C3}" type="slidenum">
              <a:rPr lang="en-US" sz="1000" b="0" i="0" smtClean="0">
                <a:solidFill>
                  <a:srgbClr val="CCCCCC"/>
                </a:solidFill>
                <a:latin typeface="Trebuchet MS"/>
                <a:cs typeface="Trebuchet MS"/>
              </a:rPr>
              <a:pPr algn="r"/>
              <a:t>‹№›</a:t>
            </a:fld>
            <a:endParaRPr lang="en-US" sz="1000" b="0" i="0" dirty="0">
              <a:solidFill>
                <a:srgbClr val="CCCCCC"/>
              </a:solidFill>
              <a:latin typeface="Trebuchet MS"/>
              <a:cs typeface="Trebuchet MS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43000" y="6605750"/>
            <a:ext cx="231648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800" b="0" i="0" kern="0" spc="20" dirty="0" smtClean="0">
                <a:solidFill>
                  <a:srgbClr val="A3C745"/>
                </a:solidFill>
                <a:latin typeface="Trebuchet MS"/>
                <a:cs typeface="Trebuchet MS"/>
              </a:rPr>
              <a:t>CONFIDENTIAL</a:t>
            </a:r>
            <a:endParaRPr lang="en-US" sz="800" b="0" i="0" kern="0" spc="20" dirty="0">
              <a:solidFill>
                <a:srgbClr val="A3C745"/>
              </a:solidFill>
              <a:latin typeface="Trebuchet MS"/>
              <a:cs typeface="Trebuchet MS"/>
            </a:endParaRP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990600" y="6631176"/>
            <a:ext cx="0" cy="164592"/>
          </a:xfrm>
          <a:prstGeom prst="line">
            <a:avLst/>
          </a:prstGeom>
          <a:ln w="3175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logo_footer.png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5" y="6631176"/>
            <a:ext cx="476250" cy="16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96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6" r:id="rId8"/>
    <p:sldLayoutId id="2147483777" r:id="rId9"/>
    <p:sldLayoutId id="2147483778" r:id="rId10"/>
    <p:sldLayoutId id="2147483781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000" kern="1200" cap="all" baseline="0">
          <a:solidFill>
            <a:schemeClr val="tx1"/>
          </a:solidFill>
          <a:latin typeface="Arial Black"/>
          <a:ea typeface="+mj-ea"/>
          <a:cs typeface="Arial Black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Clr>
          <a:schemeClr val="accent2"/>
        </a:buClr>
        <a:buFont typeface="Arial"/>
        <a:buChar char="•"/>
        <a:defRPr sz="1500" kern="1200">
          <a:solidFill>
            <a:schemeClr val="tx1"/>
          </a:solidFill>
          <a:latin typeface="Trebuchet MS"/>
          <a:ea typeface="+mn-ea"/>
          <a:cs typeface="Trebuchet M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Trebuchet MS"/>
          <a:ea typeface="+mn-ea"/>
          <a:cs typeface="Trebuchet M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Trebuchet MS"/>
          <a:ea typeface="+mn-ea"/>
          <a:cs typeface="Trebuchet M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Trebuchet MS"/>
          <a:ea typeface="+mn-ea"/>
          <a:cs typeface="Trebuchet M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800" kern="1200">
          <a:solidFill>
            <a:schemeClr val="tx1"/>
          </a:solidFill>
          <a:latin typeface="Trebuchet MS"/>
          <a:ea typeface="+mn-ea"/>
          <a:cs typeface="Trebuchet M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s.oracle.com/display/Jersey/OAuth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haveibeenpwned.com/api/v2/breachedaccount/foo" TargetMode="Externa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s.oracle.com/display/Jersey/OAuth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s.oracle.com/display/Jersey/OAuth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s.oracle.com/display/Jersey/OAuth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4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09600" y="1905000"/>
            <a:ext cx="6324600" cy="700192"/>
          </a:xfrm>
          <a:noFill/>
          <a:effectLst>
            <a:outerShdw sx="1000" sy="1000" algn="ctr" rotWithShape="0">
              <a:srgbClr val="569BA5"/>
            </a:outerShdw>
          </a:effectLst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pc="0" dirty="0" smtClean="0">
                <a:solidFill>
                  <a:srgbClr val="39C2D7"/>
                </a:solidFill>
                <a:latin typeface="Arial Black" panose="020B0A04020102020204" pitchFamily="34" charset="0"/>
              </a:rPr>
              <a:t>REST</a:t>
            </a:r>
            <a:r>
              <a:rPr lang="en-US" spc="0" dirty="0" smtClean="0">
                <a:latin typeface="Arial Black" panose="020B0A04020102020204" pitchFamily="34" charset="0"/>
              </a:rPr>
              <a:t> WEB SERVICES</a:t>
            </a:r>
            <a:endParaRPr lang="en-US" spc="0" dirty="0">
              <a:latin typeface="Arial Black" panose="020B0A04020102020204" pitchFamily="34" charset="0"/>
            </a:endParaRP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9600" y="2819400"/>
            <a:ext cx="4038600" cy="346249"/>
          </a:xfrm>
          <a:noFill/>
        </p:spPr>
        <p:txBody>
          <a:bodyPr/>
          <a:lstStyle/>
          <a:p>
            <a:r>
              <a:rPr lang="en-US" sz="1800" dirty="0" smtClean="0"/>
              <a:t>REST </a:t>
            </a:r>
            <a:r>
              <a:rPr lang="en-US" sz="1800" dirty="0">
                <a:solidFill>
                  <a:srgbClr val="39C2D7"/>
                </a:solidFill>
              </a:rPr>
              <a:t>–</a:t>
            </a:r>
            <a:r>
              <a:rPr lang="en-US" sz="1800" dirty="0"/>
              <a:t> </a:t>
            </a:r>
            <a:r>
              <a:rPr lang="en-US" sz="1800" dirty="0" smtClean="0"/>
              <a:t>JAX-RS </a:t>
            </a:r>
            <a:r>
              <a:rPr lang="en-US" sz="1800" dirty="0" smtClean="0">
                <a:solidFill>
                  <a:srgbClr val="39C2D7"/>
                </a:solidFill>
              </a:rPr>
              <a:t>–</a:t>
            </a:r>
            <a:r>
              <a:rPr lang="en-US" sz="1800" dirty="0" smtClean="0"/>
              <a:t> HATEOAS</a:t>
            </a:r>
            <a:endParaRPr lang="en-US" sz="1800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7"/>
          </p:nvPr>
        </p:nvSpPr>
        <p:spPr>
          <a:xfrm>
            <a:off x="609600" y="6324600"/>
            <a:ext cx="3649662" cy="3048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APRIL 9, 2016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26" name="Picture Placeholder 25" descr="EPAM_LOGO_white_blue.png"/>
          <p:cNvPicPr>
            <a:picLocks noGrp="1" noChangeAspect="1"/>
          </p:cNvPicPr>
          <p:nvPr>
            <p:ph type="pic" sz="quarter" idx="19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1038" b="-21038"/>
          <a:stretch>
            <a:fillRect/>
          </a:stretch>
        </p:blipFill>
        <p:spPr>
          <a:xfrm>
            <a:off x="577850" y="152400"/>
            <a:ext cx="1066800" cy="592667"/>
          </a:xfrm>
        </p:spPr>
      </p:pic>
    </p:spTree>
    <p:extLst>
      <p:ext uri="{BB962C8B-B14F-4D97-AF65-F5344CB8AC3E}">
        <p14:creationId xmlns:p14="http://schemas.microsoft.com/office/powerpoint/2010/main" val="1869849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7.40741E-7 L -2.22222E-6 -0.37778 " pathEditMode="relative" rAng="0" ptsTypes="AA">
                                      <p:cBhvr>
                                        <p:cTn id="6" dur="7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888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11111E-6 L 3.05556E-6 -0.46944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  <p:bldP spid="28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 smtClean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Who am I?</a:t>
            </a:r>
            <a:endParaRPr lang="en-US" dirty="0">
              <a:solidFill>
                <a:srgbClr val="39C2D7"/>
              </a:solidFill>
              <a:effectLst>
                <a:outerShdw blurRad="50800" dist="38100" dir="5400000" algn="ctr" rotWithShape="0">
                  <a:schemeClr val="tx1">
                    <a:lumMod val="75000"/>
                  </a:scheme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00450" y="1219200"/>
            <a:ext cx="5257800" cy="191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dirty="0" smtClean="0">
                <a:solidFill>
                  <a:srgbClr val="464547"/>
                </a:solidFill>
                <a:latin typeface="Trebuchet MS"/>
                <a:cs typeface="Trebuchet MS"/>
              </a:rPr>
              <a:t>Bohdan </a:t>
            </a:r>
            <a:r>
              <a:rPr lang="en-US" sz="2000" dirty="0" err="1" smtClean="0">
                <a:solidFill>
                  <a:srgbClr val="464547"/>
                </a:solidFill>
                <a:latin typeface="Trebuchet MS"/>
                <a:cs typeface="Trebuchet MS"/>
              </a:rPr>
              <a:t>Lakotiy</a:t>
            </a:r>
            <a:endParaRPr lang="en-US" sz="2000" dirty="0" smtClean="0">
              <a:solidFill>
                <a:srgbClr val="464547"/>
              </a:solidFill>
              <a:latin typeface="Trebuchet MS"/>
              <a:cs typeface="Trebuchet MS"/>
            </a:endParaRPr>
          </a:p>
          <a:p>
            <a:pPr>
              <a:lnSpc>
                <a:spcPct val="120000"/>
              </a:lnSpc>
            </a:pPr>
            <a:r>
              <a:rPr lang="en-US" sz="1200" dirty="0" smtClean="0">
                <a:solidFill>
                  <a:srgbClr val="464547"/>
                </a:solidFill>
                <a:cs typeface="Trebuchet MS"/>
              </a:rPr>
              <a:t>Bohdan_Lakotiy@epam.com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64547"/>
                </a:solidFill>
              </a:rPr>
              <a:t>Senior Software </a:t>
            </a:r>
            <a:r>
              <a:rPr lang="en-US" sz="1400" dirty="0" smtClean="0">
                <a:solidFill>
                  <a:srgbClr val="464547"/>
                </a:solidFill>
              </a:rPr>
              <a:t>Engineer</a:t>
            </a:r>
          </a:p>
          <a:p>
            <a:pPr>
              <a:lnSpc>
                <a:spcPct val="120000"/>
              </a:lnSpc>
            </a:pPr>
            <a:r>
              <a:rPr lang="en-US" sz="1200" dirty="0"/>
              <a:t>CIS, Ukraine, </a:t>
            </a:r>
            <a:r>
              <a:rPr lang="en-US" sz="1200" dirty="0" err="1"/>
              <a:t>Lviv</a:t>
            </a:r>
            <a:endParaRPr lang="en-US" sz="1200" dirty="0">
              <a:solidFill>
                <a:srgbClr val="464547"/>
              </a:solidFill>
            </a:endParaRPr>
          </a:p>
          <a:p>
            <a:pPr>
              <a:lnSpc>
                <a:spcPct val="120000"/>
              </a:lnSpc>
            </a:pPr>
            <a:endParaRPr lang="en-US" dirty="0" smtClean="0">
              <a:solidFill>
                <a:srgbClr val="464547"/>
              </a:solidFill>
              <a:latin typeface="Trebuchet MS"/>
              <a:cs typeface="Trebuchet MS"/>
            </a:endParaRPr>
          </a:p>
          <a:p>
            <a:pPr>
              <a:lnSpc>
                <a:spcPct val="120000"/>
              </a:lnSpc>
            </a:pPr>
            <a:r>
              <a:rPr lang="en-US" dirty="0" smtClean="0">
                <a:solidFill>
                  <a:srgbClr val="464547"/>
                </a:solidFill>
                <a:latin typeface="Trebuchet MS"/>
                <a:cs typeface="Trebuchet MS"/>
              </a:rPr>
              <a:t>About five years of experience in Web Development and Support</a:t>
            </a:r>
            <a:r>
              <a:rPr lang="en-US" dirty="0">
                <a:solidFill>
                  <a:srgbClr val="464547"/>
                </a:solidFill>
                <a:cs typeface="Trebuchet MS"/>
              </a:rPr>
              <a:t>.</a:t>
            </a:r>
            <a:br>
              <a:rPr lang="en-US" dirty="0">
                <a:solidFill>
                  <a:srgbClr val="464547"/>
                </a:solidFill>
                <a:cs typeface="Trebuchet MS"/>
              </a:rPr>
            </a:br>
            <a:r>
              <a:rPr lang="en-US" dirty="0">
                <a:solidFill>
                  <a:srgbClr val="464547"/>
                </a:solidFill>
                <a:cs typeface="Trebuchet MS"/>
              </a:rPr>
              <a:t>Working </a:t>
            </a:r>
            <a:r>
              <a:rPr lang="en-US" dirty="0" smtClean="0">
                <a:solidFill>
                  <a:srgbClr val="464547"/>
                </a:solidFill>
                <a:cs typeface="Trebuchet MS"/>
              </a:rPr>
              <a:t>in </a:t>
            </a:r>
            <a:r>
              <a:rPr lang="en-US" dirty="0"/>
              <a:t>SAP-SUPP</a:t>
            </a:r>
            <a:r>
              <a:rPr lang="en-US" dirty="0" smtClean="0">
                <a:solidFill>
                  <a:srgbClr val="464547"/>
                </a:solidFill>
                <a:cs typeface="Trebuchet MS"/>
              </a:rPr>
              <a:t> teem since 2012.</a:t>
            </a:r>
            <a:endParaRPr lang="en-US" dirty="0" smtClean="0">
              <a:solidFill>
                <a:srgbClr val="464547"/>
              </a:solidFill>
              <a:latin typeface="Trebuchet MS"/>
              <a:cs typeface="Trebuchet MS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914400"/>
            <a:ext cx="2846564" cy="37644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pic>
        <p:nvPicPr>
          <p:cNvPr id="1026" name="Picture 2" descr="https://heroes.epam.com/api/images/3378/conten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200" y="3733800"/>
            <a:ext cx="685800" cy="6858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heroes.epam.com/api/images/768/conten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584" y="3733800"/>
            <a:ext cx="685799" cy="6858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heroes.epam.com/api/images/3106/content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050" y="3733800"/>
            <a:ext cx="685800" cy="6858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heroes.epam.com/api/images/1826/content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817" y="3733800"/>
            <a:ext cx="685800" cy="6858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s://heroes.epam.com/api/images/1112/content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434" y="3733800"/>
            <a:ext cx="685799" cy="6858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7680614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7513" y="152400"/>
            <a:ext cx="9144000" cy="5905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/>
          <a:lstStyle/>
          <a:p>
            <a:pPr algn="ctr"/>
            <a:r>
              <a:rPr lang="en-US" dirty="0" smtClean="0">
                <a:solidFill>
                  <a:srgbClr val="FFFFFF"/>
                </a:solidFill>
              </a:rPr>
              <a:t>Choose your path Neo!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25" y="914400"/>
            <a:ext cx="7219950" cy="55547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0" y="3886200"/>
            <a:ext cx="1828800" cy="1089529"/>
          </a:xfrm>
          <a:prstGeom prst="rect">
            <a:avLst/>
          </a:prstGeom>
          <a:noFill/>
          <a:effectLst>
            <a:outerShdw blurRad="50800" dist="50800" dir="5400000" algn="ctr" rotWithShape="0">
              <a:srgbClr val="5885D6">
                <a:alpha val="50000"/>
              </a:srgbClr>
            </a:outerShdw>
          </a:effectLst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400" b="1" dirty="0" smtClean="0">
                <a:solidFill>
                  <a:schemeClr val="bg1"/>
                </a:solidFill>
                <a:latin typeface="Trebuchet MS"/>
                <a:cs typeface="Trebuchet MS"/>
              </a:rPr>
              <a:t>REST</a:t>
            </a:r>
            <a:endParaRPr lang="en-US" sz="5400" b="1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8" name="Прямокутник 7"/>
          <p:cNvSpPr/>
          <p:nvPr/>
        </p:nvSpPr>
        <p:spPr>
          <a:xfrm>
            <a:off x="0" y="6553200"/>
            <a:ext cx="9151513" cy="304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676400" y="3886199"/>
            <a:ext cx="1905000" cy="10895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400" b="1" dirty="0" smtClean="0">
                <a:solidFill>
                  <a:schemeClr val="bg1"/>
                </a:solidFill>
                <a:latin typeface="Trebuchet MS"/>
                <a:cs typeface="Trebuchet MS"/>
              </a:rPr>
              <a:t>SOAP</a:t>
            </a:r>
            <a:endParaRPr lang="en-US" sz="5400" b="1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5724488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 smtClean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AGENDA</a:t>
            </a:r>
            <a:endParaRPr lang="en-US" dirty="0">
              <a:solidFill>
                <a:srgbClr val="39C2D7"/>
              </a:solidFill>
              <a:effectLst>
                <a:outerShdw blurRad="50800" dist="38100" dir="5400000" algn="ctr" rotWithShape="0">
                  <a:schemeClr val="tx1">
                    <a:lumMod val="75000"/>
                  </a:schemeClr>
                </a:outerShdw>
              </a:effectLst>
            </a:endParaRPr>
          </a:p>
        </p:txBody>
      </p:sp>
      <p:grpSp>
        <p:nvGrpSpPr>
          <p:cNvPr id="26" name="Групувати 25"/>
          <p:cNvGrpSpPr/>
          <p:nvPr/>
        </p:nvGrpSpPr>
        <p:grpSpPr>
          <a:xfrm>
            <a:off x="-7010400" y="1371600"/>
            <a:ext cx="6928082" cy="587352"/>
            <a:chOff x="-2335911" y="1522095"/>
            <a:chExt cx="6928082" cy="587352"/>
          </a:xfrm>
        </p:grpSpPr>
        <p:sp>
          <p:nvSpPr>
            <p:cNvPr id="18" name="Полілінія 17"/>
            <p:cNvSpPr>
              <a:spLocks/>
            </p:cNvSpPr>
            <p:nvPr/>
          </p:nvSpPr>
          <p:spPr>
            <a:xfrm>
              <a:off x="-2335911" y="1522095"/>
              <a:ext cx="6928082" cy="587352"/>
            </a:xfrm>
            <a:custGeom>
              <a:avLst/>
              <a:gdLst>
                <a:gd name="connsiteX0" fmla="*/ 0 w 6928082"/>
                <a:gd name="connsiteY0" fmla="*/ 587352 h 587352"/>
                <a:gd name="connsiteX1" fmla="*/ 6928082 w 6928082"/>
                <a:gd name="connsiteY1" fmla="*/ 587352 h 587352"/>
                <a:gd name="connsiteX2" fmla="*/ 6581011 w 6928082"/>
                <a:gd name="connsiteY2" fmla="*/ 0 h 587352"/>
                <a:gd name="connsiteX3" fmla="*/ 0 w 6928082"/>
                <a:gd name="connsiteY3" fmla="*/ 0 h 587352"/>
                <a:gd name="connsiteX4" fmla="*/ 0 w 6928082"/>
                <a:gd name="connsiteY4" fmla="*/ 587352 h 58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8082" h="587352">
                  <a:moveTo>
                    <a:pt x="0" y="587352"/>
                  </a:moveTo>
                  <a:lnTo>
                    <a:pt x="6928082" y="587352"/>
                  </a:lnTo>
                  <a:lnTo>
                    <a:pt x="6581011" y="0"/>
                  </a:lnTo>
                  <a:lnTo>
                    <a:pt x="0" y="0"/>
                  </a:lnTo>
                  <a:lnTo>
                    <a:pt x="0" y="587352"/>
                  </a:lnTo>
                  <a:close/>
                </a:path>
              </a:pathLst>
            </a:custGeom>
            <a:solidFill>
              <a:srgbClr val="46454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78689" y="1635240"/>
              <a:ext cx="2289409" cy="387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spc="300" dirty="0" smtClean="0">
                  <a:solidFill>
                    <a:schemeClr val="bg1"/>
                  </a:solidFill>
                  <a:latin typeface="Trebuchet MS"/>
                  <a:cs typeface="Trebuchet MS"/>
                </a:rPr>
                <a:t>    What is </a:t>
              </a:r>
              <a:r>
                <a:rPr lang="en-US" sz="1600" b="1" spc="300" dirty="0">
                  <a:solidFill>
                    <a:schemeClr val="bg1"/>
                  </a:solidFill>
                  <a:cs typeface="Trebuchet MS"/>
                </a:rPr>
                <a:t>REST</a:t>
              </a:r>
              <a:endParaRPr lang="en-US" sz="1600" b="1" spc="300" dirty="0">
                <a:solidFill>
                  <a:schemeClr val="bg1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27" name="Групувати 26"/>
          <p:cNvGrpSpPr/>
          <p:nvPr/>
        </p:nvGrpSpPr>
        <p:grpSpPr>
          <a:xfrm>
            <a:off x="-7010400" y="2337435"/>
            <a:ext cx="6928082" cy="587352"/>
            <a:chOff x="-1752600" y="2487930"/>
            <a:chExt cx="6928082" cy="587352"/>
          </a:xfrm>
        </p:grpSpPr>
        <p:sp>
          <p:nvSpPr>
            <p:cNvPr id="17" name="Полілінія 16"/>
            <p:cNvSpPr/>
            <p:nvPr/>
          </p:nvSpPr>
          <p:spPr>
            <a:xfrm>
              <a:off x="-1752600" y="2487930"/>
              <a:ext cx="6928082" cy="587352"/>
            </a:xfrm>
            <a:custGeom>
              <a:avLst/>
              <a:gdLst>
                <a:gd name="connsiteX0" fmla="*/ 0 w 6928082"/>
                <a:gd name="connsiteY0" fmla="*/ 587352 h 587352"/>
                <a:gd name="connsiteX1" fmla="*/ 6928082 w 6928082"/>
                <a:gd name="connsiteY1" fmla="*/ 587352 h 587352"/>
                <a:gd name="connsiteX2" fmla="*/ 6581011 w 6928082"/>
                <a:gd name="connsiteY2" fmla="*/ 0 h 587352"/>
                <a:gd name="connsiteX3" fmla="*/ 0 w 6928082"/>
                <a:gd name="connsiteY3" fmla="*/ 0 h 587352"/>
                <a:gd name="connsiteX4" fmla="*/ 0 w 6928082"/>
                <a:gd name="connsiteY4" fmla="*/ 587352 h 58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8082" h="587352">
                  <a:moveTo>
                    <a:pt x="0" y="587352"/>
                  </a:moveTo>
                  <a:lnTo>
                    <a:pt x="6928082" y="587352"/>
                  </a:lnTo>
                  <a:lnTo>
                    <a:pt x="6581011" y="0"/>
                  </a:lnTo>
                  <a:lnTo>
                    <a:pt x="0" y="0"/>
                  </a:lnTo>
                  <a:lnTo>
                    <a:pt x="0" y="587352"/>
                  </a:lnTo>
                  <a:close/>
                </a:path>
              </a:pathLst>
            </a:custGeom>
            <a:solidFill>
              <a:srgbClr val="46454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2420" y="2587707"/>
              <a:ext cx="3581400" cy="387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spc="300" dirty="0" smtClean="0">
                  <a:solidFill>
                    <a:schemeClr val="bg1"/>
                  </a:solidFill>
                  <a:latin typeface="Trebuchet MS"/>
                  <a:cs typeface="Trebuchet MS"/>
                </a:rPr>
                <a:t>    How to be REST-full</a:t>
              </a:r>
              <a:endParaRPr lang="en-US" sz="1600" b="1" spc="300" dirty="0">
                <a:solidFill>
                  <a:schemeClr val="bg1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28" name="Групувати 27"/>
          <p:cNvGrpSpPr/>
          <p:nvPr/>
        </p:nvGrpSpPr>
        <p:grpSpPr>
          <a:xfrm>
            <a:off x="-7010400" y="3303271"/>
            <a:ext cx="6928082" cy="587352"/>
            <a:chOff x="-1143000" y="3453765"/>
            <a:chExt cx="6928082" cy="587352"/>
          </a:xfrm>
        </p:grpSpPr>
        <p:sp>
          <p:nvSpPr>
            <p:cNvPr id="16" name="Полілінія 15"/>
            <p:cNvSpPr/>
            <p:nvPr/>
          </p:nvSpPr>
          <p:spPr>
            <a:xfrm>
              <a:off x="-1143000" y="3453765"/>
              <a:ext cx="6928082" cy="587352"/>
            </a:xfrm>
            <a:custGeom>
              <a:avLst/>
              <a:gdLst>
                <a:gd name="connsiteX0" fmla="*/ 0 w 6928082"/>
                <a:gd name="connsiteY0" fmla="*/ 587352 h 587352"/>
                <a:gd name="connsiteX1" fmla="*/ 6928082 w 6928082"/>
                <a:gd name="connsiteY1" fmla="*/ 587352 h 587352"/>
                <a:gd name="connsiteX2" fmla="*/ 6581011 w 6928082"/>
                <a:gd name="connsiteY2" fmla="*/ 0 h 587352"/>
                <a:gd name="connsiteX3" fmla="*/ 0 w 6928082"/>
                <a:gd name="connsiteY3" fmla="*/ 0 h 587352"/>
                <a:gd name="connsiteX4" fmla="*/ 0 w 6928082"/>
                <a:gd name="connsiteY4" fmla="*/ 587352 h 58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8082" h="587352">
                  <a:moveTo>
                    <a:pt x="0" y="587352"/>
                  </a:moveTo>
                  <a:lnTo>
                    <a:pt x="6928082" y="587352"/>
                  </a:lnTo>
                  <a:lnTo>
                    <a:pt x="6581011" y="0"/>
                  </a:lnTo>
                  <a:lnTo>
                    <a:pt x="0" y="0"/>
                  </a:lnTo>
                  <a:lnTo>
                    <a:pt x="0" y="587352"/>
                  </a:lnTo>
                  <a:close/>
                </a:path>
              </a:pathLst>
            </a:custGeom>
            <a:solidFill>
              <a:srgbClr val="46454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12420" y="3566910"/>
              <a:ext cx="4259580" cy="387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spc="300" dirty="0" smtClean="0">
                  <a:solidFill>
                    <a:schemeClr val="bg1"/>
                  </a:solidFill>
                  <a:cs typeface="Trebuchet MS"/>
                </a:rPr>
                <a:t>    REST API and Frameworks</a:t>
              </a:r>
              <a:endParaRPr lang="en-US" sz="1600" b="1" spc="300" dirty="0">
                <a:solidFill>
                  <a:schemeClr val="bg1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29" name="Групувати 28"/>
          <p:cNvGrpSpPr/>
          <p:nvPr/>
        </p:nvGrpSpPr>
        <p:grpSpPr>
          <a:xfrm>
            <a:off x="-7004763" y="4269105"/>
            <a:ext cx="6928082" cy="587352"/>
            <a:chOff x="-609600" y="4419600"/>
            <a:chExt cx="6928082" cy="587352"/>
          </a:xfrm>
        </p:grpSpPr>
        <p:sp>
          <p:nvSpPr>
            <p:cNvPr id="15" name="Полілінія 14"/>
            <p:cNvSpPr/>
            <p:nvPr/>
          </p:nvSpPr>
          <p:spPr>
            <a:xfrm>
              <a:off x="-609600" y="4419600"/>
              <a:ext cx="6928082" cy="587352"/>
            </a:xfrm>
            <a:custGeom>
              <a:avLst/>
              <a:gdLst>
                <a:gd name="connsiteX0" fmla="*/ 0 w 6928082"/>
                <a:gd name="connsiteY0" fmla="*/ 587352 h 587352"/>
                <a:gd name="connsiteX1" fmla="*/ 6928082 w 6928082"/>
                <a:gd name="connsiteY1" fmla="*/ 587352 h 587352"/>
                <a:gd name="connsiteX2" fmla="*/ 6581011 w 6928082"/>
                <a:gd name="connsiteY2" fmla="*/ 0 h 587352"/>
                <a:gd name="connsiteX3" fmla="*/ 0 w 6928082"/>
                <a:gd name="connsiteY3" fmla="*/ 0 h 587352"/>
                <a:gd name="connsiteX4" fmla="*/ 0 w 6928082"/>
                <a:gd name="connsiteY4" fmla="*/ 587352 h 58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8082" h="587352">
                  <a:moveTo>
                    <a:pt x="0" y="587352"/>
                  </a:moveTo>
                  <a:lnTo>
                    <a:pt x="6928082" y="587352"/>
                  </a:lnTo>
                  <a:lnTo>
                    <a:pt x="6581011" y="0"/>
                  </a:lnTo>
                  <a:lnTo>
                    <a:pt x="0" y="0"/>
                  </a:lnTo>
                  <a:lnTo>
                    <a:pt x="0" y="587352"/>
                  </a:lnTo>
                  <a:close/>
                </a:path>
              </a:pathLst>
            </a:custGeom>
            <a:solidFill>
              <a:srgbClr val="46454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12420" y="4534695"/>
              <a:ext cx="4038600" cy="361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spc="300" dirty="0" smtClean="0">
                  <a:solidFill>
                    <a:schemeClr val="bg1"/>
                  </a:solidFill>
                  <a:latin typeface="Trebuchet MS"/>
                  <a:cs typeface="Trebuchet MS"/>
                </a:rPr>
                <a:t>    HATEOAS</a:t>
              </a:r>
              <a:endParaRPr lang="en-US" sz="1600" b="1" spc="300" dirty="0">
                <a:solidFill>
                  <a:schemeClr val="bg1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30" name="Групувати 29"/>
          <p:cNvGrpSpPr/>
          <p:nvPr/>
        </p:nvGrpSpPr>
        <p:grpSpPr>
          <a:xfrm>
            <a:off x="-7004763" y="5234939"/>
            <a:ext cx="6928082" cy="587352"/>
            <a:chOff x="-17929" y="5385434"/>
            <a:chExt cx="6928082" cy="587352"/>
          </a:xfrm>
        </p:grpSpPr>
        <p:sp>
          <p:nvSpPr>
            <p:cNvPr id="14" name="Полілінія 13"/>
            <p:cNvSpPr/>
            <p:nvPr/>
          </p:nvSpPr>
          <p:spPr>
            <a:xfrm>
              <a:off x="-17929" y="5385434"/>
              <a:ext cx="6928082" cy="587352"/>
            </a:xfrm>
            <a:custGeom>
              <a:avLst/>
              <a:gdLst>
                <a:gd name="connsiteX0" fmla="*/ 0 w 6928082"/>
                <a:gd name="connsiteY0" fmla="*/ 587352 h 587352"/>
                <a:gd name="connsiteX1" fmla="*/ 6928082 w 6928082"/>
                <a:gd name="connsiteY1" fmla="*/ 587352 h 587352"/>
                <a:gd name="connsiteX2" fmla="*/ 6581011 w 6928082"/>
                <a:gd name="connsiteY2" fmla="*/ 0 h 587352"/>
                <a:gd name="connsiteX3" fmla="*/ 0 w 6928082"/>
                <a:gd name="connsiteY3" fmla="*/ 0 h 587352"/>
                <a:gd name="connsiteX4" fmla="*/ 0 w 6928082"/>
                <a:gd name="connsiteY4" fmla="*/ 587352 h 58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8082" h="587352">
                  <a:moveTo>
                    <a:pt x="0" y="587352"/>
                  </a:moveTo>
                  <a:lnTo>
                    <a:pt x="6928082" y="587352"/>
                  </a:lnTo>
                  <a:lnTo>
                    <a:pt x="6581011" y="0"/>
                  </a:lnTo>
                  <a:lnTo>
                    <a:pt x="0" y="0"/>
                  </a:lnTo>
                  <a:lnTo>
                    <a:pt x="0" y="587352"/>
                  </a:lnTo>
                  <a:close/>
                </a:path>
              </a:pathLst>
            </a:custGeom>
            <a:solidFill>
              <a:srgbClr val="46454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04800" y="5519579"/>
              <a:ext cx="5029200" cy="361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spc="300" dirty="0">
                  <a:solidFill>
                    <a:schemeClr val="bg1"/>
                  </a:solidFill>
                  <a:cs typeface="Trebuchet MS"/>
                </a:rPr>
                <a:t> </a:t>
              </a:r>
              <a:r>
                <a:rPr lang="en-US" sz="1600" b="1" spc="300" dirty="0" smtClean="0">
                  <a:solidFill>
                    <a:schemeClr val="bg1"/>
                  </a:solidFill>
                  <a:cs typeface="Trebuchet MS"/>
                </a:rPr>
                <a:t>   When </a:t>
              </a:r>
              <a:r>
                <a:rPr lang="en-US" sz="1600" b="1" spc="300" dirty="0">
                  <a:solidFill>
                    <a:schemeClr val="bg1"/>
                  </a:solidFill>
                  <a:cs typeface="Trebuchet MS"/>
                </a:rPr>
                <a:t>and Why go REST</a:t>
              </a:r>
              <a:endParaRPr lang="en-US" sz="1600" b="1" spc="300" dirty="0">
                <a:solidFill>
                  <a:schemeClr val="bg1"/>
                </a:solidFill>
                <a:latin typeface="Trebuchet MS"/>
                <a:cs typeface="Trebuchet M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0839783"/>
      </p:ext>
    </p:extLst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15 0.00139 L 0.51962 -0.0004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97" y="-9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3.33333E-6 1.11111E-6 L 0.575 1.11111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75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77778E-6 2.96296E-6 L 0.63785 -0.00232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892" y="-11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3.33333E-6 -3.7037E-6 L 0.69548 -0.00162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774" y="-9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77778E-6 0 L 0.75382 -0.00625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91" y="-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REST ? </a:t>
            </a:r>
            <a:r>
              <a:rPr lang="en-US" dirty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- </a:t>
            </a:r>
            <a:r>
              <a:rPr lang="en-US" dirty="0" smtClean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no</a:t>
            </a:r>
            <a:r>
              <a:rPr lang="en-US" dirty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, </a:t>
            </a:r>
            <a:r>
              <a:rPr lang="en-US" dirty="0" smtClean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never heard…</a:t>
            </a:r>
            <a:endParaRPr lang="en-US" dirty="0">
              <a:solidFill>
                <a:srgbClr val="39C2D7"/>
              </a:solidFill>
              <a:effectLst>
                <a:outerShdw blurRad="50800" dist="38100" dir="5400000" algn="ctr" rotWithShape="0">
                  <a:schemeClr val="tx1">
                    <a:lumMod val="75000"/>
                  </a:schemeClr>
                </a:outerShdw>
              </a:effectLst>
            </a:endParaRPr>
          </a:p>
        </p:txBody>
      </p:sp>
      <p:grpSp>
        <p:nvGrpSpPr>
          <p:cNvPr id="18" name="Групувати 17"/>
          <p:cNvGrpSpPr/>
          <p:nvPr/>
        </p:nvGrpSpPr>
        <p:grpSpPr>
          <a:xfrm>
            <a:off x="381000" y="2286000"/>
            <a:ext cx="8509850" cy="2353647"/>
            <a:chOff x="383701" y="990600"/>
            <a:chExt cx="8509850" cy="2353647"/>
          </a:xfrm>
        </p:grpSpPr>
        <p:sp>
          <p:nvSpPr>
            <p:cNvPr id="17" name="Прямокутник 16"/>
            <p:cNvSpPr/>
            <p:nvPr/>
          </p:nvSpPr>
          <p:spPr>
            <a:xfrm>
              <a:off x="383701" y="990600"/>
              <a:ext cx="4572000" cy="2353647"/>
            </a:xfrm>
            <a:prstGeom prst="rect">
              <a:avLst/>
            </a:prstGeom>
            <a:gradFill flip="none" rotWithShape="1">
              <a:gsLst>
                <a:gs pos="0">
                  <a:srgbClr val="A3C745"/>
                </a:gs>
                <a:gs pos="98000">
                  <a:srgbClr val="B2DD65"/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Групувати 14"/>
            <p:cNvGrpSpPr/>
            <p:nvPr/>
          </p:nvGrpSpPr>
          <p:grpSpPr>
            <a:xfrm>
              <a:off x="4952999" y="990600"/>
              <a:ext cx="3940552" cy="2353647"/>
              <a:chOff x="380999" y="1077903"/>
              <a:chExt cx="3940552" cy="2353647"/>
            </a:xfrm>
          </p:grpSpPr>
          <p:grpSp>
            <p:nvGrpSpPr>
              <p:cNvPr id="14" name="Групувати 13"/>
              <p:cNvGrpSpPr/>
              <p:nvPr/>
            </p:nvGrpSpPr>
            <p:grpSpPr>
              <a:xfrm>
                <a:off x="381000" y="1077903"/>
                <a:ext cx="3940551" cy="850496"/>
                <a:chOff x="457200" y="964964"/>
                <a:chExt cx="2871927" cy="1502719"/>
              </a:xfrm>
            </p:grpSpPr>
            <p:sp>
              <p:nvSpPr>
                <p:cNvPr id="49" name="TextBox 48"/>
                <p:cNvSpPr txBox="1"/>
                <p:nvPr/>
              </p:nvSpPr>
              <p:spPr>
                <a:xfrm>
                  <a:off x="1012555" y="1178072"/>
                  <a:ext cx="2316572" cy="107672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sz="2800" b="1" cap="all" dirty="0" smtClean="0">
                      <a:latin typeface="Trebuchet MS"/>
                      <a:cs typeface="Trebuchet MS"/>
                    </a:rPr>
                    <a:t>presentational</a:t>
                  </a:r>
                  <a:endParaRPr lang="en-US" sz="2800" b="1" cap="all" dirty="0">
                    <a:latin typeface="Trebuchet MS"/>
                    <a:cs typeface="Trebuchet MS"/>
                  </a:endParaRPr>
                </a:p>
              </p:txBody>
            </p:sp>
            <p:sp>
              <p:nvSpPr>
                <p:cNvPr id="4" name="TextBox 3"/>
                <p:cNvSpPr txBox="1"/>
                <p:nvPr/>
              </p:nvSpPr>
              <p:spPr>
                <a:xfrm>
                  <a:off x="457200" y="964964"/>
                  <a:ext cx="609600" cy="1502719"/>
                </a:xfrm>
                <a:prstGeom prst="rect">
                  <a:avLst/>
                </a:prstGeom>
                <a:solidFill>
                  <a:srgbClr val="A3C745"/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sz="4000" b="1" dirty="0" smtClean="0">
                      <a:solidFill>
                        <a:schemeClr val="bg1"/>
                      </a:solidFill>
                    </a:rPr>
                    <a:t>RE</a:t>
                  </a:r>
                  <a:endParaRPr lang="en-US" sz="4000" dirty="0">
                    <a:solidFill>
                      <a:srgbClr val="444444"/>
                    </a:solidFill>
                    <a:latin typeface="Trebuchet MS"/>
                    <a:cs typeface="Trebuchet MS"/>
                  </a:endParaRPr>
                </a:p>
              </p:txBody>
            </p:sp>
          </p:grpSp>
          <p:grpSp>
            <p:nvGrpSpPr>
              <p:cNvPr id="6" name="Групувати 5"/>
              <p:cNvGrpSpPr/>
              <p:nvPr/>
            </p:nvGrpSpPr>
            <p:grpSpPr>
              <a:xfrm>
                <a:off x="380999" y="2600553"/>
                <a:ext cx="2608384" cy="830997"/>
                <a:chOff x="2918460" y="2964939"/>
                <a:chExt cx="1937657" cy="830997"/>
              </a:xfrm>
            </p:grpSpPr>
            <p:sp>
              <p:nvSpPr>
                <p:cNvPr id="56" name="TextBox 55"/>
                <p:cNvSpPr txBox="1"/>
                <p:nvPr/>
              </p:nvSpPr>
              <p:spPr>
                <a:xfrm>
                  <a:off x="3484517" y="3119223"/>
                  <a:ext cx="1371600" cy="56259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sz="2800" b="1" cap="all" dirty="0" smtClean="0">
                      <a:latin typeface="Trebuchet MS"/>
                      <a:cs typeface="Trebuchet MS"/>
                    </a:rPr>
                    <a:t>ratsfer</a:t>
                  </a:r>
                  <a:endParaRPr lang="en-US" sz="2800" b="1" cap="all" dirty="0">
                    <a:latin typeface="Trebuchet MS"/>
                    <a:cs typeface="Trebuchet MS"/>
                  </a:endParaRPr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2918460" y="2964939"/>
                  <a:ext cx="621347" cy="830997"/>
                </a:xfrm>
                <a:prstGeom prst="rect">
                  <a:avLst/>
                </a:prstGeom>
                <a:solidFill>
                  <a:srgbClr val="A3C745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sz="4000" b="1" dirty="0" smtClean="0">
                      <a:solidFill>
                        <a:schemeClr val="bg1"/>
                      </a:solidFill>
                    </a:rPr>
                    <a:t>T</a:t>
                  </a:r>
                  <a:endParaRPr lang="en-US" sz="4000" b="1" dirty="0">
                    <a:solidFill>
                      <a:srgbClr val="444444"/>
                    </a:solidFill>
                    <a:latin typeface="Trebuchet MS"/>
                    <a:cs typeface="Trebuchet MS"/>
                  </a:endParaRPr>
                </a:p>
              </p:txBody>
            </p:sp>
          </p:grpSp>
          <p:grpSp>
            <p:nvGrpSpPr>
              <p:cNvPr id="8" name="Групувати 7"/>
              <p:cNvGrpSpPr/>
              <p:nvPr/>
            </p:nvGrpSpPr>
            <p:grpSpPr>
              <a:xfrm>
                <a:off x="381000" y="1876660"/>
                <a:ext cx="2152830" cy="830997"/>
                <a:chOff x="3802380" y="1049885"/>
                <a:chExt cx="1558946" cy="830997"/>
              </a:xfrm>
            </p:grpSpPr>
            <p:sp>
              <p:nvSpPr>
                <p:cNvPr id="52" name="TextBox 51"/>
                <p:cNvSpPr txBox="1"/>
                <p:nvPr/>
              </p:nvSpPr>
              <p:spPr>
                <a:xfrm>
                  <a:off x="4370726" y="1184260"/>
                  <a:ext cx="990600" cy="56259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sz="2800" b="1" cap="all" dirty="0" smtClean="0">
                      <a:latin typeface="Trebuchet MS"/>
                      <a:cs typeface="Trebuchet MS"/>
                    </a:rPr>
                    <a:t>tate</a:t>
                  </a:r>
                  <a:endParaRPr lang="en-US" sz="2800" b="1" cap="all" dirty="0">
                    <a:latin typeface="Trebuchet MS"/>
                    <a:cs typeface="Trebuchet MS"/>
                  </a:endParaRPr>
                </a:p>
              </p:txBody>
            </p:sp>
            <p:sp>
              <p:nvSpPr>
                <p:cNvPr id="45" name="TextBox 44"/>
                <p:cNvSpPr txBox="1"/>
                <p:nvPr/>
              </p:nvSpPr>
              <p:spPr>
                <a:xfrm>
                  <a:off x="3802380" y="1049885"/>
                  <a:ext cx="605689" cy="830997"/>
                </a:xfrm>
                <a:prstGeom prst="rect">
                  <a:avLst/>
                </a:prstGeom>
                <a:solidFill>
                  <a:srgbClr val="A3C745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sz="4000" b="1" dirty="0" smtClean="0">
                      <a:solidFill>
                        <a:schemeClr val="bg1"/>
                      </a:solidFill>
                    </a:rPr>
                    <a:t>S   </a:t>
                  </a:r>
                  <a:endParaRPr lang="en-US" sz="4000" b="1" dirty="0">
                    <a:solidFill>
                      <a:srgbClr val="444444"/>
                    </a:solidFill>
                    <a:latin typeface="Trebuchet MS"/>
                    <a:cs typeface="Trebuchet MS"/>
                  </a:endParaRPr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718778" y="1351704"/>
              <a:ext cx="456930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dirty="0" smtClean="0">
                  <a:solidFill>
                    <a:srgbClr val="444444"/>
                  </a:solidFill>
                  <a:cs typeface="Trebuchet MS"/>
                </a:rPr>
                <a:t>Architectural </a:t>
              </a:r>
              <a:r>
                <a:rPr lang="en-US" sz="1600" b="1" dirty="0">
                  <a:solidFill>
                    <a:srgbClr val="444444"/>
                  </a:solidFill>
                  <a:cs typeface="Trebuchet MS"/>
                </a:rPr>
                <a:t>style that is derived </a:t>
              </a:r>
              <a:endParaRPr lang="en-US" sz="1600" b="1" dirty="0" smtClean="0">
                <a:solidFill>
                  <a:srgbClr val="444444"/>
                </a:solidFill>
                <a:cs typeface="Trebuchet MS"/>
              </a:endParaRPr>
            </a:p>
            <a:p>
              <a:pPr>
                <a:lnSpc>
                  <a:spcPct val="120000"/>
                </a:lnSpc>
              </a:pPr>
              <a:r>
                <a:rPr lang="en-US" sz="1600" b="1" dirty="0" smtClean="0">
                  <a:solidFill>
                    <a:srgbClr val="444444"/>
                  </a:solidFill>
                  <a:cs typeface="Trebuchet MS"/>
                </a:rPr>
                <a:t>by </a:t>
              </a:r>
              <a:r>
                <a:rPr lang="en-US" sz="1600" b="1" dirty="0">
                  <a:solidFill>
                    <a:srgbClr val="444444"/>
                  </a:solidFill>
                  <a:cs typeface="Trebuchet MS"/>
                </a:rPr>
                <a:t>applying a set constraints to </a:t>
              </a:r>
              <a:endParaRPr lang="en-US" sz="1600" b="1" dirty="0" smtClean="0">
                <a:solidFill>
                  <a:srgbClr val="444444"/>
                </a:solidFill>
                <a:cs typeface="Trebuchet MS"/>
              </a:endParaRPr>
            </a:p>
            <a:p>
              <a:pPr>
                <a:lnSpc>
                  <a:spcPct val="120000"/>
                </a:lnSpc>
              </a:pPr>
              <a:r>
                <a:rPr lang="en-US" sz="1600" b="1" dirty="0" smtClean="0">
                  <a:solidFill>
                    <a:srgbClr val="444444"/>
                  </a:solidFill>
                  <a:cs typeface="Trebuchet MS"/>
                </a:rPr>
                <a:t>the elements of </a:t>
              </a:r>
              <a:r>
                <a:rPr lang="en-US" sz="1600" b="1" dirty="0">
                  <a:solidFill>
                    <a:srgbClr val="444444"/>
                  </a:solidFill>
                  <a:cs typeface="Trebuchet MS"/>
                </a:rPr>
                <a:t>a system </a:t>
              </a:r>
              <a:endParaRPr lang="en-US" sz="1600" b="1" dirty="0" smtClean="0">
                <a:solidFill>
                  <a:srgbClr val="444444"/>
                </a:solidFill>
                <a:cs typeface="Trebuchet MS"/>
              </a:endParaRPr>
            </a:p>
            <a:p>
              <a:pPr>
                <a:lnSpc>
                  <a:spcPct val="120000"/>
                </a:lnSpc>
              </a:pPr>
              <a:r>
                <a:rPr lang="en-US" sz="1600" b="1" dirty="0" smtClean="0">
                  <a:solidFill>
                    <a:srgbClr val="444444"/>
                  </a:solidFill>
                  <a:cs typeface="Trebuchet MS"/>
                </a:rPr>
                <a:t>so </a:t>
              </a:r>
              <a:r>
                <a:rPr lang="en-US" sz="1600" b="1" dirty="0">
                  <a:solidFill>
                    <a:srgbClr val="444444"/>
                  </a:solidFill>
                  <a:cs typeface="Trebuchet MS"/>
                </a:rPr>
                <a:t>the system exhibits certain properties such as loose coupling and scalability</a:t>
              </a:r>
              <a:endParaRPr lang="en-US" sz="1600" b="1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322909" y="1226048"/>
            <a:ext cx="6431459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dirty="0" smtClean="0">
                <a:solidFill>
                  <a:srgbClr val="444444"/>
                </a:solidFill>
                <a:cs typeface="Trebuchet MS"/>
              </a:rPr>
              <a:t>Defined </a:t>
            </a:r>
            <a:r>
              <a:rPr lang="en-US" sz="1600" dirty="0">
                <a:solidFill>
                  <a:srgbClr val="444444"/>
                </a:solidFill>
                <a:cs typeface="Trebuchet MS"/>
              </a:rPr>
              <a:t>by </a:t>
            </a:r>
            <a:r>
              <a:rPr lang="en-US" sz="1600" b="1" dirty="0">
                <a:solidFill>
                  <a:srgbClr val="444444"/>
                </a:solidFill>
                <a:cs typeface="Trebuchet MS"/>
              </a:rPr>
              <a:t>Roy Thomas Fielding</a:t>
            </a:r>
            <a:r>
              <a:rPr lang="en-US" sz="1600" dirty="0">
                <a:solidFill>
                  <a:srgbClr val="444444"/>
                </a:solidFill>
                <a:cs typeface="Trebuchet MS"/>
              </a:rPr>
              <a:t> in 2000 in parallel with </a:t>
            </a:r>
            <a:r>
              <a:rPr lang="en-US" sz="1600" b="1" dirty="0">
                <a:solidFill>
                  <a:srgbClr val="444444"/>
                </a:solidFill>
                <a:cs typeface="Trebuchet MS"/>
              </a:rPr>
              <a:t>HTTP 1.1 </a:t>
            </a:r>
            <a:endParaRPr lang="en-US" sz="1600" b="1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387840" y="5479171"/>
            <a:ext cx="234731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 smtClean="0">
                <a:solidFill>
                  <a:srgbClr val="444444"/>
                </a:solidFill>
                <a:cs typeface="Trebuchet MS"/>
              </a:rPr>
              <a:t>…and it is </a:t>
            </a:r>
            <a:r>
              <a:rPr lang="en-US" b="1" dirty="0" smtClean="0">
                <a:solidFill>
                  <a:srgbClr val="444444"/>
                </a:solidFill>
                <a:cs typeface="Trebuchet MS"/>
              </a:rPr>
              <a:t>NOT</a:t>
            </a:r>
            <a:r>
              <a:rPr lang="en-US" dirty="0" smtClean="0">
                <a:solidFill>
                  <a:srgbClr val="444444"/>
                </a:solidFill>
                <a:cs typeface="Trebuchet MS"/>
              </a:rPr>
              <a:t> </a:t>
            </a:r>
            <a:r>
              <a:rPr lang="en-US" dirty="0">
                <a:solidFill>
                  <a:srgbClr val="444444"/>
                </a:solidFill>
                <a:cs typeface="Trebuchet MS"/>
              </a:rPr>
              <a:t>a "</a:t>
            </a:r>
            <a:r>
              <a:rPr lang="en-US" b="1" dirty="0">
                <a:solidFill>
                  <a:srgbClr val="444444"/>
                </a:solidFill>
                <a:cs typeface="Trebuchet MS"/>
              </a:rPr>
              <a:t>standard</a:t>
            </a:r>
            <a:r>
              <a:rPr lang="en-US" dirty="0" smtClean="0">
                <a:solidFill>
                  <a:srgbClr val="444444"/>
                </a:solidFill>
                <a:cs typeface="Trebuchet MS"/>
              </a:rPr>
              <a:t>"</a:t>
            </a: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725047254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 smtClean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Follow the REST!</a:t>
            </a:r>
            <a:endParaRPr lang="en-US" dirty="0">
              <a:solidFill>
                <a:srgbClr val="39C2D7"/>
              </a:solidFill>
              <a:effectLst>
                <a:outerShdw blurRad="50800" dist="38100" dir="5400000" algn="ctr" rotWithShape="0">
                  <a:schemeClr val="tx1">
                    <a:lumMod val="75000"/>
                  </a:scheme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220200" y="906949"/>
            <a:ext cx="2590800" cy="112646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GB" altLang="en-US" sz="2800" b="1" dirty="0" smtClean="0">
                <a:solidFill>
                  <a:schemeClr val="bg1"/>
                </a:solidFill>
              </a:rPr>
              <a:t> REST</a:t>
            </a:r>
          </a:p>
          <a:p>
            <a:pPr algn="r">
              <a:lnSpc>
                <a:spcPct val="120000"/>
              </a:lnSpc>
            </a:pPr>
            <a:r>
              <a:rPr lang="en-GB" altLang="en-US" sz="2800" b="1" dirty="0" smtClean="0">
                <a:solidFill>
                  <a:schemeClr val="bg1"/>
                </a:solidFill>
              </a:rPr>
              <a:t> </a:t>
            </a:r>
            <a:r>
              <a:rPr lang="en-GB" altLang="en-US" sz="2800" b="1" cap="all" dirty="0" smtClean="0">
                <a:solidFill>
                  <a:schemeClr val="bg1"/>
                </a:solidFill>
              </a:rPr>
              <a:t>Constraints</a:t>
            </a:r>
            <a:r>
              <a:rPr lang="en-GB" altLang="en-US" sz="2800" b="1" dirty="0" smtClean="0">
                <a:solidFill>
                  <a:schemeClr val="bg1"/>
                </a:solidFill>
              </a:rPr>
              <a:t>  </a:t>
            </a:r>
            <a:endParaRPr lang="en-US" sz="2800" b="1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grpSp>
        <p:nvGrpSpPr>
          <p:cNvPr id="27" name="Групувати 26"/>
          <p:cNvGrpSpPr/>
          <p:nvPr/>
        </p:nvGrpSpPr>
        <p:grpSpPr>
          <a:xfrm>
            <a:off x="666750" y="956669"/>
            <a:ext cx="5854700" cy="714524"/>
            <a:chOff x="666750" y="955584"/>
            <a:chExt cx="5854700" cy="714524"/>
          </a:xfrm>
        </p:grpSpPr>
        <p:sp>
          <p:nvSpPr>
            <p:cNvPr id="5" name="TextBox 4"/>
            <p:cNvSpPr txBox="1"/>
            <p:nvPr/>
          </p:nvSpPr>
          <p:spPr>
            <a:xfrm>
              <a:off x="730250" y="955584"/>
              <a:ext cx="5791200" cy="394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800" b="1" dirty="0" smtClean="0">
                  <a:solidFill>
                    <a:srgbClr val="444444"/>
                  </a:solidFill>
                  <a:cs typeface="Trebuchet MS"/>
                </a:rPr>
                <a:t>Client-Server</a:t>
              </a:r>
              <a:endParaRPr lang="en-US" sz="1800" b="1" dirty="0">
                <a:solidFill>
                  <a:srgbClr val="444444"/>
                </a:solidFill>
                <a:cs typeface="Trebuchet MS"/>
              </a:endParaRPr>
            </a:p>
          </p:txBody>
        </p:sp>
        <p:sp>
          <p:nvSpPr>
            <p:cNvPr id="12" name="Прямокутник 11"/>
            <p:cNvSpPr/>
            <p:nvPr/>
          </p:nvSpPr>
          <p:spPr>
            <a:xfrm>
              <a:off x="666750" y="1106000"/>
              <a:ext cx="76200" cy="9004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17600" y="1293058"/>
              <a:ext cx="4953000" cy="377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dirty="0" smtClean="0">
                  <a:solidFill>
                    <a:srgbClr val="444444"/>
                  </a:solidFill>
                  <a:latin typeface="Trebuchet MS"/>
                  <a:cs typeface="Trebuchet MS"/>
                </a:rPr>
                <a:t>HTTP as a protocol</a:t>
              </a:r>
              <a:endParaRPr lang="en-US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26" name="Групувати 25"/>
          <p:cNvGrpSpPr/>
          <p:nvPr/>
        </p:nvGrpSpPr>
        <p:grpSpPr>
          <a:xfrm>
            <a:off x="656799" y="2770493"/>
            <a:ext cx="5861050" cy="713623"/>
            <a:chOff x="666750" y="1836081"/>
            <a:chExt cx="5861050" cy="713623"/>
          </a:xfrm>
        </p:grpSpPr>
        <p:sp>
          <p:nvSpPr>
            <p:cNvPr id="6" name="TextBox 5"/>
            <p:cNvSpPr txBox="1"/>
            <p:nvPr/>
          </p:nvSpPr>
          <p:spPr>
            <a:xfrm>
              <a:off x="736600" y="1836081"/>
              <a:ext cx="5791200" cy="394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800" b="1" dirty="0" smtClean="0"/>
                <a:t>Stateless</a:t>
              </a:r>
              <a:endParaRPr lang="en-US" sz="1800" b="1" dirty="0"/>
            </a:p>
          </p:txBody>
        </p:sp>
        <p:sp>
          <p:nvSpPr>
            <p:cNvPr id="13" name="Прямокутник 12"/>
            <p:cNvSpPr/>
            <p:nvPr/>
          </p:nvSpPr>
          <p:spPr>
            <a:xfrm>
              <a:off x="666750" y="1990447"/>
              <a:ext cx="76200" cy="9004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17600" y="2172654"/>
              <a:ext cx="4953000" cy="377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dirty="0" smtClean="0"/>
                <a:t>Each </a:t>
              </a:r>
              <a:r>
                <a:rPr lang="en-US" dirty="0"/>
                <a:t>request message can be understood in isolation</a:t>
              </a:r>
              <a:endParaRPr lang="en-US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25" name="Групувати 24"/>
          <p:cNvGrpSpPr/>
          <p:nvPr/>
        </p:nvGrpSpPr>
        <p:grpSpPr>
          <a:xfrm>
            <a:off x="670331" y="3663049"/>
            <a:ext cx="5863819" cy="713606"/>
            <a:chOff x="670331" y="2716579"/>
            <a:chExt cx="5863819" cy="713606"/>
          </a:xfrm>
        </p:grpSpPr>
        <p:sp>
          <p:nvSpPr>
            <p:cNvPr id="7" name="TextBox 6"/>
            <p:cNvSpPr txBox="1"/>
            <p:nvPr/>
          </p:nvSpPr>
          <p:spPr>
            <a:xfrm>
              <a:off x="742950" y="2716579"/>
              <a:ext cx="5791200" cy="394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800" b="1" dirty="0" smtClean="0">
                  <a:solidFill>
                    <a:srgbClr val="444444"/>
                  </a:solidFill>
                  <a:cs typeface="Trebuchet MS"/>
                </a:rPr>
                <a:t>Cacheable</a:t>
              </a:r>
              <a:endParaRPr lang="en-US" sz="1800" b="1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14" name="Прямокутник 13"/>
            <p:cNvSpPr/>
            <p:nvPr/>
          </p:nvSpPr>
          <p:spPr>
            <a:xfrm>
              <a:off x="670331" y="2875424"/>
              <a:ext cx="76200" cy="9004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17600" y="3053135"/>
              <a:ext cx="4953000" cy="377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dirty="0" smtClean="0"/>
                <a:t>Data </a:t>
              </a:r>
              <a:r>
                <a:rPr lang="en-US" dirty="0"/>
                <a:t>is labelled as cacheable or non-cacheable</a:t>
              </a:r>
            </a:p>
          </p:txBody>
        </p:sp>
      </p:grpSp>
      <p:grpSp>
        <p:nvGrpSpPr>
          <p:cNvPr id="24" name="Групувати 23"/>
          <p:cNvGrpSpPr/>
          <p:nvPr/>
        </p:nvGrpSpPr>
        <p:grpSpPr>
          <a:xfrm>
            <a:off x="654050" y="1858456"/>
            <a:ext cx="5867400" cy="753457"/>
            <a:chOff x="666750" y="3597076"/>
            <a:chExt cx="6165850" cy="753457"/>
          </a:xfrm>
        </p:grpSpPr>
        <p:sp>
          <p:nvSpPr>
            <p:cNvPr id="8" name="TextBox 7"/>
            <p:cNvSpPr txBox="1"/>
            <p:nvPr/>
          </p:nvSpPr>
          <p:spPr>
            <a:xfrm>
              <a:off x="730250" y="3597076"/>
              <a:ext cx="5791200" cy="394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800" b="1" dirty="0" smtClean="0">
                  <a:solidFill>
                    <a:srgbClr val="444444"/>
                  </a:solidFill>
                  <a:cs typeface="Trebuchet MS"/>
                </a:rPr>
                <a:t>Uniform </a:t>
              </a:r>
              <a:r>
                <a:rPr lang="en-US" sz="1800" b="1" dirty="0">
                  <a:solidFill>
                    <a:srgbClr val="444444"/>
                  </a:solidFill>
                  <a:cs typeface="Trebuchet MS"/>
                </a:rPr>
                <a:t>interface</a:t>
              </a:r>
              <a:endParaRPr lang="en-US" sz="1800" b="1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15" name="Прямокутник 14"/>
            <p:cNvSpPr/>
            <p:nvPr/>
          </p:nvSpPr>
          <p:spPr>
            <a:xfrm>
              <a:off x="666750" y="3751097"/>
              <a:ext cx="76200" cy="9004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117600" y="3973483"/>
              <a:ext cx="5715000" cy="377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dirty="0" smtClean="0"/>
                <a:t>Manipulating </a:t>
              </a:r>
              <a:r>
                <a:rPr lang="en-US" dirty="0"/>
                <a:t>resources via URIs through a generic set of methods</a:t>
              </a:r>
              <a:endParaRPr lang="en-US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18" name="Групувати 17"/>
          <p:cNvGrpSpPr/>
          <p:nvPr/>
        </p:nvGrpSpPr>
        <p:grpSpPr>
          <a:xfrm>
            <a:off x="654050" y="4559857"/>
            <a:ext cx="5867400" cy="748405"/>
            <a:chOff x="666750" y="4514357"/>
            <a:chExt cx="5867400" cy="748405"/>
          </a:xfrm>
        </p:grpSpPr>
        <p:sp>
          <p:nvSpPr>
            <p:cNvPr id="9" name="TextBox 8"/>
            <p:cNvSpPr txBox="1"/>
            <p:nvPr/>
          </p:nvSpPr>
          <p:spPr>
            <a:xfrm>
              <a:off x="742950" y="4514357"/>
              <a:ext cx="5791200" cy="394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800" b="1" dirty="0" smtClean="0">
                  <a:solidFill>
                    <a:srgbClr val="444444"/>
                  </a:solidFill>
                  <a:cs typeface="Trebuchet MS"/>
                </a:rPr>
                <a:t>Layered </a:t>
              </a:r>
              <a:r>
                <a:rPr lang="en-US" sz="1800" b="1" dirty="0">
                  <a:solidFill>
                    <a:srgbClr val="444444"/>
                  </a:solidFill>
                  <a:cs typeface="Trebuchet MS"/>
                </a:rPr>
                <a:t>system</a:t>
              </a:r>
              <a:endParaRPr lang="en-US" sz="1800" b="1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16" name="Прямокутник 15"/>
            <p:cNvSpPr/>
            <p:nvPr/>
          </p:nvSpPr>
          <p:spPr>
            <a:xfrm>
              <a:off x="666750" y="4662952"/>
              <a:ext cx="76200" cy="9004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117600" y="4859040"/>
              <a:ext cx="5403850" cy="403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dirty="0"/>
                <a:t> Intermediary </a:t>
              </a:r>
              <a:r>
                <a:rPr lang="en-US" dirty="0" smtClean="0"/>
                <a:t>servers for improved </a:t>
              </a:r>
              <a:r>
                <a:rPr lang="en-US" dirty="0"/>
                <a:t>system </a:t>
              </a:r>
              <a:r>
                <a:rPr lang="en-US" dirty="0" smtClean="0"/>
                <a:t>scalability, security </a:t>
              </a:r>
              <a:endParaRPr lang="en-US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4" name="Групувати 3"/>
          <p:cNvGrpSpPr/>
          <p:nvPr/>
        </p:nvGrpSpPr>
        <p:grpSpPr>
          <a:xfrm>
            <a:off x="654050" y="5504010"/>
            <a:ext cx="5861050" cy="768546"/>
            <a:chOff x="666750" y="5431637"/>
            <a:chExt cx="5861050" cy="768546"/>
          </a:xfrm>
        </p:grpSpPr>
        <p:sp>
          <p:nvSpPr>
            <p:cNvPr id="10" name="TextBox 9"/>
            <p:cNvSpPr txBox="1"/>
            <p:nvPr/>
          </p:nvSpPr>
          <p:spPr>
            <a:xfrm>
              <a:off x="736600" y="5431637"/>
              <a:ext cx="5791200" cy="394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800" b="1" dirty="0">
                  <a:solidFill>
                    <a:srgbClr val="444444"/>
                  </a:solidFill>
                  <a:cs typeface="Trebuchet MS"/>
                </a:rPr>
                <a:t>Code-On-Demand</a:t>
              </a:r>
              <a:endParaRPr lang="en-US" sz="1800" b="1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17" name="Прямокутник 16"/>
            <p:cNvSpPr/>
            <p:nvPr/>
          </p:nvSpPr>
          <p:spPr>
            <a:xfrm>
              <a:off x="666750" y="5574807"/>
              <a:ext cx="76200" cy="9004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117600" y="5823133"/>
              <a:ext cx="4953000" cy="377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dirty="0" smtClean="0"/>
                <a:t>Transfer </a:t>
              </a:r>
              <a:r>
                <a:rPr lang="en-US" dirty="0"/>
                <a:t>of executable code</a:t>
              </a:r>
              <a:endParaRPr lang="en-US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9260413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85185E-6 L -0.29167 -0.00324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83" y="-16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 smtClean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REST/ Everything is a resource!</a:t>
            </a:r>
            <a:endParaRPr lang="en-US" dirty="0">
              <a:solidFill>
                <a:srgbClr val="39C2D7"/>
              </a:solidFill>
              <a:effectLst>
                <a:outerShdw blurRad="50800" dist="38100" dir="5400000" algn="ctr" rotWithShape="0">
                  <a:schemeClr val="tx1">
                    <a:lumMod val="75000"/>
                  </a:scheme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0" y="975036"/>
            <a:ext cx="1828800" cy="797591"/>
          </a:xfrm>
          <a:prstGeom prst="rect">
            <a:avLst/>
          </a:prstGeom>
          <a:solidFill>
            <a:srgbClr val="A3C644"/>
          </a:solidFill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2000" b="1" dirty="0" smtClean="0">
                <a:solidFill>
                  <a:schemeClr val="bg1"/>
                </a:solidFill>
                <a:cs typeface="Trebuchet MS"/>
              </a:rPr>
              <a:t>JAXRS 2.0 </a:t>
            </a:r>
          </a:p>
          <a:p>
            <a:pPr algn="r">
              <a:lnSpc>
                <a:spcPct val="120000"/>
              </a:lnSpc>
            </a:pPr>
            <a:r>
              <a:rPr lang="en-US" sz="2000" b="1" dirty="0" smtClean="0">
                <a:solidFill>
                  <a:schemeClr val="bg1"/>
                </a:solidFill>
                <a:cs typeface="Trebuchet MS"/>
              </a:rPr>
              <a:t> RESOURCES </a:t>
            </a:r>
          </a:p>
        </p:txBody>
      </p:sp>
      <p:sp>
        <p:nvSpPr>
          <p:cNvPr id="4" name="Прямокутник 3"/>
          <p:cNvSpPr/>
          <p:nvPr/>
        </p:nvSpPr>
        <p:spPr>
          <a:xfrm>
            <a:off x="-4648200" y="2819400"/>
            <a:ext cx="4572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r>
              <a:rPr lang="en-US" sz="1200" dirty="0" smtClean="0"/>
              <a:t>GET  </a:t>
            </a:r>
            <a:r>
              <a:rPr lang="en-US" sz="1200" dirty="0"/>
              <a:t>http://</a:t>
            </a:r>
            <a:r>
              <a:rPr lang="en-US" sz="1200" dirty="0" smtClean="0"/>
              <a:t>locahost:8080/</a:t>
            </a:r>
            <a:r>
              <a:rPr lang="en-US" sz="1200" b="1" dirty="0" smtClean="0">
                <a:solidFill>
                  <a:srgbClr val="A3C644"/>
                </a:solidFill>
              </a:rPr>
              <a:t>articles</a:t>
            </a:r>
            <a:r>
              <a:rPr lang="en-US" sz="1200" dirty="0" smtClean="0"/>
              <a:t>/</a:t>
            </a:r>
            <a:r>
              <a:rPr lang="en-US" sz="1200" b="1" dirty="0" smtClean="0">
                <a:solidFill>
                  <a:srgbClr val="00B050"/>
                </a:solidFill>
              </a:rPr>
              <a:t>7</a:t>
            </a:r>
          </a:p>
          <a:p>
            <a:endParaRPr lang="en-US" sz="1200" dirty="0" smtClean="0"/>
          </a:p>
          <a:p>
            <a:r>
              <a:rPr lang="en-US" sz="1200" dirty="0" smtClean="0"/>
              <a:t>GET  http</a:t>
            </a:r>
            <a:r>
              <a:rPr lang="en-US" sz="1200" dirty="0"/>
              <a:t>://locahost:8080/</a:t>
            </a:r>
            <a:r>
              <a:rPr lang="en-US" sz="1200" b="1" dirty="0">
                <a:solidFill>
                  <a:srgbClr val="A3C644"/>
                </a:solidFill>
              </a:rPr>
              <a:t>articles</a:t>
            </a:r>
            <a:r>
              <a:rPr lang="en-US" sz="1200" dirty="0" smtClean="0"/>
              <a:t>/ </a:t>
            </a:r>
          </a:p>
          <a:p>
            <a:endParaRPr lang="en-US" sz="1200" dirty="0" smtClean="0"/>
          </a:p>
          <a:p>
            <a:r>
              <a:rPr lang="en-US" sz="1200" dirty="0" smtClean="0"/>
              <a:t>GET  http</a:t>
            </a:r>
            <a:r>
              <a:rPr lang="en-US" sz="1200" dirty="0"/>
              <a:t>://locahost:8080/</a:t>
            </a:r>
            <a:r>
              <a:rPr lang="en-US" sz="1200" b="1" dirty="0">
                <a:solidFill>
                  <a:srgbClr val="A3C644"/>
                </a:solidFill>
              </a:rPr>
              <a:t>articles</a:t>
            </a:r>
            <a:r>
              <a:rPr lang="en-US" sz="1200" dirty="0"/>
              <a:t>/?</a:t>
            </a:r>
            <a:r>
              <a:rPr lang="en-US" sz="1200" b="1" dirty="0">
                <a:solidFill>
                  <a:schemeClr val="accent3"/>
                </a:solidFill>
              </a:rPr>
              <a:t>page=1</a:t>
            </a:r>
          </a:p>
        </p:txBody>
      </p:sp>
      <p:sp>
        <p:nvSpPr>
          <p:cNvPr id="5" name="Прямокутник 4"/>
          <p:cNvSpPr/>
          <p:nvPr/>
        </p:nvSpPr>
        <p:spPr>
          <a:xfrm>
            <a:off x="-8458200" y="4267200"/>
            <a:ext cx="8382000" cy="1938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9C9F70"/>
                </a:solidFill>
              </a:rPr>
              <a:t>@Path</a:t>
            </a:r>
            <a:r>
              <a:rPr lang="en-US" sz="1200" dirty="0"/>
              <a:t>("</a:t>
            </a:r>
            <a:r>
              <a:rPr lang="en-US" sz="1200" b="1" dirty="0">
                <a:solidFill>
                  <a:srgbClr val="A3C644"/>
                </a:solidFill>
              </a:rPr>
              <a:t>articles</a:t>
            </a:r>
            <a:r>
              <a:rPr lang="en-US" sz="1200" dirty="0"/>
              <a:t>") </a:t>
            </a:r>
            <a:endParaRPr lang="en-US" sz="1200" dirty="0" smtClean="0"/>
          </a:p>
          <a:p>
            <a:r>
              <a:rPr lang="en-US" sz="1200" dirty="0" smtClean="0">
                <a:solidFill>
                  <a:srgbClr val="253967"/>
                </a:solidFill>
              </a:rPr>
              <a:t>public </a:t>
            </a:r>
            <a:r>
              <a:rPr lang="en-US" sz="1200" dirty="0">
                <a:solidFill>
                  <a:srgbClr val="253967"/>
                </a:solidFill>
              </a:rPr>
              <a:t>class </a:t>
            </a:r>
            <a:r>
              <a:rPr lang="en-US" sz="1200" dirty="0" err="1"/>
              <a:t>ArticleResource</a:t>
            </a:r>
            <a:r>
              <a:rPr lang="en-US" sz="1200" dirty="0"/>
              <a:t> </a:t>
            </a:r>
            <a:r>
              <a:rPr lang="en-US" sz="1200" dirty="0" smtClean="0"/>
              <a:t>{</a:t>
            </a:r>
          </a:p>
          <a:p>
            <a:endParaRPr lang="en-US" sz="1200" dirty="0" smtClean="0"/>
          </a:p>
          <a:p>
            <a:r>
              <a:rPr lang="en-US" sz="1200" dirty="0" smtClean="0"/>
              <a:t>	</a:t>
            </a:r>
            <a:r>
              <a:rPr lang="fr-FR" sz="1200" dirty="0">
                <a:solidFill>
                  <a:srgbClr val="9C9F70"/>
                </a:solidFill>
                <a:cs typeface="Trebuchet MS"/>
              </a:rPr>
              <a:t>@GET</a:t>
            </a:r>
            <a:r>
              <a:rPr lang="fr-FR" sz="1200" dirty="0">
                <a:solidFill>
                  <a:srgbClr val="444444"/>
                </a:solidFill>
                <a:cs typeface="Trebuchet MS"/>
              </a:rPr>
              <a:t>   </a:t>
            </a:r>
            <a:endParaRPr lang="fr-FR" sz="1200" dirty="0" smtClean="0">
              <a:solidFill>
                <a:srgbClr val="444444"/>
              </a:solidFill>
              <a:cs typeface="Trebuchet MS"/>
            </a:endParaRPr>
          </a:p>
          <a:p>
            <a:r>
              <a:rPr lang="fr-FR" sz="1200" dirty="0">
                <a:solidFill>
                  <a:srgbClr val="444444"/>
                </a:solidFill>
                <a:cs typeface="Trebuchet MS"/>
              </a:rPr>
              <a:t>	</a:t>
            </a:r>
            <a:r>
              <a:rPr lang="fr-FR" sz="1200" dirty="0" smtClean="0">
                <a:solidFill>
                  <a:srgbClr val="9C9F70"/>
                </a:solidFill>
                <a:cs typeface="Trebuchet MS"/>
              </a:rPr>
              <a:t>@</a:t>
            </a:r>
            <a:r>
              <a:rPr lang="fr-FR" sz="1200" dirty="0">
                <a:solidFill>
                  <a:srgbClr val="9C9F70"/>
                </a:solidFill>
                <a:cs typeface="Trebuchet MS"/>
              </a:rPr>
              <a:t>Path</a:t>
            </a:r>
            <a:r>
              <a:rPr lang="fr-FR" sz="1200" dirty="0">
                <a:solidFill>
                  <a:srgbClr val="444444"/>
                </a:solidFill>
                <a:cs typeface="Trebuchet MS"/>
              </a:rPr>
              <a:t>("{</a:t>
            </a:r>
            <a:r>
              <a:rPr lang="fr-FR" sz="1200" b="1" dirty="0">
                <a:solidFill>
                  <a:srgbClr val="00B050"/>
                </a:solidFill>
                <a:cs typeface="Trebuchet MS"/>
              </a:rPr>
              <a:t>id</a:t>
            </a:r>
            <a:r>
              <a:rPr lang="fr-FR" sz="1200" dirty="0">
                <a:solidFill>
                  <a:srgbClr val="444444"/>
                </a:solidFill>
                <a:cs typeface="Trebuchet MS"/>
              </a:rPr>
              <a:t>}")   </a:t>
            </a:r>
            <a:endParaRPr lang="fr-FR" sz="1200" dirty="0" smtClean="0">
              <a:solidFill>
                <a:srgbClr val="444444"/>
              </a:solidFill>
              <a:cs typeface="Trebuchet MS"/>
            </a:endParaRPr>
          </a:p>
          <a:p>
            <a:r>
              <a:rPr lang="fr-FR" sz="1200" dirty="0">
                <a:solidFill>
                  <a:srgbClr val="444444"/>
                </a:solidFill>
                <a:cs typeface="Trebuchet MS"/>
              </a:rPr>
              <a:t>	</a:t>
            </a:r>
            <a:r>
              <a:rPr lang="fr-FR" sz="1200" dirty="0" smtClean="0">
                <a:solidFill>
                  <a:srgbClr val="002060"/>
                </a:solidFill>
                <a:cs typeface="Trebuchet MS"/>
              </a:rPr>
              <a:t>public</a:t>
            </a:r>
            <a:r>
              <a:rPr lang="fr-FR" sz="1200" dirty="0" smtClean="0">
                <a:solidFill>
                  <a:srgbClr val="444444"/>
                </a:solidFill>
                <a:cs typeface="Trebuchet MS"/>
              </a:rPr>
              <a:t> </a:t>
            </a:r>
            <a:r>
              <a:rPr lang="fr-FR" sz="1200" dirty="0">
                <a:solidFill>
                  <a:srgbClr val="444444"/>
                </a:solidFill>
                <a:cs typeface="Trebuchet MS"/>
              </a:rPr>
              <a:t>Article read</a:t>
            </a:r>
            <a:r>
              <a:rPr lang="fr-FR" sz="1200" dirty="0">
                <a:solidFill>
                  <a:srgbClr val="9C9F70"/>
                </a:solidFill>
                <a:cs typeface="Trebuchet MS"/>
              </a:rPr>
              <a:t>(@PathParam</a:t>
            </a:r>
            <a:r>
              <a:rPr lang="fr-FR" sz="1200" dirty="0">
                <a:solidFill>
                  <a:srgbClr val="444444"/>
                </a:solidFill>
                <a:cs typeface="Trebuchet MS"/>
              </a:rPr>
              <a:t>("id") </a:t>
            </a:r>
            <a:r>
              <a:rPr lang="fr-FR" sz="1200" dirty="0">
                <a:solidFill>
                  <a:srgbClr val="002060"/>
                </a:solidFill>
                <a:cs typeface="Trebuchet MS"/>
              </a:rPr>
              <a:t>int</a:t>
            </a:r>
            <a:r>
              <a:rPr lang="fr-FR" sz="1200" dirty="0">
                <a:solidFill>
                  <a:srgbClr val="444444"/>
                </a:solidFill>
                <a:cs typeface="Trebuchet MS"/>
              </a:rPr>
              <a:t> </a:t>
            </a:r>
            <a:r>
              <a:rPr lang="fr-FR" sz="1200" b="1" dirty="0">
                <a:solidFill>
                  <a:srgbClr val="00B050"/>
                </a:solidFill>
                <a:cs typeface="Trebuchet MS"/>
              </a:rPr>
              <a:t>id</a:t>
            </a:r>
            <a:r>
              <a:rPr lang="fr-FR" sz="1200" dirty="0">
                <a:solidFill>
                  <a:srgbClr val="444444"/>
                </a:solidFill>
                <a:cs typeface="Trebuchet MS"/>
              </a:rPr>
              <a:t>) </a:t>
            </a:r>
            <a:r>
              <a:rPr lang="fr-FR" sz="1200" dirty="0" smtClean="0">
                <a:solidFill>
                  <a:srgbClr val="444444"/>
                </a:solidFill>
                <a:cs typeface="Trebuchet MS"/>
              </a:rPr>
              <a:t>{…}</a:t>
            </a:r>
          </a:p>
          <a:p>
            <a:endParaRPr lang="fr-FR" sz="1200" dirty="0">
              <a:solidFill>
                <a:srgbClr val="444444"/>
              </a:solidFill>
              <a:cs typeface="Trebuchet MS"/>
            </a:endParaRPr>
          </a:p>
          <a:p>
            <a:r>
              <a:rPr lang="fr-FR" sz="1200" dirty="0">
                <a:solidFill>
                  <a:srgbClr val="444444"/>
                </a:solidFill>
                <a:cs typeface="Trebuchet MS"/>
              </a:rPr>
              <a:t> </a:t>
            </a:r>
            <a:r>
              <a:rPr lang="fr-FR" sz="1200" dirty="0" smtClean="0">
                <a:solidFill>
                  <a:srgbClr val="444444"/>
                </a:solidFill>
                <a:cs typeface="Trebuchet MS"/>
              </a:rPr>
              <a:t>	</a:t>
            </a:r>
            <a:r>
              <a:rPr lang="fr-FR" sz="1200" dirty="0" smtClean="0">
                <a:solidFill>
                  <a:srgbClr val="9C9F70"/>
                </a:solidFill>
                <a:cs typeface="Trebuchet MS"/>
              </a:rPr>
              <a:t>@GET</a:t>
            </a:r>
          </a:p>
          <a:p>
            <a:r>
              <a:rPr lang="fr-FR" sz="1200" dirty="0">
                <a:solidFill>
                  <a:srgbClr val="444444"/>
                </a:solidFill>
                <a:cs typeface="Trebuchet MS"/>
              </a:rPr>
              <a:t>	</a:t>
            </a:r>
            <a:r>
              <a:rPr lang="fr-FR" sz="1200" dirty="0" smtClean="0">
                <a:solidFill>
                  <a:srgbClr val="002060"/>
                </a:solidFill>
                <a:cs typeface="Trebuchet MS"/>
              </a:rPr>
              <a:t>public</a:t>
            </a:r>
            <a:r>
              <a:rPr lang="fr-FR" sz="1200" dirty="0" smtClean="0">
                <a:solidFill>
                  <a:srgbClr val="444444"/>
                </a:solidFill>
                <a:cs typeface="Trebuchet MS"/>
              </a:rPr>
              <a:t> </a:t>
            </a:r>
            <a:r>
              <a:rPr lang="fr-FR" sz="1200" dirty="0">
                <a:solidFill>
                  <a:srgbClr val="444444"/>
                </a:solidFill>
                <a:cs typeface="Trebuchet MS"/>
              </a:rPr>
              <a:t>List&lt;Article&gt; list</a:t>
            </a:r>
            <a:r>
              <a:rPr lang="fr-FR" sz="1200" dirty="0">
                <a:solidFill>
                  <a:srgbClr val="9C9F70"/>
                </a:solidFill>
                <a:cs typeface="Trebuchet MS"/>
              </a:rPr>
              <a:t>(@QueryParam</a:t>
            </a:r>
            <a:r>
              <a:rPr lang="fr-FR" sz="1200" dirty="0">
                <a:solidFill>
                  <a:srgbClr val="444444"/>
                </a:solidFill>
                <a:cs typeface="Trebuchet MS"/>
              </a:rPr>
              <a:t>("</a:t>
            </a:r>
            <a:r>
              <a:rPr lang="fr-FR" sz="1200" b="1" dirty="0">
                <a:solidFill>
                  <a:schemeClr val="accent3"/>
                </a:solidFill>
                <a:cs typeface="Trebuchet MS"/>
              </a:rPr>
              <a:t>page</a:t>
            </a:r>
            <a:r>
              <a:rPr lang="fr-FR" sz="1200" dirty="0">
                <a:solidFill>
                  <a:srgbClr val="444444"/>
                </a:solidFill>
                <a:cs typeface="Trebuchet MS"/>
              </a:rPr>
              <a:t>") </a:t>
            </a:r>
            <a:r>
              <a:rPr lang="fr-FR" sz="1200" dirty="0" smtClean="0">
                <a:solidFill>
                  <a:srgbClr val="9C9F70"/>
                </a:solidFill>
                <a:cs typeface="Trebuchet MS"/>
              </a:rPr>
              <a:t>@</a:t>
            </a:r>
            <a:r>
              <a:rPr lang="fr-FR" sz="1200" dirty="0">
                <a:solidFill>
                  <a:srgbClr val="9C9F70"/>
                </a:solidFill>
                <a:cs typeface="Trebuchet MS"/>
              </a:rPr>
              <a:t>DefaultValue</a:t>
            </a:r>
            <a:r>
              <a:rPr lang="fr-FR" sz="1200" dirty="0">
                <a:solidFill>
                  <a:srgbClr val="444444"/>
                </a:solidFill>
                <a:cs typeface="Trebuchet MS"/>
              </a:rPr>
              <a:t>("1") </a:t>
            </a:r>
            <a:r>
              <a:rPr lang="fr-FR" sz="1200" dirty="0" smtClean="0">
                <a:solidFill>
                  <a:srgbClr val="002060"/>
                </a:solidFill>
                <a:cs typeface="Trebuchet MS"/>
              </a:rPr>
              <a:t>int</a:t>
            </a:r>
            <a:r>
              <a:rPr lang="fr-FR" sz="1200" dirty="0" smtClean="0">
                <a:solidFill>
                  <a:srgbClr val="444444"/>
                </a:solidFill>
                <a:cs typeface="Trebuchet MS"/>
              </a:rPr>
              <a:t> </a:t>
            </a:r>
            <a:r>
              <a:rPr lang="fr-FR" sz="1200" b="1" dirty="0">
                <a:solidFill>
                  <a:schemeClr val="accent3"/>
                </a:solidFill>
                <a:cs typeface="Trebuchet MS"/>
              </a:rPr>
              <a:t>page</a:t>
            </a:r>
            <a:r>
              <a:rPr lang="fr-FR" sz="1200" dirty="0">
                <a:solidFill>
                  <a:srgbClr val="444444"/>
                </a:solidFill>
                <a:cs typeface="Trebuchet MS"/>
              </a:rPr>
              <a:t>) </a:t>
            </a:r>
            <a:r>
              <a:rPr lang="fr-FR" sz="1200" dirty="0" smtClean="0">
                <a:solidFill>
                  <a:srgbClr val="444444"/>
                </a:solidFill>
                <a:cs typeface="Trebuchet MS"/>
              </a:rPr>
              <a:t>{…}</a:t>
            </a:r>
            <a:endParaRPr lang="en-US" sz="1200" dirty="0"/>
          </a:p>
          <a:p>
            <a:r>
              <a:rPr lang="en-US" sz="1200" dirty="0" smtClean="0"/>
              <a:t>} </a:t>
            </a:r>
            <a:endParaRPr lang="en-US" sz="1200" dirty="0"/>
          </a:p>
        </p:txBody>
      </p:sp>
      <p:grpSp>
        <p:nvGrpSpPr>
          <p:cNvPr id="16" name="Групувати 15"/>
          <p:cNvGrpSpPr/>
          <p:nvPr/>
        </p:nvGrpSpPr>
        <p:grpSpPr>
          <a:xfrm>
            <a:off x="304800" y="975036"/>
            <a:ext cx="3352800" cy="1447768"/>
            <a:chOff x="304800" y="975036"/>
            <a:chExt cx="3352800" cy="1447768"/>
          </a:xfrm>
        </p:grpSpPr>
        <p:sp>
          <p:nvSpPr>
            <p:cNvPr id="6" name="TextBox 5"/>
            <p:cNvSpPr txBox="1"/>
            <p:nvPr/>
          </p:nvSpPr>
          <p:spPr>
            <a:xfrm>
              <a:off x="304800" y="975036"/>
              <a:ext cx="3352800" cy="42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800" b="1" dirty="0" smtClean="0">
                  <a:solidFill>
                    <a:srgbClr val="444444"/>
                  </a:solidFill>
                  <a:cs typeface="Trebuchet MS"/>
                </a:rPr>
                <a:t> - Give </a:t>
              </a:r>
              <a:r>
                <a:rPr lang="en-US" sz="1800" b="1" dirty="0">
                  <a:solidFill>
                    <a:srgbClr val="444444"/>
                  </a:solidFill>
                  <a:cs typeface="Trebuchet MS"/>
                </a:rPr>
                <a:t>every “thing” an ID</a:t>
              </a:r>
              <a:endParaRPr lang="en-US" sz="1800" b="1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04800" y="1486554"/>
              <a:ext cx="3200400" cy="42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800" b="1" dirty="0" smtClean="0">
                  <a:solidFill>
                    <a:srgbClr val="444444"/>
                  </a:solidFill>
                  <a:cs typeface="Trebuchet MS"/>
                </a:rPr>
                <a:t> - Use Nouns, not Verbs</a:t>
              </a:r>
              <a:endParaRPr lang="en-US" sz="1800" b="1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4800" y="1998072"/>
              <a:ext cx="3124200" cy="42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800" b="1" dirty="0" smtClean="0">
                  <a:solidFill>
                    <a:srgbClr val="444444"/>
                  </a:solidFill>
                  <a:cs typeface="Trebuchet MS"/>
                </a:rPr>
                <a:t> - Course Grained names</a:t>
              </a:r>
              <a:endParaRPr lang="en-US" sz="1800" b="1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15" name="Групувати 14"/>
          <p:cNvGrpSpPr/>
          <p:nvPr/>
        </p:nvGrpSpPr>
        <p:grpSpPr>
          <a:xfrm>
            <a:off x="3886200" y="974714"/>
            <a:ext cx="3200400" cy="1425230"/>
            <a:chOff x="2819400" y="2819400"/>
            <a:chExt cx="3200400" cy="1425230"/>
          </a:xfrm>
        </p:grpSpPr>
        <p:sp>
          <p:nvSpPr>
            <p:cNvPr id="11" name="TextBox 10"/>
            <p:cNvSpPr txBox="1"/>
            <p:nvPr/>
          </p:nvSpPr>
          <p:spPr>
            <a:xfrm>
              <a:off x="2819400" y="2819400"/>
              <a:ext cx="2362200" cy="341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dirty="0" smtClean="0">
                  <a:solidFill>
                    <a:srgbClr val="444444"/>
                  </a:solidFill>
                  <a:latin typeface="Trebuchet MS"/>
                  <a:cs typeface="Trebuchet MS"/>
                </a:rPr>
                <a:t>/applications</a:t>
              </a:r>
              <a:endParaRPr lang="en-US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819400" y="3197488"/>
              <a:ext cx="2362200" cy="3190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dirty="0" smtClean="0">
                  <a:solidFill>
                    <a:srgbClr val="444444"/>
                  </a:solidFill>
                  <a:latin typeface="Trebuchet MS"/>
                  <a:cs typeface="Trebuchet MS"/>
                </a:rPr>
                <a:t>/applications/345</a:t>
              </a:r>
              <a:endParaRPr lang="en-US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827020" y="3552457"/>
              <a:ext cx="2659380" cy="341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dirty="0" smtClean="0">
                  <a:solidFill>
                    <a:srgbClr val="444444"/>
                  </a:solidFill>
                  <a:latin typeface="Trebuchet MS"/>
                  <a:cs typeface="Trebuchet MS"/>
                </a:rPr>
                <a:t>/applications/345/comments</a:t>
              </a:r>
              <a:endParaRPr lang="en-US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819400" y="3925568"/>
              <a:ext cx="3200400" cy="3190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dirty="0" smtClean="0">
                  <a:solidFill>
                    <a:srgbClr val="444444"/>
                  </a:solidFill>
                  <a:latin typeface="Trebuchet MS"/>
                  <a:cs typeface="Trebuchet MS"/>
                </a:rPr>
                <a:t>/applications/345/comments/4741</a:t>
              </a:r>
              <a:endParaRPr lang="en-US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8857702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81481E-6 L 0.55 0.0037 " pathEditMode="relative" rAng="0" ptsTypes="AA">
                                      <p:cBhvr>
                                        <p:cTn id="12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500" y="18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3.33333E-6 4.07407E-6 L 0.96667 0.00324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333" y="162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48148E-6 L -0.2 -0.00023 " pathEditMode="relative" rAng="0" ptsTypes="AA">
                                      <p:cBhvr>
                                        <p:cTn id="1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REST/ Web uniform interface semantics</a:t>
            </a:r>
          </a:p>
        </p:txBody>
      </p:sp>
      <p:graphicFrame>
        <p:nvGraphicFramePr>
          <p:cNvPr id="4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306889"/>
              </p:ext>
            </p:extLst>
          </p:nvPr>
        </p:nvGraphicFramePr>
        <p:xfrm>
          <a:off x="381001" y="1066801"/>
          <a:ext cx="8381997" cy="3676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798">
                  <a:extLst>
                    <a:ext uri="{9D8B030D-6E8A-4147-A177-3AD203B41FA5}">
                      <a16:colId xmlns:a16="http://schemas.microsoft.com/office/drawing/2014/main" val="4005699630"/>
                    </a:ext>
                  </a:extLst>
                </a:gridCol>
              </a:tblGrid>
              <a:tr h="380999">
                <a:tc>
                  <a:txBody>
                    <a:bodyPr/>
                    <a:lstStyle/>
                    <a:p>
                      <a:r>
                        <a:rPr lang="en-AU" sz="1700" baseline="0" dirty="0" smtClean="0"/>
                        <a:t>Method  </a:t>
                      </a:r>
                    </a:p>
                  </a:txBody>
                  <a:tcPr marL="83958" marR="83958" marT="41971" marB="41971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700" dirty="0" smtClean="0"/>
                        <a:t>Operation</a:t>
                      </a:r>
                      <a:r>
                        <a:rPr lang="en-AU" sz="1700" baseline="0" dirty="0" smtClean="0"/>
                        <a:t> </a:t>
                      </a:r>
                      <a:r>
                        <a:rPr lang="en-AU" sz="1700" dirty="0" smtClean="0"/>
                        <a:t>on</a:t>
                      </a:r>
                      <a:r>
                        <a:rPr lang="en-AU" sz="1700" baseline="0" dirty="0" smtClean="0"/>
                        <a:t> the resource</a:t>
                      </a:r>
                      <a:endParaRPr lang="en-AU" sz="1700" dirty="0"/>
                    </a:p>
                  </a:txBody>
                  <a:tcPr marL="83958" marR="83958" marT="41971" marB="41971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700" dirty="0" smtClean="0"/>
                        <a:t>Safe</a:t>
                      </a:r>
                    </a:p>
                  </a:txBody>
                  <a:tcPr marL="83958" marR="83958" marT="41971" marB="41971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700" dirty="0" smtClean="0"/>
                        <a:t>Idempotent</a:t>
                      </a:r>
                    </a:p>
                  </a:txBody>
                  <a:tcPr marL="83958" marR="83958" marT="41971" marB="41971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700" dirty="0" smtClean="0"/>
                        <a:t>Cashable</a:t>
                      </a:r>
                    </a:p>
                  </a:txBody>
                  <a:tcPr marL="83958" marR="83958" marT="41971" marB="41971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574">
                <a:tc>
                  <a:txBody>
                    <a:bodyPr/>
                    <a:lstStyle/>
                    <a:p>
                      <a:r>
                        <a:rPr lang="en-AU" sz="1700" b="1" dirty="0" smtClean="0"/>
                        <a:t>POST</a:t>
                      </a:r>
                      <a:r>
                        <a:rPr lang="en-AU" sz="1700" dirty="0" smtClean="0"/>
                        <a:t> </a:t>
                      </a:r>
                      <a:r>
                        <a:rPr lang="en-AU" sz="1700" baseline="0" dirty="0" smtClean="0"/>
                        <a:t>    </a:t>
                      </a:r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r>
                        <a:rPr lang="en-AU" sz="1700" dirty="0" smtClean="0"/>
                        <a:t>create or</a:t>
                      </a:r>
                      <a:r>
                        <a:rPr lang="en-AU" sz="1700" baseline="0" dirty="0" smtClean="0"/>
                        <a:t> update </a:t>
                      </a:r>
                      <a:r>
                        <a:rPr lang="en-AU" sz="1700" dirty="0" smtClean="0"/>
                        <a:t>resource without</a:t>
                      </a:r>
                      <a:r>
                        <a:rPr lang="en-AU" sz="1700" baseline="0" dirty="0" smtClean="0"/>
                        <a:t> ID</a:t>
                      </a:r>
                      <a:endParaRPr lang="en-AU" sz="1700" dirty="0"/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700" dirty="0" smtClean="0">
                          <a:solidFill>
                            <a:srgbClr val="C00000"/>
                          </a:solidFill>
                        </a:rPr>
                        <a:t>No</a:t>
                      </a:r>
                      <a:endParaRPr lang="en-AU" sz="1700" dirty="0">
                        <a:solidFill>
                          <a:srgbClr val="C00000"/>
                        </a:solidFill>
                      </a:endParaRPr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700" dirty="0" smtClean="0">
                          <a:solidFill>
                            <a:srgbClr val="C00000"/>
                          </a:solidFill>
                        </a:rPr>
                        <a:t>No</a:t>
                      </a:r>
                      <a:endParaRPr lang="en-AU" sz="1700" dirty="0">
                        <a:solidFill>
                          <a:srgbClr val="C00000"/>
                        </a:solidFill>
                      </a:endParaRPr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700" dirty="0" smtClean="0">
                          <a:solidFill>
                            <a:srgbClr val="C00000"/>
                          </a:solidFill>
                        </a:rPr>
                        <a:t>No</a:t>
                      </a:r>
                      <a:endParaRPr lang="en-AU" sz="1700" dirty="0">
                        <a:solidFill>
                          <a:srgbClr val="C00000"/>
                        </a:solidFill>
                      </a:endParaRPr>
                    </a:p>
                  </a:txBody>
                  <a:tcPr marL="83958" marR="83958" marT="41971" marB="4197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626">
                <a:tc>
                  <a:txBody>
                    <a:bodyPr/>
                    <a:lstStyle/>
                    <a:p>
                      <a:r>
                        <a:rPr lang="en-AU" sz="1700" b="1" dirty="0" smtClean="0"/>
                        <a:t>GET</a:t>
                      </a:r>
                      <a:r>
                        <a:rPr lang="en-AU" sz="1700" baseline="0" dirty="0" smtClean="0"/>
                        <a:t>       </a:t>
                      </a:r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700" dirty="0" smtClean="0"/>
                        <a:t>retrieve a resource representation</a:t>
                      </a:r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700" dirty="0" smtClean="0"/>
                        <a:t>Yes</a:t>
                      </a:r>
                      <a:endParaRPr lang="en-AU" sz="1700" dirty="0"/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700" dirty="0" smtClean="0"/>
                        <a:t>Yes</a:t>
                      </a:r>
                      <a:endParaRPr lang="en-AU" sz="1700" dirty="0"/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700" dirty="0" smtClean="0"/>
                        <a:t>Yes</a:t>
                      </a:r>
                      <a:endParaRPr lang="en-AU" sz="1700" dirty="0"/>
                    </a:p>
                  </a:txBody>
                  <a:tcPr marL="83958" marR="83958" marT="41971" marB="4197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416">
                <a:tc>
                  <a:txBody>
                    <a:bodyPr/>
                    <a:lstStyle/>
                    <a:p>
                      <a:r>
                        <a:rPr lang="en-AU" sz="1700" b="1" dirty="0" smtClean="0"/>
                        <a:t>PUT</a:t>
                      </a:r>
                      <a:endParaRPr lang="en-AU" sz="1700" b="1" dirty="0"/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r>
                        <a:rPr lang="en-AU" sz="1700" dirty="0" smtClean="0"/>
                        <a:t>update</a:t>
                      </a:r>
                      <a:r>
                        <a:rPr lang="en-AU" sz="1700" baseline="0" dirty="0" smtClean="0"/>
                        <a:t> </a:t>
                      </a:r>
                      <a:r>
                        <a:rPr lang="en-AU" sz="1700" i="0" dirty="0" smtClean="0"/>
                        <a:t>or</a:t>
                      </a:r>
                      <a:r>
                        <a:rPr lang="en-AU" sz="1700" i="1" dirty="0" smtClean="0"/>
                        <a:t> </a:t>
                      </a:r>
                      <a:r>
                        <a:rPr lang="en-AU" sz="1700" dirty="0" smtClean="0"/>
                        <a:t>create a resource with</a:t>
                      </a:r>
                      <a:r>
                        <a:rPr lang="en-AU" sz="1700" baseline="0" dirty="0" smtClean="0"/>
                        <a:t> ID</a:t>
                      </a:r>
                      <a:endParaRPr lang="en-AU" sz="1700" dirty="0"/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700" dirty="0" smtClean="0">
                          <a:solidFill>
                            <a:srgbClr val="C00000"/>
                          </a:solidFill>
                        </a:rPr>
                        <a:t>No</a:t>
                      </a:r>
                      <a:endParaRPr lang="en-AU" sz="1700" dirty="0">
                        <a:solidFill>
                          <a:srgbClr val="C00000"/>
                        </a:solidFill>
                      </a:endParaRPr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700" dirty="0" smtClean="0"/>
                        <a:t>Yes</a:t>
                      </a:r>
                      <a:endParaRPr lang="en-AU" sz="1700" dirty="0"/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700" dirty="0" smtClean="0">
                          <a:solidFill>
                            <a:srgbClr val="C00000"/>
                          </a:solidFill>
                        </a:rPr>
                        <a:t>No</a:t>
                      </a:r>
                      <a:endParaRPr lang="en-AU" sz="1700" dirty="0"/>
                    </a:p>
                  </a:txBody>
                  <a:tcPr marL="83958" marR="83958" marT="41971" marB="4197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147">
                <a:tc>
                  <a:txBody>
                    <a:bodyPr/>
                    <a:lstStyle/>
                    <a:p>
                      <a:r>
                        <a:rPr lang="en-AU" sz="1700" b="1" dirty="0" smtClean="0"/>
                        <a:t>DELETE</a:t>
                      </a:r>
                      <a:endParaRPr lang="en-AU" sz="1700" b="1" dirty="0"/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r>
                        <a:rPr lang="en-AU" sz="1700" dirty="0" smtClean="0"/>
                        <a:t>delete a resource</a:t>
                      </a:r>
                      <a:endParaRPr lang="en-AU" sz="1700" dirty="0"/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700" dirty="0" smtClean="0">
                          <a:solidFill>
                            <a:srgbClr val="C00000"/>
                          </a:solidFill>
                        </a:rPr>
                        <a:t>No</a:t>
                      </a:r>
                      <a:endParaRPr lang="en-AU" sz="1700" dirty="0">
                        <a:solidFill>
                          <a:srgbClr val="C00000"/>
                        </a:solidFill>
                      </a:endParaRPr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700" dirty="0" smtClean="0"/>
                        <a:t>Yes</a:t>
                      </a:r>
                      <a:endParaRPr lang="en-AU" sz="1700" dirty="0"/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700" dirty="0" smtClean="0">
                          <a:solidFill>
                            <a:srgbClr val="C00000"/>
                          </a:solidFill>
                        </a:rPr>
                        <a:t>No</a:t>
                      </a:r>
                      <a:endParaRPr lang="en-AU" sz="1700" dirty="0"/>
                    </a:p>
                  </a:txBody>
                  <a:tcPr marL="83958" marR="83958" marT="41971" marB="4197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574">
                <a:tc>
                  <a:txBody>
                    <a:bodyPr/>
                    <a:lstStyle/>
                    <a:p>
                      <a:r>
                        <a:rPr lang="en-AU" sz="1700" b="1" dirty="0" smtClean="0"/>
                        <a:t>HEAD</a:t>
                      </a:r>
                      <a:endParaRPr lang="en-AU" sz="1700" b="1" dirty="0"/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r>
                        <a:rPr lang="en-AU" sz="1700" dirty="0" smtClean="0"/>
                        <a:t>GET</a:t>
                      </a:r>
                      <a:r>
                        <a:rPr lang="en-AU" sz="1700" baseline="0" dirty="0" smtClean="0"/>
                        <a:t> with no response (metadata only)</a:t>
                      </a:r>
                      <a:endParaRPr lang="en-AU" sz="1700" dirty="0"/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700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AU" sz="1700" dirty="0">
                        <a:solidFill>
                          <a:schemeClr val="tx1"/>
                        </a:solidFill>
                      </a:endParaRPr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700" dirty="0" smtClean="0"/>
                        <a:t>Yes</a:t>
                      </a:r>
                      <a:endParaRPr lang="en-AU" sz="1700" dirty="0"/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700" dirty="0" smtClean="0">
                          <a:solidFill>
                            <a:srgbClr val="C00000"/>
                          </a:solidFill>
                        </a:rPr>
                        <a:t>No</a:t>
                      </a:r>
                      <a:endParaRPr lang="en-AU" sz="1700" dirty="0"/>
                    </a:p>
                  </a:txBody>
                  <a:tcPr marL="83958" marR="83958" marT="41971" marB="41971"/>
                </a:tc>
                <a:extLst>
                  <a:ext uri="{0D108BD9-81ED-4DB2-BD59-A6C34878D82A}">
                    <a16:rowId xmlns:a16="http://schemas.microsoft.com/office/drawing/2014/main" val="2901092429"/>
                  </a:ext>
                </a:extLst>
              </a:tr>
              <a:tr h="414574">
                <a:tc>
                  <a:txBody>
                    <a:bodyPr/>
                    <a:lstStyle/>
                    <a:p>
                      <a:r>
                        <a:rPr lang="en-AU" sz="1700" b="1" dirty="0" smtClean="0"/>
                        <a:t>PATCH</a:t>
                      </a:r>
                      <a:endParaRPr lang="en-AU" sz="1700" b="1" dirty="0"/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r>
                        <a:rPr lang="en-AU" sz="1700" dirty="0" smtClean="0"/>
                        <a:t>Partial resource update</a:t>
                      </a:r>
                      <a:endParaRPr lang="en-AU" sz="1700" dirty="0"/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marL="0" marR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700" dirty="0" smtClean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marL="0" marR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700" dirty="0" smtClean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marL="0" marR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700" dirty="0" smtClean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 marL="83958" marR="83958" marT="41971" marB="41971"/>
                </a:tc>
                <a:extLst>
                  <a:ext uri="{0D108BD9-81ED-4DB2-BD59-A6C34878D82A}">
                    <a16:rowId xmlns:a16="http://schemas.microsoft.com/office/drawing/2014/main" val="2445940127"/>
                  </a:ext>
                </a:extLst>
              </a:tr>
              <a:tr h="414574">
                <a:tc>
                  <a:txBody>
                    <a:bodyPr/>
                    <a:lstStyle/>
                    <a:p>
                      <a:r>
                        <a:rPr lang="en-AU" sz="1700" b="1" dirty="0" smtClean="0"/>
                        <a:t>TRACE</a:t>
                      </a:r>
                      <a:endParaRPr lang="en-AU" sz="1700" b="1" dirty="0"/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r>
                        <a:rPr lang="en-AU" sz="1700" dirty="0" smtClean="0"/>
                        <a:t>Echoes the received request</a:t>
                      </a:r>
                      <a:endParaRPr lang="en-AU" sz="1700" dirty="0"/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700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AU" sz="1700" dirty="0">
                        <a:solidFill>
                          <a:schemeClr val="tx1"/>
                        </a:solidFill>
                      </a:endParaRPr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700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AU" sz="1700" dirty="0"/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700" dirty="0" smtClean="0">
                          <a:solidFill>
                            <a:srgbClr val="C00000"/>
                          </a:solidFill>
                        </a:rPr>
                        <a:t>No</a:t>
                      </a:r>
                      <a:endParaRPr lang="en-AU" sz="1700" dirty="0"/>
                    </a:p>
                  </a:txBody>
                  <a:tcPr marL="83958" marR="83958" marT="41971" marB="41971"/>
                </a:tc>
                <a:extLst>
                  <a:ext uri="{0D108BD9-81ED-4DB2-BD59-A6C34878D82A}">
                    <a16:rowId xmlns:a16="http://schemas.microsoft.com/office/drawing/2014/main" val="1644305698"/>
                  </a:ext>
                </a:extLst>
              </a:tr>
              <a:tr h="414574">
                <a:tc>
                  <a:txBody>
                    <a:bodyPr/>
                    <a:lstStyle/>
                    <a:p>
                      <a:r>
                        <a:rPr lang="en-AU" sz="1700" b="1" dirty="0" smtClean="0"/>
                        <a:t>OPTIONS</a:t>
                      </a:r>
                      <a:endParaRPr lang="en-AU" sz="1700" b="1" dirty="0"/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r>
                        <a:rPr lang="en-AU" sz="1700" dirty="0" smtClean="0"/>
                        <a:t>Supported methods</a:t>
                      </a:r>
                      <a:r>
                        <a:rPr lang="en-AU" sz="1700" baseline="0" dirty="0" smtClean="0"/>
                        <a:t> for specified URL</a:t>
                      </a:r>
                      <a:endParaRPr lang="en-AU" sz="1700" dirty="0"/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700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AU" sz="1700" dirty="0">
                        <a:solidFill>
                          <a:schemeClr val="tx1"/>
                        </a:solidFill>
                      </a:endParaRPr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700" dirty="0" smtClean="0"/>
                        <a:t>Yes</a:t>
                      </a:r>
                      <a:endParaRPr lang="en-AU" sz="1700" dirty="0"/>
                    </a:p>
                  </a:txBody>
                  <a:tcPr marL="83958" marR="83958" marT="41971" marB="41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700" dirty="0" smtClean="0">
                          <a:solidFill>
                            <a:srgbClr val="C00000"/>
                          </a:solidFill>
                        </a:rPr>
                        <a:t>No</a:t>
                      </a:r>
                      <a:endParaRPr lang="en-AU" sz="1700" dirty="0"/>
                    </a:p>
                  </a:txBody>
                  <a:tcPr marL="83958" marR="83958" marT="41971" marB="41971"/>
                </a:tc>
                <a:extLst>
                  <a:ext uri="{0D108BD9-81ED-4DB2-BD59-A6C34878D82A}">
                    <a16:rowId xmlns:a16="http://schemas.microsoft.com/office/drawing/2014/main" val="3539652453"/>
                  </a:ext>
                </a:extLst>
              </a:tr>
            </a:tbl>
          </a:graphicData>
        </a:graphic>
      </p:graphicFrame>
      <p:sp>
        <p:nvSpPr>
          <p:cNvPr id="6" name="Прямокутник 5"/>
          <p:cNvSpPr/>
          <p:nvPr/>
        </p:nvSpPr>
        <p:spPr>
          <a:xfrm>
            <a:off x="400051" y="5189943"/>
            <a:ext cx="8229600" cy="895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1000"/>
              </a:lnSpc>
              <a:spcBef>
                <a:spcPts val="800"/>
              </a:spcBef>
            </a:pPr>
            <a:r>
              <a:rPr lang="en-GB" altLang="en-US" sz="1600" b="1" dirty="0">
                <a:solidFill>
                  <a:srgbClr val="000000"/>
                </a:solidFill>
              </a:rPr>
              <a:t>Safe</a:t>
            </a:r>
            <a:r>
              <a:rPr lang="en-GB" altLang="en-US" sz="1600" dirty="0">
                <a:solidFill>
                  <a:srgbClr val="000000"/>
                </a:solidFill>
              </a:rPr>
              <a:t>: no </a:t>
            </a:r>
            <a:r>
              <a:rPr lang="en-GB" altLang="en-US" sz="1600" dirty="0" smtClean="0">
                <a:solidFill>
                  <a:srgbClr val="000000"/>
                </a:solidFill>
              </a:rPr>
              <a:t>side-effects (does </a:t>
            </a:r>
            <a:r>
              <a:rPr lang="en-GB" altLang="en-US" sz="1600" dirty="0">
                <a:solidFill>
                  <a:srgbClr val="000000"/>
                </a:solidFill>
              </a:rPr>
              <a:t>not change </a:t>
            </a:r>
            <a:r>
              <a:rPr lang="en-GB" altLang="en-US" sz="1600" dirty="0" smtClean="0">
                <a:solidFill>
                  <a:srgbClr val="000000"/>
                </a:solidFill>
              </a:rPr>
              <a:t>resource)</a:t>
            </a:r>
          </a:p>
          <a:p>
            <a:pPr>
              <a:lnSpc>
                <a:spcPct val="81000"/>
              </a:lnSpc>
              <a:spcBef>
                <a:spcPts val="800"/>
              </a:spcBef>
            </a:pPr>
            <a:endParaRPr lang="en-GB" altLang="en-US" sz="1600" dirty="0">
              <a:solidFill>
                <a:srgbClr val="000000"/>
              </a:solidFill>
            </a:endParaRPr>
          </a:p>
          <a:p>
            <a:pPr>
              <a:lnSpc>
                <a:spcPct val="81000"/>
              </a:lnSpc>
              <a:spcBef>
                <a:spcPts val="800"/>
              </a:spcBef>
            </a:pPr>
            <a:r>
              <a:rPr lang="en-GB" altLang="en-US" sz="1600" b="1" dirty="0">
                <a:solidFill>
                  <a:srgbClr val="000000"/>
                </a:solidFill>
              </a:rPr>
              <a:t>Idempotent</a:t>
            </a:r>
            <a:r>
              <a:rPr lang="en-GB" altLang="en-US" sz="1600" dirty="0">
                <a:solidFill>
                  <a:srgbClr val="000000"/>
                </a:solidFill>
              </a:rPr>
              <a:t>: side-effects of N &gt; 0 identical requests is the same as for a single request</a:t>
            </a:r>
          </a:p>
        </p:txBody>
      </p:sp>
      <p:sp>
        <p:nvSpPr>
          <p:cNvPr id="3" name="Прямокутник 2"/>
          <p:cNvSpPr/>
          <p:nvPr/>
        </p:nvSpPr>
        <p:spPr>
          <a:xfrm>
            <a:off x="367146" y="1066800"/>
            <a:ext cx="8381999" cy="3676059"/>
          </a:xfrm>
          <a:prstGeom prst="rect">
            <a:avLst/>
          </a:prstGeom>
          <a:noFill/>
          <a:ln w="41275">
            <a:solidFill>
              <a:srgbClr val="A3C64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69792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 smtClean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REST/ Control the </a:t>
            </a:r>
            <a:r>
              <a:rPr lang="en-US" dirty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R</a:t>
            </a:r>
            <a:r>
              <a:rPr lang="en-US" dirty="0" smtClean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epresentation</a:t>
            </a:r>
            <a:endParaRPr lang="en-US" dirty="0">
              <a:solidFill>
                <a:srgbClr val="39C2D7"/>
              </a:solidFill>
              <a:effectLst>
                <a:outerShdw blurRad="50800" dist="38100" dir="5400000" algn="ctr" rotWithShape="0">
                  <a:schemeClr val="tx1">
                    <a:lumMod val="75000"/>
                  </a:scheme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885589"/>
            <a:ext cx="4724400" cy="394660"/>
          </a:xfrm>
          <a:prstGeom prst="rect">
            <a:avLst/>
          </a:prstGeom>
          <a:solidFill>
            <a:srgbClr val="A3C644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600">
                <a:solidFill>
                  <a:schemeClr val="bg1"/>
                </a:solidFill>
                <a:cs typeface="Trebuchet MS"/>
              </a:defRPr>
            </a:lvl1pPr>
          </a:lstStyle>
          <a:p>
            <a:r>
              <a:rPr lang="en-US" dirty="0"/>
              <a:t>- </a:t>
            </a:r>
            <a:r>
              <a:rPr lang="en-US" sz="1800" dirty="0"/>
              <a:t>with request/response Headers </a:t>
            </a:r>
          </a:p>
        </p:txBody>
      </p:sp>
      <p:graphicFrame>
        <p:nvGraphicFramePr>
          <p:cNvPr id="12" name="Таблиця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03879"/>
              </p:ext>
            </p:extLst>
          </p:nvPr>
        </p:nvGraphicFramePr>
        <p:xfrm>
          <a:off x="380999" y="1575288"/>
          <a:ext cx="8373341" cy="1726110"/>
        </p:xfrm>
        <a:graphic>
          <a:graphicData uri="http://schemas.openxmlformats.org/drawingml/2006/table">
            <a:tbl>
              <a:tblPr/>
              <a:tblGrid>
                <a:gridCol w="1670079">
                  <a:extLst>
                    <a:ext uri="{9D8B030D-6E8A-4147-A177-3AD203B41FA5}">
                      <a16:colId xmlns:a16="http://schemas.microsoft.com/office/drawing/2014/main" val="3883285403"/>
                    </a:ext>
                  </a:extLst>
                </a:gridCol>
                <a:gridCol w="3912148">
                  <a:extLst>
                    <a:ext uri="{9D8B030D-6E8A-4147-A177-3AD203B41FA5}">
                      <a16:colId xmlns:a16="http://schemas.microsoft.com/office/drawing/2014/main" val="2943821510"/>
                    </a:ext>
                  </a:extLst>
                </a:gridCol>
                <a:gridCol w="2791114">
                  <a:extLst>
                    <a:ext uri="{9D8B030D-6E8A-4147-A177-3AD203B41FA5}">
                      <a16:colId xmlns:a16="http://schemas.microsoft.com/office/drawing/2014/main" val="734526256"/>
                    </a:ext>
                  </a:extLst>
                </a:gridCol>
              </a:tblGrid>
              <a:tr h="334408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dirty="0">
                          <a:effectLst/>
                          <a:latin typeface="inherit"/>
                        </a:rPr>
                        <a:t>Accept</a:t>
                      </a:r>
                    </a:p>
                  </a:txBody>
                  <a:tcPr marL="65532" marR="65532" marT="65532" marB="6553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dirty="0">
                          <a:effectLst/>
                          <a:latin typeface="inherit"/>
                        </a:rPr>
                        <a:t>Content-Types that are acceptable for the response</a:t>
                      </a:r>
                    </a:p>
                  </a:txBody>
                  <a:tcPr marL="65532" marR="65532" marT="65532" marB="6553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dirty="0">
                          <a:effectLst/>
                          <a:latin typeface="inherit"/>
                        </a:rPr>
                        <a:t>Accept: text/plain</a:t>
                      </a:r>
                    </a:p>
                  </a:txBody>
                  <a:tcPr marL="65532" marR="65532" marT="65532" marB="6553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794612"/>
                  </a:ext>
                </a:extLst>
              </a:tr>
              <a:tr h="334408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dirty="0">
                          <a:effectLst/>
                          <a:latin typeface="inherit"/>
                        </a:rPr>
                        <a:t>Accept-Charset</a:t>
                      </a:r>
                    </a:p>
                  </a:txBody>
                  <a:tcPr marL="65532" marR="65532" marT="65532" marB="6553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dirty="0">
                          <a:effectLst/>
                          <a:latin typeface="inherit"/>
                        </a:rPr>
                        <a:t>Character sets that are acceptable</a:t>
                      </a:r>
                    </a:p>
                  </a:txBody>
                  <a:tcPr marL="65532" marR="65532" marT="65532" marB="6553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dirty="0">
                          <a:effectLst/>
                          <a:latin typeface="inherit"/>
                        </a:rPr>
                        <a:t>Accept-Charset: utf-8</a:t>
                      </a:r>
                    </a:p>
                  </a:txBody>
                  <a:tcPr marL="65532" marR="65532" marT="65532" marB="6553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18413"/>
                  </a:ext>
                </a:extLst>
              </a:tr>
              <a:tr h="34084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dirty="0">
                          <a:effectLst/>
                          <a:latin typeface="inherit"/>
                        </a:rPr>
                        <a:t>Accept-Encoding</a:t>
                      </a:r>
                    </a:p>
                  </a:txBody>
                  <a:tcPr marL="65532" marR="65532" marT="65532" marB="6553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dirty="0">
                          <a:effectLst/>
                          <a:latin typeface="inherit"/>
                        </a:rPr>
                        <a:t>List of acceptable encodings</a:t>
                      </a:r>
                    </a:p>
                  </a:txBody>
                  <a:tcPr marL="65532" marR="65532" marT="65532" marB="6553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dirty="0">
                          <a:effectLst/>
                          <a:latin typeface="inherit"/>
                        </a:rPr>
                        <a:t>Accept-Encoding: </a:t>
                      </a:r>
                      <a:r>
                        <a:rPr lang="en-US" sz="1200" b="0" dirty="0" err="1">
                          <a:effectLst/>
                          <a:latin typeface="inherit"/>
                        </a:rPr>
                        <a:t>gzip</a:t>
                      </a:r>
                      <a:r>
                        <a:rPr lang="en-US" sz="1200" b="0" dirty="0">
                          <a:effectLst/>
                          <a:latin typeface="inherit"/>
                        </a:rPr>
                        <a:t>, deflate</a:t>
                      </a:r>
                    </a:p>
                  </a:txBody>
                  <a:tcPr marL="65532" marR="65532" marT="65532" marB="6553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019316"/>
                  </a:ext>
                </a:extLst>
              </a:tr>
              <a:tr h="36726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dirty="0">
                          <a:effectLst/>
                          <a:latin typeface="inherit"/>
                        </a:rPr>
                        <a:t>Accept-Language</a:t>
                      </a:r>
                    </a:p>
                  </a:txBody>
                  <a:tcPr marL="65532" marR="65532" marT="65532" marB="6553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dirty="0">
                          <a:effectLst/>
                          <a:latin typeface="inherit"/>
                        </a:rPr>
                        <a:t>List of acceptable human languages for response</a:t>
                      </a:r>
                    </a:p>
                  </a:txBody>
                  <a:tcPr marL="65532" marR="65532" marT="65532" marB="6553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dirty="0">
                          <a:effectLst/>
                          <a:latin typeface="inherit"/>
                        </a:rPr>
                        <a:t>Accept-Language: </a:t>
                      </a:r>
                      <a:r>
                        <a:rPr lang="en-US" sz="1200" b="0" dirty="0" err="1">
                          <a:effectLst/>
                          <a:latin typeface="inherit"/>
                        </a:rPr>
                        <a:t>en</a:t>
                      </a:r>
                      <a:r>
                        <a:rPr lang="en-US" sz="1200" b="0" dirty="0">
                          <a:effectLst/>
                          <a:latin typeface="inherit"/>
                        </a:rPr>
                        <a:t>-CA</a:t>
                      </a:r>
                    </a:p>
                  </a:txBody>
                  <a:tcPr marL="65532" marR="65532" marT="65532" marB="6553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830719"/>
                  </a:ext>
                </a:extLst>
              </a:tr>
              <a:tr h="34917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dirty="0">
                          <a:effectLst/>
                          <a:latin typeface="inherit"/>
                        </a:rPr>
                        <a:t>Content-Type</a:t>
                      </a:r>
                    </a:p>
                  </a:txBody>
                  <a:tcPr marL="65532" marR="65532" marT="65532" marB="6553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dirty="0">
                          <a:effectLst/>
                          <a:latin typeface="inherit"/>
                        </a:rPr>
                        <a:t>The MIME type of the body of </a:t>
                      </a:r>
                      <a:r>
                        <a:rPr lang="en-US" sz="1200" b="0" dirty="0" smtClean="0">
                          <a:effectLst/>
                          <a:latin typeface="inherit"/>
                        </a:rPr>
                        <a:t>the request</a:t>
                      </a:r>
                      <a:endParaRPr lang="en-US" sz="1200" b="0" dirty="0">
                        <a:effectLst/>
                        <a:latin typeface="inherit"/>
                      </a:endParaRPr>
                    </a:p>
                  </a:txBody>
                  <a:tcPr marL="65532" marR="65532" marT="65532" marB="6553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dirty="0" smtClean="0">
                          <a:effectLst/>
                          <a:latin typeface="inherit"/>
                        </a:rPr>
                        <a:t>application/x-www-form-</a:t>
                      </a:r>
                      <a:r>
                        <a:rPr lang="en-US" sz="1200" b="0" dirty="0" err="1" smtClean="0">
                          <a:effectLst/>
                          <a:latin typeface="inherit"/>
                        </a:rPr>
                        <a:t>urlencoded</a:t>
                      </a:r>
                      <a:endParaRPr lang="en-US" sz="1200" b="0" dirty="0">
                        <a:effectLst/>
                        <a:latin typeface="inherit"/>
                      </a:endParaRPr>
                    </a:p>
                  </a:txBody>
                  <a:tcPr marL="65532" marR="65532" marT="65532" marB="6553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885394"/>
                  </a:ext>
                </a:extLst>
              </a:tr>
            </a:tbl>
          </a:graphicData>
        </a:graphic>
      </p:graphicFrame>
      <p:grpSp>
        <p:nvGrpSpPr>
          <p:cNvPr id="17" name="Групувати 16"/>
          <p:cNvGrpSpPr/>
          <p:nvPr/>
        </p:nvGrpSpPr>
        <p:grpSpPr>
          <a:xfrm>
            <a:off x="0" y="3596437"/>
            <a:ext cx="8754341" cy="2665358"/>
            <a:chOff x="0" y="3596437"/>
            <a:chExt cx="8754341" cy="2665358"/>
          </a:xfrm>
        </p:grpSpPr>
        <p:sp>
          <p:nvSpPr>
            <p:cNvPr id="13" name="TextBox 12"/>
            <p:cNvSpPr txBox="1"/>
            <p:nvPr/>
          </p:nvSpPr>
          <p:spPr>
            <a:xfrm>
              <a:off x="0" y="3596437"/>
              <a:ext cx="4724400" cy="394660"/>
            </a:xfrm>
            <a:prstGeom prst="rect">
              <a:avLst/>
            </a:prstGeom>
            <a:solidFill>
              <a:srgbClr val="A3C644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dirty="0" smtClean="0">
                  <a:solidFill>
                    <a:schemeClr val="bg1"/>
                  </a:solidFill>
                  <a:cs typeface="Trebuchet MS"/>
                </a:rPr>
                <a:t>- </a:t>
              </a:r>
              <a:r>
                <a:rPr lang="en-US" sz="1800" dirty="0" smtClean="0">
                  <a:solidFill>
                    <a:schemeClr val="bg1"/>
                  </a:solidFill>
                  <a:cs typeface="Trebuchet MS"/>
                </a:rPr>
                <a:t>directly in URL</a:t>
              </a:r>
              <a:endParaRPr lang="en-US" sz="1800" dirty="0">
                <a:solidFill>
                  <a:schemeClr val="bg1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6" name="Прямокутник 5"/>
            <p:cNvSpPr/>
            <p:nvPr/>
          </p:nvSpPr>
          <p:spPr>
            <a:xfrm>
              <a:off x="380999" y="4876800"/>
              <a:ext cx="8373342" cy="13849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sz="1400" dirty="0" smtClean="0">
                  <a:solidFill>
                    <a:srgbClr val="9C9F70"/>
                  </a:solidFill>
                </a:rPr>
                <a:t>@POST</a:t>
              </a:r>
            </a:p>
            <a:p>
              <a:r>
                <a:rPr lang="en-US" sz="1400" dirty="0" smtClean="0">
                  <a:solidFill>
                    <a:srgbClr val="9C9F70"/>
                  </a:solidFill>
                </a:rPr>
                <a:t>@</a:t>
              </a:r>
              <a:r>
                <a:rPr lang="en-US" sz="1400" dirty="0">
                  <a:solidFill>
                    <a:srgbClr val="9C9F70"/>
                  </a:solidFill>
                </a:rPr>
                <a:t>Consumes</a:t>
              </a:r>
              <a:r>
                <a:rPr lang="en-US" sz="1400" dirty="0"/>
                <a:t>({"application/</a:t>
              </a:r>
              <a:r>
                <a:rPr lang="en-US" sz="1400" dirty="0" err="1"/>
                <a:t>json</a:t>
              </a:r>
              <a:r>
                <a:rPr lang="en-US" sz="1400" dirty="0"/>
                <a:t>", "application/xml"}) </a:t>
              </a:r>
              <a:endParaRPr lang="en-US" sz="1400" dirty="0" smtClean="0"/>
            </a:p>
            <a:p>
              <a:r>
                <a:rPr lang="en-US" sz="1400" dirty="0" smtClean="0">
                  <a:solidFill>
                    <a:srgbClr val="9C9F70"/>
                  </a:solidFill>
                </a:rPr>
                <a:t>@</a:t>
              </a:r>
              <a:r>
                <a:rPr lang="en-US" sz="1400" dirty="0">
                  <a:solidFill>
                    <a:srgbClr val="9C9F70"/>
                  </a:solidFill>
                </a:rPr>
                <a:t>Produces</a:t>
              </a:r>
              <a:r>
                <a:rPr lang="en-US" sz="1400" dirty="0"/>
                <a:t>({"application/</a:t>
              </a:r>
              <a:r>
                <a:rPr lang="en-US" sz="1400" dirty="0" err="1"/>
                <a:t>json</a:t>
              </a:r>
              <a:r>
                <a:rPr lang="en-US" sz="1400" dirty="0"/>
                <a:t>", "application/xml"}) </a:t>
              </a:r>
              <a:endParaRPr lang="en-US" sz="1400" dirty="0" smtClean="0"/>
            </a:p>
            <a:p>
              <a:r>
                <a:rPr lang="en-US" sz="1400" dirty="0" smtClean="0">
                  <a:solidFill>
                    <a:srgbClr val="002060"/>
                  </a:solidFill>
                </a:rPr>
                <a:t>public</a:t>
              </a:r>
              <a:r>
                <a:rPr lang="en-US" sz="1400" dirty="0" smtClean="0"/>
                <a:t> </a:t>
              </a:r>
              <a:r>
                <a:rPr lang="en-US" sz="1400" dirty="0"/>
                <a:t>Article create(Article article) {   </a:t>
              </a:r>
              <a:endParaRPr lang="en-US" sz="1400" dirty="0" smtClean="0"/>
            </a:p>
            <a:p>
              <a:r>
                <a:rPr lang="en-US" sz="1400" dirty="0"/>
                <a:t>	</a:t>
              </a:r>
              <a:r>
                <a:rPr lang="en-US" sz="1400" dirty="0" smtClean="0">
                  <a:solidFill>
                    <a:srgbClr val="002060"/>
                  </a:solidFill>
                </a:rPr>
                <a:t>return</a:t>
              </a:r>
              <a:r>
                <a:rPr lang="en-US" sz="1400" dirty="0" smtClean="0"/>
                <a:t> </a:t>
              </a:r>
              <a:r>
                <a:rPr lang="en-US" sz="1400" dirty="0" err="1"/>
                <a:t>articleDao.create</a:t>
              </a:r>
              <a:r>
                <a:rPr lang="en-US" sz="1400" dirty="0"/>
                <a:t>(article); </a:t>
              </a:r>
              <a:endParaRPr lang="en-US" sz="1400" dirty="0" smtClean="0"/>
            </a:p>
            <a:p>
              <a:r>
                <a:rPr lang="en-US" sz="1400" dirty="0" smtClean="0"/>
                <a:t>}</a:t>
              </a:r>
              <a:endParaRPr lang="uk-UA" sz="1400" dirty="0" smtClean="0"/>
            </a:p>
          </p:txBody>
        </p:sp>
        <p:sp>
          <p:nvSpPr>
            <p:cNvPr id="15" name="Прямокутник 14"/>
            <p:cNvSpPr/>
            <p:nvPr/>
          </p:nvSpPr>
          <p:spPr>
            <a:xfrm>
              <a:off x="2362200" y="4152209"/>
              <a:ext cx="3505200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 smtClean="0"/>
                <a:t>…/users/23?format=</a:t>
              </a:r>
              <a:r>
                <a:rPr lang="en-US" dirty="0" err="1" smtClean="0"/>
                <a:t>xml&amp;encoding</a:t>
              </a:r>
              <a:r>
                <a:rPr lang="en-US" dirty="0" smtClean="0"/>
                <a:t>=UTF8</a:t>
              </a:r>
              <a:endParaRPr lang="en-US" dirty="0"/>
            </a:p>
            <a:p>
              <a:r>
                <a:rPr lang="en-US" dirty="0" smtClean="0"/>
                <a:t>…/users/23?format=</a:t>
              </a:r>
              <a:r>
                <a:rPr lang="en-US" dirty="0" err="1" smtClean="0"/>
                <a:t>json&amp;encoding</a:t>
              </a:r>
              <a:r>
                <a:rPr lang="en-US" dirty="0" smtClean="0"/>
                <a:t>=UTF8</a:t>
              </a:r>
              <a:endParaRPr lang="en-US" dirty="0"/>
            </a:p>
          </p:txBody>
        </p:sp>
        <p:sp>
          <p:nvSpPr>
            <p:cNvPr id="16" name="Прямокутник 15"/>
            <p:cNvSpPr/>
            <p:nvPr/>
          </p:nvSpPr>
          <p:spPr>
            <a:xfrm>
              <a:off x="381000" y="4152209"/>
              <a:ext cx="2743200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 smtClean="0"/>
                <a:t>…/users/23.xml</a:t>
              </a:r>
            </a:p>
            <a:p>
              <a:r>
                <a:rPr lang="en-US" dirty="0" smtClean="0"/>
                <a:t>…/users/23.json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91926231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 smtClean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REST/ Caching</a:t>
            </a:r>
            <a:endParaRPr lang="en-US" dirty="0">
              <a:solidFill>
                <a:srgbClr val="39C2D7"/>
              </a:solidFill>
              <a:effectLst>
                <a:outerShdw blurRad="50800" dist="38100" dir="5400000" algn="ctr" rotWithShape="0">
                  <a:schemeClr val="tx1">
                    <a:lumMod val="75000"/>
                  </a:schemeClr>
                </a:outerShdw>
              </a:effectLst>
            </a:endParaRPr>
          </a:p>
        </p:txBody>
      </p:sp>
      <p:sp>
        <p:nvSpPr>
          <p:cNvPr id="5" name="Прямокутник 4"/>
          <p:cNvSpPr/>
          <p:nvPr/>
        </p:nvSpPr>
        <p:spPr>
          <a:xfrm>
            <a:off x="397808" y="3165753"/>
            <a:ext cx="8365191" cy="19620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9C9F70"/>
                </a:solidFill>
              </a:rPr>
              <a:t>@</a:t>
            </a:r>
            <a:r>
              <a:rPr lang="en-US" dirty="0" smtClean="0">
                <a:solidFill>
                  <a:srgbClr val="9C9F70"/>
                </a:solidFill>
              </a:rPr>
              <a:t>GET</a:t>
            </a:r>
          </a:p>
          <a:p>
            <a:r>
              <a:rPr lang="en-US" dirty="0" smtClean="0">
                <a:solidFill>
                  <a:srgbClr val="9C9F70"/>
                </a:solidFill>
              </a:rPr>
              <a:t>@</a:t>
            </a:r>
            <a:r>
              <a:rPr lang="en-US" dirty="0">
                <a:solidFill>
                  <a:srgbClr val="9C9F70"/>
                </a:solidFill>
              </a:rPr>
              <a:t>Path</a:t>
            </a:r>
            <a:r>
              <a:rPr lang="en-US" dirty="0"/>
              <a:t>("{id</a:t>
            </a:r>
            <a:r>
              <a:rPr lang="en-US" dirty="0" smtClean="0"/>
              <a:t>}")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public</a:t>
            </a:r>
            <a:r>
              <a:rPr lang="en-US" dirty="0" smtClean="0"/>
              <a:t> </a:t>
            </a:r>
            <a:r>
              <a:rPr lang="en-US" dirty="0"/>
              <a:t>Response read</a:t>
            </a:r>
            <a:r>
              <a:rPr lang="en-US" dirty="0">
                <a:solidFill>
                  <a:srgbClr val="9C9F70"/>
                </a:solidFill>
              </a:rPr>
              <a:t>(@</a:t>
            </a:r>
            <a:r>
              <a:rPr lang="en-US" dirty="0" err="1">
                <a:solidFill>
                  <a:srgbClr val="9C9F70"/>
                </a:solidFill>
              </a:rPr>
              <a:t>PathParam</a:t>
            </a:r>
            <a:r>
              <a:rPr lang="en-US" dirty="0"/>
              <a:t>("id") </a:t>
            </a:r>
            <a:r>
              <a:rPr lang="en-US" dirty="0" err="1">
                <a:solidFill>
                  <a:srgbClr val="002060"/>
                </a:solidFill>
              </a:rPr>
              <a:t>int</a:t>
            </a:r>
            <a:r>
              <a:rPr lang="en-US" dirty="0"/>
              <a:t> id) </a:t>
            </a:r>
            <a:r>
              <a:rPr lang="en-US" dirty="0" smtClean="0"/>
              <a:t>{</a:t>
            </a:r>
          </a:p>
          <a:p>
            <a:r>
              <a:rPr lang="en-US" dirty="0"/>
              <a:t>	</a:t>
            </a:r>
            <a:r>
              <a:rPr lang="en-US" dirty="0" smtClean="0"/>
              <a:t>Article </a:t>
            </a:r>
            <a:r>
              <a:rPr lang="en-US" dirty="0" err="1"/>
              <a:t>article</a:t>
            </a:r>
            <a:r>
              <a:rPr lang="en-US" dirty="0"/>
              <a:t> = </a:t>
            </a:r>
            <a:r>
              <a:rPr lang="en-US" dirty="0" err="1"/>
              <a:t>articleDao.findById</a:t>
            </a:r>
            <a:r>
              <a:rPr lang="en-US" dirty="0"/>
              <a:t>(id);   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err="1" smtClean="0"/>
              <a:t>CacheControl</a:t>
            </a:r>
            <a:r>
              <a:rPr lang="en-US" dirty="0" smtClean="0"/>
              <a:t> </a:t>
            </a:r>
            <a:r>
              <a:rPr lang="en-US" dirty="0" err="1"/>
              <a:t>cacheControl</a:t>
            </a:r>
            <a:r>
              <a:rPr lang="en-US" dirty="0"/>
              <a:t> = </a:t>
            </a:r>
            <a:r>
              <a:rPr lang="en-US" dirty="0">
                <a:solidFill>
                  <a:srgbClr val="002060"/>
                </a:solidFill>
              </a:rPr>
              <a:t>new</a:t>
            </a:r>
            <a:r>
              <a:rPr lang="en-US" dirty="0"/>
              <a:t> </a:t>
            </a:r>
            <a:r>
              <a:rPr lang="en-US" dirty="0" err="1"/>
              <a:t>CacheControl</a:t>
            </a:r>
            <a:r>
              <a:rPr lang="en-US" dirty="0"/>
              <a:t>();   </a:t>
            </a:r>
            <a:r>
              <a:rPr lang="en-US" dirty="0" smtClean="0"/>
              <a:t>	</a:t>
            </a:r>
          </a:p>
          <a:p>
            <a:r>
              <a:rPr lang="en-US" dirty="0"/>
              <a:t>	</a:t>
            </a:r>
            <a:r>
              <a:rPr lang="en-US" dirty="0" err="1" smtClean="0"/>
              <a:t>cacheControl.setMaxAge</a:t>
            </a:r>
            <a:r>
              <a:rPr lang="en-US" dirty="0" smtClean="0"/>
              <a:t>(</a:t>
            </a:r>
            <a:r>
              <a:rPr lang="en-US" b="1" dirty="0" smtClean="0">
                <a:solidFill>
                  <a:srgbClr val="002060"/>
                </a:solidFill>
              </a:rPr>
              <a:t>60</a:t>
            </a:r>
            <a:r>
              <a:rPr lang="en-US" dirty="0" smtClean="0"/>
              <a:t>);</a:t>
            </a:r>
          </a:p>
          <a:p>
            <a:r>
              <a:rPr lang="en-US" dirty="0"/>
              <a:t>	</a:t>
            </a:r>
            <a:r>
              <a:rPr lang="en-US" dirty="0" err="1"/>
              <a:t>cacheControl.</a:t>
            </a:r>
            <a:r>
              <a:rPr lang="en-US" dirty="0" err="1" smtClean="0"/>
              <a:t>setMustRevalidate</a:t>
            </a:r>
            <a:r>
              <a:rPr lang="en-US" dirty="0" smtClean="0"/>
              <a:t>(</a:t>
            </a:r>
            <a:r>
              <a:rPr lang="en-US" b="1" dirty="0" smtClean="0">
                <a:solidFill>
                  <a:srgbClr val="002060"/>
                </a:solidFill>
              </a:rPr>
              <a:t>true</a:t>
            </a:r>
            <a:r>
              <a:rPr lang="en-US" b="1" dirty="0" smtClean="0"/>
              <a:t>);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>
                <a:solidFill>
                  <a:srgbClr val="002060"/>
                </a:solidFill>
              </a:rPr>
              <a:t>return</a:t>
            </a:r>
            <a:r>
              <a:rPr lang="en-US" dirty="0" smtClean="0"/>
              <a:t> </a:t>
            </a:r>
            <a:r>
              <a:rPr lang="en-US" dirty="0" err="1"/>
              <a:t>Response.ok</a:t>
            </a:r>
            <a:r>
              <a:rPr lang="en-US" dirty="0"/>
              <a:t>(article</a:t>
            </a:r>
            <a:r>
              <a:rPr lang="en-US" dirty="0" smtClean="0"/>
              <a:t>).</a:t>
            </a:r>
            <a:r>
              <a:rPr lang="en-US" dirty="0" err="1" smtClean="0"/>
              <a:t>cacheControl</a:t>
            </a:r>
            <a:r>
              <a:rPr lang="en-US" dirty="0" smtClean="0"/>
              <a:t>(</a:t>
            </a:r>
            <a:r>
              <a:rPr lang="en-US" dirty="0" err="1" smtClean="0"/>
              <a:t>cacheControl</a:t>
            </a:r>
            <a:r>
              <a:rPr lang="en-US" dirty="0" smtClean="0"/>
              <a:t>).build();</a:t>
            </a:r>
          </a:p>
          <a:p>
            <a:r>
              <a:rPr lang="en-US" dirty="0" smtClean="0"/>
              <a:t> </a:t>
            </a:r>
            <a:r>
              <a:rPr lang="en-US" dirty="0"/>
              <a:t>}</a:t>
            </a:r>
          </a:p>
        </p:txBody>
      </p:sp>
      <p:sp>
        <p:nvSpPr>
          <p:cNvPr id="6" name="Прямокутник 5"/>
          <p:cNvSpPr/>
          <p:nvPr/>
        </p:nvSpPr>
        <p:spPr>
          <a:xfrm>
            <a:off x="798367" y="955635"/>
            <a:ext cx="76927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“</a:t>
            </a:r>
            <a:r>
              <a:rPr lang="en-US" sz="1600" b="1" dirty="0"/>
              <a:t>The best requests are those that not even reach me</a:t>
            </a:r>
            <a:r>
              <a:rPr lang="en-US" sz="1600" dirty="0" smtClean="0"/>
              <a:t>” </a:t>
            </a:r>
            <a:r>
              <a:rPr lang="en-US" sz="1400" dirty="0" smtClean="0"/>
              <a:t>-  </a:t>
            </a:r>
            <a:r>
              <a:rPr lang="en-US" sz="1200" dirty="0"/>
              <a:t>Anonymous overloaded Server</a:t>
            </a:r>
          </a:p>
        </p:txBody>
      </p:sp>
      <p:grpSp>
        <p:nvGrpSpPr>
          <p:cNvPr id="10" name="Групувати 9"/>
          <p:cNvGrpSpPr/>
          <p:nvPr/>
        </p:nvGrpSpPr>
        <p:grpSpPr>
          <a:xfrm>
            <a:off x="0" y="1659276"/>
            <a:ext cx="5715000" cy="1202224"/>
            <a:chOff x="-4549" y="1874992"/>
            <a:chExt cx="5715000" cy="1202224"/>
          </a:xfrm>
        </p:grpSpPr>
        <p:sp>
          <p:nvSpPr>
            <p:cNvPr id="4" name="Прямокутник 3"/>
            <p:cNvSpPr/>
            <p:nvPr/>
          </p:nvSpPr>
          <p:spPr>
            <a:xfrm>
              <a:off x="304800" y="2361635"/>
              <a:ext cx="5405651" cy="7155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 smtClean="0"/>
                <a:t>- Expires</a:t>
              </a:r>
            </a:p>
            <a:p>
              <a:pPr marL="285750" indent="-285750">
                <a:buFontTx/>
                <a:buChar char="-"/>
              </a:pPr>
              <a:endParaRPr lang="en-US" b="1" dirty="0"/>
            </a:p>
            <a:p>
              <a:r>
                <a:rPr lang="en-US" dirty="0" smtClean="0"/>
                <a:t>- </a:t>
              </a:r>
              <a:r>
                <a:rPr lang="en-US" b="1" dirty="0" smtClean="0"/>
                <a:t>Cache-Control</a:t>
              </a:r>
              <a:r>
                <a:rPr lang="en-US" dirty="0"/>
                <a:t>: </a:t>
              </a:r>
              <a:r>
                <a:rPr lang="en-US" dirty="0" smtClean="0"/>
                <a:t>max-age, no-cache, no-store, must-revalidate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-4549" y="1874992"/>
              <a:ext cx="2362200" cy="319062"/>
            </a:xfrm>
            <a:prstGeom prst="rect">
              <a:avLst/>
            </a:prstGeom>
            <a:solidFill>
              <a:srgbClr val="A3C644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b="1" dirty="0" smtClean="0">
                  <a:solidFill>
                    <a:schemeClr val="bg1"/>
                  </a:solidFill>
                  <a:latin typeface="Trebuchet MS"/>
                  <a:cs typeface="Trebuchet MS"/>
                </a:rPr>
                <a:t>CLIENT-SIDE-CACHE</a:t>
              </a:r>
              <a:endParaRPr lang="en-US" b="1" dirty="0">
                <a:solidFill>
                  <a:schemeClr val="bg1"/>
                </a:solidFill>
                <a:latin typeface="Trebuchet MS"/>
                <a:cs typeface="Trebuchet MS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5886450" y="1659275"/>
            <a:ext cx="259080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 smtClean="0">
                <a:solidFill>
                  <a:srgbClr val="444444"/>
                </a:solidFill>
                <a:cs typeface="Trebuchet MS"/>
              </a:rPr>
              <a:t>BENEFITS</a:t>
            </a:r>
            <a:r>
              <a:rPr lang="en-US" dirty="0" smtClean="0">
                <a:solidFill>
                  <a:srgbClr val="444444"/>
                </a:solidFill>
                <a:cs typeface="Trebuchet MS"/>
              </a:rPr>
              <a:t>:    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444444"/>
                </a:solidFill>
                <a:cs typeface="Trebuchet MS"/>
              </a:rPr>
              <a:t> </a:t>
            </a:r>
            <a:r>
              <a:rPr lang="en-US" dirty="0" smtClean="0">
                <a:solidFill>
                  <a:srgbClr val="444444"/>
                </a:solidFill>
                <a:cs typeface="Trebuchet MS"/>
              </a:rPr>
              <a:t>   -Reduce </a:t>
            </a:r>
            <a:r>
              <a:rPr lang="en-US" dirty="0">
                <a:solidFill>
                  <a:srgbClr val="444444"/>
                </a:solidFill>
                <a:cs typeface="Trebuchet MS"/>
              </a:rPr>
              <a:t>bandwidth</a:t>
            </a:r>
          </a:p>
          <a:p>
            <a:pPr>
              <a:lnSpc>
                <a:spcPct val="120000"/>
              </a:lnSpc>
            </a:pPr>
            <a:r>
              <a:rPr lang="en-US" dirty="0" smtClean="0">
                <a:solidFill>
                  <a:srgbClr val="444444"/>
                </a:solidFill>
                <a:cs typeface="Trebuchet MS"/>
              </a:rPr>
              <a:t>    -Reduce </a:t>
            </a:r>
            <a:r>
              <a:rPr lang="en-US" dirty="0">
                <a:solidFill>
                  <a:srgbClr val="444444"/>
                </a:solidFill>
                <a:cs typeface="Trebuchet MS"/>
              </a:rPr>
              <a:t>latency</a:t>
            </a:r>
          </a:p>
          <a:p>
            <a:pPr>
              <a:lnSpc>
                <a:spcPct val="120000"/>
              </a:lnSpc>
            </a:pPr>
            <a:r>
              <a:rPr lang="en-US" dirty="0" smtClean="0">
                <a:solidFill>
                  <a:srgbClr val="444444"/>
                </a:solidFill>
                <a:cs typeface="Trebuchet MS"/>
              </a:rPr>
              <a:t>    -Reduce </a:t>
            </a:r>
            <a:r>
              <a:rPr lang="en-US" dirty="0">
                <a:solidFill>
                  <a:srgbClr val="444444"/>
                </a:solidFill>
                <a:cs typeface="Trebuchet MS"/>
              </a:rPr>
              <a:t>load on servers</a:t>
            </a:r>
          </a:p>
          <a:p>
            <a:pPr>
              <a:lnSpc>
                <a:spcPct val="120000"/>
              </a:lnSpc>
            </a:pPr>
            <a:r>
              <a:rPr lang="en-US" dirty="0" smtClean="0">
                <a:solidFill>
                  <a:srgbClr val="444444"/>
                </a:solidFill>
                <a:cs typeface="Trebuchet MS"/>
              </a:rPr>
              <a:t>    </a:t>
            </a:r>
            <a:r>
              <a:rPr lang="uk-UA" dirty="0" smtClean="0">
                <a:solidFill>
                  <a:srgbClr val="444444"/>
                </a:solidFill>
                <a:cs typeface="Trebuchet MS"/>
              </a:rPr>
              <a:t>-</a:t>
            </a:r>
            <a:r>
              <a:rPr lang="en-US" dirty="0" smtClean="0">
                <a:solidFill>
                  <a:srgbClr val="444444"/>
                </a:solidFill>
                <a:cs typeface="Trebuchet MS"/>
              </a:rPr>
              <a:t>Hide </a:t>
            </a:r>
            <a:r>
              <a:rPr lang="en-US" dirty="0">
                <a:solidFill>
                  <a:srgbClr val="444444"/>
                </a:solidFill>
                <a:cs typeface="Trebuchet MS"/>
              </a:rPr>
              <a:t>network failures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3636" y="5638800"/>
            <a:ext cx="2362200" cy="319062"/>
          </a:xfrm>
          <a:prstGeom prst="rect">
            <a:avLst/>
          </a:prstGeom>
          <a:solidFill>
            <a:srgbClr val="A3C644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b="1" dirty="0" smtClean="0">
                <a:solidFill>
                  <a:schemeClr val="bg1"/>
                </a:solidFill>
                <a:latin typeface="Trebuchet MS"/>
                <a:cs typeface="Trebuchet MS"/>
              </a:rPr>
              <a:t>SERVER-SIDE-CACHE</a:t>
            </a:r>
            <a:endParaRPr lang="en-US" b="1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93872" y="5638800"/>
            <a:ext cx="2362200" cy="319062"/>
          </a:xfrm>
          <a:prstGeom prst="rect">
            <a:avLst/>
          </a:prstGeom>
          <a:solidFill>
            <a:srgbClr val="A3C644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b="1" dirty="0" smtClean="0">
                <a:solidFill>
                  <a:schemeClr val="bg1"/>
                </a:solidFill>
                <a:latin typeface="Trebuchet MS"/>
                <a:cs typeface="Trebuchet MS"/>
              </a:rPr>
              <a:t>PROXY-LEVEL-CACHE</a:t>
            </a:r>
            <a:endParaRPr lang="en-US" b="1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4513" y="5627423"/>
            <a:ext cx="2743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 smtClean="0">
                <a:solidFill>
                  <a:srgbClr val="444444"/>
                </a:solidFill>
                <a:latin typeface="Trebuchet MS"/>
                <a:cs typeface="Trebuchet MS"/>
              </a:rPr>
              <a:t>…there are more ways to go</a:t>
            </a: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250670164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 smtClean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REST/ Versioning</a:t>
            </a:r>
            <a:endParaRPr lang="en-US" dirty="0">
              <a:solidFill>
                <a:srgbClr val="39C2D7"/>
              </a:solidFill>
              <a:effectLst>
                <a:outerShdw blurRad="50800" dist="38100" dir="5400000" algn="ctr" rotWithShape="0">
                  <a:schemeClr val="tx1">
                    <a:lumMod val="75000"/>
                  </a:schemeClr>
                </a:outerShdw>
              </a:effectLst>
            </a:endParaRPr>
          </a:p>
        </p:txBody>
      </p:sp>
      <p:pic>
        <p:nvPicPr>
          <p:cNvPr id="1030" name="Picture 6" descr="Opens a new window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5713" y="160338"/>
            <a:ext cx="219075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кутник 4"/>
          <p:cNvSpPr/>
          <p:nvPr/>
        </p:nvSpPr>
        <p:spPr>
          <a:xfrm>
            <a:off x="381000" y="1485351"/>
            <a:ext cx="838200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buFont typeface="+mj-lt"/>
              <a:buAutoNum type="arabicPeriod"/>
            </a:pPr>
            <a:r>
              <a:rPr lang="en-US" sz="1400" b="1" dirty="0" smtClean="0">
                <a:latin typeface="inherit"/>
              </a:rPr>
              <a:t>URL  - </a:t>
            </a:r>
            <a:r>
              <a:rPr lang="en-US" sz="1400" dirty="0" smtClean="0">
                <a:latin typeface="inherit"/>
              </a:rPr>
              <a:t> simply whack the API version into the URL, for example</a:t>
            </a:r>
            <a:br>
              <a:rPr lang="en-US" sz="1400" dirty="0" smtClean="0">
                <a:latin typeface="inherit"/>
              </a:rPr>
            </a:br>
            <a:r>
              <a:rPr lang="en-US" sz="1400" dirty="0" smtClean="0">
                <a:latin typeface="inherit"/>
              </a:rPr>
              <a:t/>
            </a:r>
            <a:br>
              <a:rPr lang="en-US" sz="1400" dirty="0" smtClean="0">
                <a:latin typeface="inherit"/>
              </a:rPr>
            </a:br>
            <a:r>
              <a:rPr lang="en-US" sz="1400" dirty="0" smtClean="0">
                <a:latin typeface="inherit"/>
              </a:rPr>
              <a:t/>
            </a:r>
            <a:br>
              <a:rPr lang="en-US" sz="1400" dirty="0" smtClean="0">
                <a:latin typeface="inherit"/>
              </a:rPr>
            </a:br>
            <a:r>
              <a:rPr lang="en-US" sz="1400" dirty="0" smtClean="0">
                <a:latin typeface="inherit"/>
                <a:hlinkClick r:id="rId5" tooltip="https://haveibeenpwned.com/api/v2/breachedaccount/foo"/>
              </a:rPr>
              <a:t>o</a:t>
            </a:r>
            <a:endParaRPr lang="en-US" sz="1400" dirty="0" smtClean="0">
              <a:latin typeface="inherit"/>
            </a:endParaRPr>
          </a:p>
          <a:p>
            <a:pPr fontAlgn="base">
              <a:buFont typeface="+mj-lt"/>
              <a:buAutoNum type="arabicPeriod"/>
            </a:pPr>
            <a:r>
              <a:rPr lang="en-US" sz="1400" b="1" dirty="0" smtClean="0">
                <a:latin typeface="inherit"/>
              </a:rPr>
              <a:t>Custom </a:t>
            </a:r>
            <a:r>
              <a:rPr lang="en-US" sz="1400" b="1" dirty="0">
                <a:latin typeface="inherit"/>
              </a:rPr>
              <a:t>request </a:t>
            </a:r>
            <a:r>
              <a:rPr lang="en-US" sz="1400" b="1" dirty="0" smtClean="0">
                <a:latin typeface="inherit"/>
              </a:rPr>
              <a:t>header - </a:t>
            </a:r>
            <a:r>
              <a:rPr lang="en-US" sz="1400" dirty="0">
                <a:latin typeface="inherit"/>
              </a:rPr>
              <a:t> </a:t>
            </a:r>
            <a:r>
              <a:rPr lang="en-US" sz="1400" dirty="0" smtClean="0">
                <a:latin typeface="inherit"/>
              </a:rPr>
              <a:t>use </a:t>
            </a:r>
            <a:r>
              <a:rPr lang="en-US" sz="1400" dirty="0">
                <a:latin typeface="inherit"/>
              </a:rPr>
              <a:t>the same URL as before but add </a:t>
            </a:r>
            <a:r>
              <a:rPr lang="en-US" sz="1400" dirty="0" smtClean="0">
                <a:latin typeface="inherit"/>
              </a:rPr>
              <a:t>custom header vs version</a:t>
            </a:r>
            <a:br>
              <a:rPr lang="en-US" sz="1400" dirty="0" smtClean="0">
                <a:latin typeface="inherit"/>
              </a:rPr>
            </a:br>
            <a:r>
              <a:rPr lang="en-US" sz="1400" dirty="0" smtClean="0">
                <a:latin typeface="inherit"/>
              </a:rPr>
              <a:t/>
            </a:r>
            <a:br>
              <a:rPr lang="en-US" sz="1400" dirty="0" smtClean="0">
                <a:latin typeface="inherit"/>
              </a:rPr>
            </a:br>
            <a:r>
              <a:rPr lang="en-US" sz="1400" dirty="0" smtClean="0">
                <a:latin typeface="inherit"/>
              </a:rPr>
              <a:t/>
            </a:r>
            <a:br>
              <a:rPr lang="en-US" sz="1400" dirty="0" smtClean="0">
                <a:latin typeface="inherit"/>
              </a:rPr>
            </a:br>
            <a:r>
              <a:rPr lang="en-US" sz="1400" dirty="0" smtClean="0">
                <a:latin typeface="inherit"/>
              </a:rPr>
              <a:t/>
            </a:r>
            <a:br>
              <a:rPr lang="en-US" sz="1400" dirty="0" smtClean="0">
                <a:latin typeface="inherit"/>
              </a:rPr>
            </a:br>
            <a:endParaRPr lang="en-US" sz="1400" dirty="0">
              <a:latin typeface="inherit"/>
            </a:endParaRPr>
          </a:p>
          <a:p>
            <a:pPr fontAlgn="base">
              <a:buFont typeface="+mj-lt"/>
              <a:buAutoNum type="arabicPeriod"/>
            </a:pPr>
            <a:r>
              <a:rPr lang="en-US" sz="1400" b="1" dirty="0" smtClean="0">
                <a:latin typeface="inherit"/>
              </a:rPr>
              <a:t>Accept header</a:t>
            </a:r>
            <a:r>
              <a:rPr lang="en-US" sz="1400" b="1" dirty="0">
                <a:latin typeface="inherit"/>
              </a:rPr>
              <a:t> </a:t>
            </a:r>
            <a:r>
              <a:rPr lang="en-US" sz="1400" b="1" dirty="0" smtClean="0">
                <a:latin typeface="inherit"/>
              </a:rPr>
              <a:t> - </a:t>
            </a:r>
            <a:r>
              <a:rPr lang="en-US" sz="1400" dirty="0" smtClean="0">
                <a:latin typeface="inherit"/>
              </a:rPr>
              <a:t> </a:t>
            </a:r>
            <a:r>
              <a:rPr lang="en-US" sz="1400" dirty="0">
                <a:latin typeface="inherit"/>
              </a:rPr>
              <a:t>modify the accept header to specify the version, for </a:t>
            </a:r>
            <a:r>
              <a:rPr lang="en-US" sz="1400" dirty="0" smtClean="0">
                <a:latin typeface="inherit"/>
              </a:rPr>
              <a:t>example</a:t>
            </a:r>
          </a:p>
          <a:p>
            <a:pPr fontAlgn="base">
              <a:buFont typeface="+mj-lt"/>
              <a:buAutoNum type="arabicPeriod"/>
            </a:pPr>
            <a:endParaRPr lang="en-US" sz="1400" b="0" i="0" dirty="0">
              <a:effectLst/>
              <a:latin typeface="inherit"/>
            </a:endParaRPr>
          </a:p>
          <a:p>
            <a:pPr fontAlgn="base">
              <a:buFont typeface="+mj-lt"/>
              <a:buAutoNum type="arabicPeriod"/>
            </a:pPr>
            <a:endParaRPr lang="en-US" sz="1400" dirty="0" smtClean="0">
              <a:latin typeface="inherit"/>
            </a:endParaRPr>
          </a:p>
          <a:p>
            <a:pPr fontAlgn="base">
              <a:buFont typeface="+mj-lt"/>
              <a:buAutoNum type="arabicPeriod"/>
            </a:pPr>
            <a:endParaRPr lang="en-US" sz="1400" b="0" i="0" dirty="0">
              <a:effectLst/>
              <a:latin typeface="inherit"/>
            </a:endParaRPr>
          </a:p>
          <a:p>
            <a:pPr fontAlgn="base">
              <a:buFont typeface="+mj-lt"/>
              <a:buAutoNum type="arabicPeriod"/>
            </a:pPr>
            <a:endParaRPr lang="en-US" sz="1400" dirty="0" smtClean="0">
              <a:latin typeface="inherit"/>
            </a:endParaRPr>
          </a:p>
          <a:p>
            <a:pPr fontAlgn="base">
              <a:buFont typeface="+mj-lt"/>
              <a:buAutoNum type="arabicPeriod"/>
            </a:pPr>
            <a:r>
              <a:rPr lang="en-US" sz="1400" b="1" dirty="0" smtClean="0">
                <a:latin typeface="inherit"/>
              </a:rPr>
              <a:t>Pass version as URL Parameter</a:t>
            </a:r>
            <a:br>
              <a:rPr lang="en-US" sz="1400" b="1" dirty="0" smtClean="0">
                <a:latin typeface="inherit"/>
              </a:rPr>
            </a:br>
            <a:endParaRPr lang="en-US" sz="1400" b="1" dirty="0" smtClean="0">
              <a:latin typeface="inherit"/>
            </a:endParaRPr>
          </a:p>
          <a:p>
            <a:pPr fontAlgn="base">
              <a:buFont typeface="+mj-lt"/>
              <a:buAutoNum type="arabicPeriod"/>
            </a:pPr>
            <a:endParaRPr lang="en-US" sz="1400" dirty="0">
              <a:latin typeface="inherit"/>
            </a:endParaRPr>
          </a:p>
          <a:p>
            <a:pPr fontAlgn="base">
              <a:buFont typeface="+mj-lt"/>
              <a:buAutoNum type="arabicPeriod"/>
            </a:pPr>
            <a:endParaRPr lang="en-US" sz="1400" dirty="0" smtClean="0">
              <a:latin typeface="inherit"/>
            </a:endParaRPr>
          </a:p>
          <a:p>
            <a:pPr fontAlgn="base">
              <a:buFont typeface="+mj-lt"/>
              <a:buAutoNum type="arabicPeriod"/>
            </a:pPr>
            <a:r>
              <a:rPr lang="en-US" sz="1400" b="1" dirty="0" smtClean="0">
                <a:latin typeface="inherit"/>
              </a:rPr>
              <a:t>Define version on a sub-domain level</a:t>
            </a:r>
            <a:endParaRPr lang="en-US" sz="1400" b="1" dirty="0">
              <a:latin typeface="inheri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889711"/>
            <a:ext cx="3962400" cy="461665"/>
          </a:xfrm>
          <a:prstGeom prst="rect">
            <a:avLst/>
          </a:prstGeom>
          <a:solidFill>
            <a:srgbClr val="A3C745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 </a:t>
            </a:r>
            <a:r>
              <a:rPr lang="en-US" dirty="0"/>
              <a:t>Where to put version?</a:t>
            </a:r>
          </a:p>
        </p:txBody>
      </p:sp>
      <p:sp>
        <p:nvSpPr>
          <p:cNvPr id="12" name="Прямокутник 11"/>
          <p:cNvSpPr/>
          <p:nvPr/>
        </p:nvSpPr>
        <p:spPr>
          <a:xfrm>
            <a:off x="1552575" y="1799648"/>
            <a:ext cx="6019800" cy="307777"/>
          </a:xfrm>
          <a:prstGeom prst="rect">
            <a:avLst/>
          </a:prstGeom>
          <a:solidFill>
            <a:srgbClr val="F7F7F7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solidFill>
                  <a:srgbClr val="403D3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https://service.com/api/</a:t>
            </a:r>
            <a:r>
              <a:rPr lang="en-US" altLang="en-US" sz="1400" b="1" dirty="0" smtClean="0">
                <a:solidFill>
                  <a:srgbClr val="403D3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v2</a:t>
            </a:r>
            <a:r>
              <a:rPr lang="en-US" altLang="en-US" sz="1400" dirty="0" smtClean="0">
                <a:solidFill>
                  <a:srgbClr val="403D3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/things/foo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4" name="Прямокутник 13"/>
          <p:cNvSpPr/>
          <p:nvPr/>
        </p:nvSpPr>
        <p:spPr>
          <a:xfrm>
            <a:off x="1552575" y="2703065"/>
            <a:ext cx="6019800" cy="523220"/>
          </a:xfrm>
          <a:prstGeom prst="rect">
            <a:avLst/>
          </a:prstGeom>
          <a:solidFill>
            <a:srgbClr val="F7F7F7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solidFill>
                  <a:srgbClr val="403D3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https://service.com/api/</a:t>
            </a:r>
            <a:r>
              <a:rPr lang="en-US" altLang="en-US" sz="1400" dirty="0">
                <a:solidFill>
                  <a:srgbClr val="403D3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things</a:t>
            </a:r>
            <a:r>
              <a:rPr lang="en-US" altLang="en-US" sz="1400" dirty="0" smtClean="0">
                <a:solidFill>
                  <a:srgbClr val="403D3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/foo</a:t>
            </a:r>
            <a:endParaRPr lang="en-US" altLang="en-US" sz="1400" dirty="0">
              <a:solidFill>
                <a:srgbClr val="403D3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 err="1">
                <a:solidFill>
                  <a:srgbClr val="403D3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altLang="en-US" sz="1400" b="1" dirty="0">
                <a:solidFill>
                  <a:srgbClr val="403D3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-version: 2</a:t>
            </a:r>
            <a:endParaRPr lang="en-US" altLang="en-US" sz="1400" b="1" dirty="0">
              <a:latin typeface="Arial" panose="020B0604020202020204" pitchFamily="34" charset="0"/>
            </a:endParaRPr>
          </a:p>
        </p:txBody>
      </p:sp>
      <p:sp>
        <p:nvSpPr>
          <p:cNvPr id="15" name="Прямокутник 14"/>
          <p:cNvSpPr/>
          <p:nvPr/>
        </p:nvSpPr>
        <p:spPr>
          <a:xfrm>
            <a:off x="1552575" y="3706518"/>
            <a:ext cx="6019800" cy="523220"/>
          </a:xfrm>
          <a:prstGeom prst="rect">
            <a:avLst/>
          </a:prstGeom>
          <a:solidFill>
            <a:srgbClr val="F7F7F7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solidFill>
                  <a:srgbClr val="403D3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https://service.com/api/things/foo</a:t>
            </a:r>
            <a:r>
              <a:rPr lang="en-US" altLang="en-US" sz="1400" dirty="0">
                <a:solidFill>
                  <a:srgbClr val="403D3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400" dirty="0">
                <a:solidFill>
                  <a:srgbClr val="403D3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403D3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Accept: </a:t>
            </a:r>
            <a:r>
              <a:rPr lang="en-US" altLang="en-US" sz="1400" b="1" dirty="0" smtClean="0">
                <a:solidFill>
                  <a:srgbClr val="403D3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application/service.v2+json</a:t>
            </a:r>
            <a:endParaRPr lang="en-US" altLang="en-US" sz="1400" b="1" dirty="0">
              <a:latin typeface="Arial" panose="020B0604020202020204" pitchFamily="34" charset="0"/>
            </a:endParaRPr>
          </a:p>
        </p:txBody>
      </p:sp>
      <p:sp>
        <p:nvSpPr>
          <p:cNvPr id="18" name="Прямокутник 17"/>
          <p:cNvSpPr/>
          <p:nvPr/>
        </p:nvSpPr>
        <p:spPr>
          <a:xfrm>
            <a:off x="1552575" y="5644196"/>
            <a:ext cx="6019800" cy="307777"/>
          </a:xfrm>
          <a:prstGeom prst="rect">
            <a:avLst/>
          </a:prstGeom>
          <a:solidFill>
            <a:srgbClr val="F7F7F7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solidFill>
                  <a:srgbClr val="403D3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n-US" altLang="en-US" sz="1400" b="1" dirty="0" smtClean="0">
                <a:solidFill>
                  <a:srgbClr val="403D3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v2</a:t>
            </a:r>
            <a:r>
              <a:rPr lang="en-US" altLang="en-US" sz="1400" dirty="0" smtClean="0">
                <a:solidFill>
                  <a:srgbClr val="403D3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.service.com/api/things/foo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9" name="Прямокутник 18"/>
          <p:cNvSpPr/>
          <p:nvPr/>
        </p:nvSpPr>
        <p:spPr>
          <a:xfrm>
            <a:off x="1552575" y="4761611"/>
            <a:ext cx="6019800" cy="307777"/>
          </a:xfrm>
          <a:prstGeom prst="rect">
            <a:avLst/>
          </a:prstGeom>
          <a:solidFill>
            <a:srgbClr val="F7F7F7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solidFill>
                  <a:srgbClr val="403D3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https://service.com/api/things/foo</a:t>
            </a:r>
            <a:r>
              <a:rPr lang="en-US" altLang="en-US" sz="1400" b="1" dirty="0" smtClean="0">
                <a:solidFill>
                  <a:srgbClr val="403D3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?v=2</a:t>
            </a:r>
            <a:endParaRPr lang="en-US" altLang="en-US" sz="1400" b="1" dirty="0">
              <a:latin typeface="Arial" panose="020B0604020202020204" pitchFamily="34" charset="0"/>
            </a:endParaRPr>
          </a:p>
        </p:txBody>
      </p:sp>
      <p:grpSp>
        <p:nvGrpSpPr>
          <p:cNvPr id="16" name="Групувати 15"/>
          <p:cNvGrpSpPr/>
          <p:nvPr/>
        </p:nvGrpSpPr>
        <p:grpSpPr>
          <a:xfrm>
            <a:off x="380999" y="4370912"/>
            <a:ext cx="8382001" cy="1673858"/>
            <a:chOff x="380999" y="4334021"/>
            <a:chExt cx="8362951" cy="1673858"/>
          </a:xfrm>
          <a:solidFill>
            <a:schemeClr val="bg1"/>
          </a:solidFill>
        </p:grpSpPr>
        <p:sp>
          <p:nvSpPr>
            <p:cNvPr id="11" name="TextBox 10"/>
            <p:cNvSpPr txBox="1"/>
            <p:nvPr/>
          </p:nvSpPr>
          <p:spPr>
            <a:xfrm>
              <a:off x="380999" y="4334021"/>
              <a:ext cx="7686675" cy="79759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000" b="1" dirty="0" smtClean="0">
                  <a:solidFill>
                    <a:srgbClr val="89A733"/>
                  </a:solidFill>
                  <a:latin typeface="Trebuchet MS"/>
                  <a:cs typeface="Trebuchet MS"/>
                </a:rPr>
                <a:t>But…</a:t>
              </a:r>
              <a:br>
                <a:rPr lang="en-US" sz="2000" b="1" dirty="0" smtClean="0">
                  <a:solidFill>
                    <a:srgbClr val="89A733"/>
                  </a:solidFill>
                  <a:latin typeface="Trebuchet MS"/>
                  <a:cs typeface="Trebuchet MS"/>
                </a:rPr>
              </a:br>
              <a:endParaRPr lang="en-US" sz="2000" b="1" dirty="0">
                <a:solidFill>
                  <a:srgbClr val="89A733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7" name="Прямокутник 6"/>
            <p:cNvSpPr/>
            <p:nvPr/>
          </p:nvSpPr>
          <p:spPr>
            <a:xfrm>
              <a:off x="381000" y="4876800"/>
              <a:ext cx="8362950" cy="113107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fontAlgn="base"/>
              <a:r>
                <a:rPr lang="en-US" b="1" dirty="0" smtClean="0">
                  <a:solidFill>
                    <a:srgbClr val="595352"/>
                  </a:solidFill>
                  <a:latin typeface="inherit"/>
                </a:rPr>
                <a:t> - URLs </a:t>
              </a:r>
              <a:r>
                <a:rPr lang="en-US" b="1" dirty="0">
                  <a:solidFill>
                    <a:srgbClr val="595352"/>
                  </a:solidFill>
                  <a:latin typeface="inherit"/>
                </a:rPr>
                <a:t>suck because they should represent the </a:t>
              </a:r>
              <a:r>
                <a:rPr lang="en-US" b="1" dirty="0" smtClean="0">
                  <a:solidFill>
                    <a:srgbClr val="595352"/>
                  </a:solidFill>
                  <a:latin typeface="inherit"/>
                </a:rPr>
                <a:t>entity…</a:t>
              </a:r>
              <a:r>
                <a:rPr lang="en-US" dirty="0" smtClean="0">
                  <a:solidFill>
                    <a:srgbClr val="595352"/>
                  </a:solidFill>
                  <a:latin typeface="inherit"/>
                </a:rPr>
                <a:t/>
              </a:r>
              <a:br>
                <a:rPr lang="en-US" dirty="0" smtClean="0">
                  <a:solidFill>
                    <a:srgbClr val="595352"/>
                  </a:solidFill>
                  <a:latin typeface="inherit"/>
                </a:rPr>
              </a:br>
              <a:endParaRPr lang="en-US" dirty="0" smtClean="0">
                <a:solidFill>
                  <a:srgbClr val="595352"/>
                </a:solidFill>
                <a:latin typeface="inherit"/>
              </a:endParaRPr>
            </a:p>
            <a:p>
              <a:pPr fontAlgn="base"/>
              <a:r>
                <a:rPr lang="en-US" b="1" dirty="0" smtClean="0">
                  <a:solidFill>
                    <a:srgbClr val="595352"/>
                  </a:solidFill>
                  <a:latin typeface="inherit"/>
                </a:rPr>
                <a:t> - Custom request headers suck because it’s not a semantic way of describing the resource…</a:t>
              </a:r>
              <a:br>
                <a:rPr lang="en-US" b="1" dirty="0" smtClean="0">
                  <a:solidFill>
                    <a:srgbClr val="595352"/>
                  </a:solidFill>
                  <a:latin typeface="inherit"/>
                </a:rPr>
              </a:br>
              <a:endParaRPr lang="en-US" dirty="0">
                <a:solidFill>
                  <a:srgbClr val="595352"/>
                </a:solidFill>
                <a:latin typeface="inherit"/>
              </a:endParaRPr>
            </a:p>
            <a:p>
              <a:pPr fontAlgn="base"/>
              <a:r>
                <a:rPr lang="en-US" b="1" dirty="0" smtClean="0">
                  <a:solidFill>
                    <a:srgbClr val="595352"/>
                  </a:solidFill>
                  <a:latin typeface="inherit"/>
                </a:rPr>
                <a:t> - Accept </a:t>
              </a:r>
              <a:r>
                <a:rPr lang="en-US" b="1" dirty="0">
                  <a:solidFill>
                    <a:srgbClr val="595352"/>
                  </a:solidFill>
                  <a:latin typeface="inherit"/>
                </a:rPr>
                <a:t>headers suck because they’re harder to </a:t>
              </a:r>
              <a:r>
                <a:rPr lang="en-US" b="1" dirty="0" smtClean="0">
                  <a:solidFill>
                    <a:srgbClr val="595352"/>
                  </a:solidFill>
                  <a:latin typeface="inherit"/>
                </a:rPr>
                <a:t>test…</a:t>
              </a:r>
              <a:endParaRPr lang="en-US" b="0" i="0" dirty="0">
                <a:solidFill>
                  <a:srgbClr val="595352"/>
                </a:solidFill>
                <a:effectLst/>
                <a:latin typeface="inher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2199740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 smtClean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REST/ Security</a:t>
            </a:r>
            <a:endParaRPr lang="en-US" dirty="0">
              <a:solidFill>
                <a:srgbClr val="39C2D7"/>
              </a:solidFill>
              <a:effectLst>
                <a:outerShdw blurRad="50800" dist="38100" dir="5400000" algn="ctr" rotWithShape="0">
                  <a:schemeClr val="tx1">
                    <a:lumMod val="75000"/>
                  </a:schemeClr>
                </a:outerShdw>
              </a:effectLst>
            </a:endParaRPr>
          </a:p>
        </p:txBody>
      </p:sp>
      <p:pic>
        <p:nvPicPr>
          <p:cNvPr id="1030" name="Picture 6" descr="Opens a new window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5713" y="160338"/>
            <a:ext cx="219075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кутник 9"/>
          <p:cNvSpPr/>
          <p:nvPr/>
        </p:nvSpPr>
        <p:spPr>
          <a:xfrm>
            <a:off x="304800" y="1752600"/>
            <a:ext cx="8252460" cy="4239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1600" dirty="0" smtClean="0"/>
              <a:t>Implement </a:t>
            </a:r>
            <a:r>
              <a:rPr lang="en-US" sz="1600" b="1" dirty="0" smtClean="0"/>
              <a:t>authentication</a:t>
            </a:r>
            <a:r>
              <a:rPr lang="en-US" sz="1600" dirty="0"/>
              <a:t>, </a:t>
            </a:r>
            <a:r>
              <a:rPr lang="en-US" sz="1600" b="1" dirty="0"/>
              <a:t>authorization</a:t>
            </a:r>
            <a:r>
              <a:rPr lang="en-US" sz="1600" dirty="0" smtClean="0"/>
              <a:t>, </a:t>
            </a:r>
            <a:r>
              <a:rPr lang="en-US" sz="1600" b="1" dirty="0" smtClean="0"/>
              <a:t>encryption</a:t>
            </a:r>
            <a:r>
              <a:rPr lang="en-US" sz="1600" dirty="0"/>
              <a:t>:</a:t>
            </a:r>
          </a:p>
          <a:p>
            <a:endParaRPr lang="en-US" sz="1600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Update </a:t>
            </a:r>
            <a:r>
              <a:rPr lang="en-US" sz="1600" dirty="0"/>
              <a:t>the </a:t>
            </a:r>
            <a:r>
              <a:rPr lang="en-US" sz="1600" b="1" dirty="0">
                <a:solidFill>
                  <a:srgbClr val="002060"/>
                </a:solidFill>
              </a:rPr>
              <a:t>web.xml</a:t>
            </a:r>
            <a:r>
              <a:rPr lang="en-US" sz="1600" dirty="0"/>
              <a:t> deployment descriptor to define security configuration. </a:t>
            </a:r>
            <a:endParaRPr lang="en-US" sz="1600" dirty="0" smtClean="0"/>
          </a:p>
          <a:p>
            <a:pPr lvl="1"/>
            <a:endParaRPr lang="en-US" sz="1600" dirty="0" smtClean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Use </a:t>
            </a:r>
            <a:r>
              <a:rPr lang="en-US" sz="1600" b="1" dirty="0" err="1" smtClean="0">
                <a:solidFill>
                  <a:srgbClr val="002060"/>
                </a:solidFill>
              </a:rPr>
              <a:t>javax.ws.rs.core.SecurityContext</a:t>
            </a:r>
            <a:r>
              <a:rPr lang="en-US" sz="1600" dirty="0" smtClean="0"/>
              <a:t> </a:t>
            </a:r>
            <a:r>
              <a:rPr lang="en-US" sz="1600" dirty="0"/>
              <a:t>interface to implement security </a:t>
            </a:r>
            <a:r>
              <a:rPr lang="en-US" sz="1600" dirty="0" smtClean="0"/>
              <a:t>programmatically.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Apply </a:t>
            </a:r>
            <a:r>
              <a:rPr lang="en-US" sz="1600" b="1" dirty="0" smtClean="0">
                <a:solidFill>
                  <a:srgbClr val="002060"/>
                </a:solidFill>
              </a:rPr>
              <a:t>annotations</a:t>
            </a:r>
            <a:r>
              <a:rPr lang="en-US" sz="1600" dirty="0" smtClean="0"/>
              <a:t> </a:t>
            </a:r>
            <a:r>
              <a:rPr lang="en-US" sz="1600" dirty="0"/>
              <a:t>to your JAX-RS classes</a:t>
            </a:r>
            <a:r>
              <a:rPr lang="en-US" sz="1600" dirty="0" smtClean="0"/>
              <a:t>.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Using </a:t>
            </a:r>
            <a:r>
              <a:rPr lang="en-US" sz="1600" dirty="0" smtClean="0"/>
              <a:t>external libraries to </a:t>
            </a:r>
            <a:r>
              <a:rPr lang="en-US" sz="1600" dirty="0"/>
              <a:t>sign and verify </a:t>
            </a:r>
            <a:r>
              <a:rPr lang="en-US" sz="1600" dirty="0" smtClean="0"/>
              <a:t>requests.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Make your own wheels vs blackjack and ... security!</a:t>
            </a:r>
            <a:endParaRPr 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066800"/>
            <a:ext cx="5494020" cy="461665"/>
          </a:xfrm>
          <a:prstGeom prst="rect">
            <a:avLst/>
          </a:prstGeom>
          <a:solidFill>
            <a:srgbClr val="A3C745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bg1"/>
                </a:solidFill>
              </a:rPr>
              <a:t>How to secure your RESTful Web S</a:t>
            </a:r>
            <a:r>
              <a:rPr lang="en-US" sz="2000" b="1" dirty="0" smtClean="0">
                <a:solidFill>
                  <a:schemeClr val="bg1"/>
                </a:solidFill>
              </a:rPr>
              <a:t>ervices ?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330573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 smtClean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REST/ Security</a:t>
            </a:r>
            <a:endParaRPr lang="en-US" dirty="0">
              <a:solidFill>
                <a:srgbClr val="39C2D7"/>
              </a:solidFill>
              <a:effectLst>
                <a:outerShdw blurRad="50800" dist="38100" dir="5400000" algn="ctr" rotWithShape="0">
                  <a:schemeClr val="tx1">
                    <a:lumMod val="75000"/>
                  </a:schemeClr>
                </a:outerShdw>
              </a:effectLst>
            </a:endParaRPr>
          </a:p>
        </p:txBody>
      </p:sp>
      <p:pic>
        <p:nvPicPr>
          <p:cNvPr id="1030" name="Picture 6" descr="Opens a new window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5713" y="160338"/>
            <a:ext cx="219075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кутник 4"/>
          <p:cNvSpPr/>
          <p:nvPr/>
        </p:nvSpPr>
        <p:spPr>
          <a:xfrm>
            <a:off x="365760" y="1752600"/>
            <a:ext cx="8458200" cy="37548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security-constraint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web-resource-collection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&lt;</a:t>
            </a:r>
            <a:r>
              <a:rPr lang="en-US" sz="1400" b="1" dirty="0">
                <a:solidFill>
                  <a:srgbClr val="17657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web-resource-name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SecureOrdersEast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b="1" dirty="0">
                <a:solidFill>
                  <a:srgbClr val="17657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web-resource-name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	&lt;</a:t>
            </a:r>
            <a:r>
              <a:rPr lang="en-US" sz="1400" b="1" dirty="0" err="1">
                <a:solidFill>
                  <a:srgbClr val="17657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1400" b="1" dirty="0">
                <a:solidFill>
                  <a:srgbClr val="17657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-pattern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&gt;/orders/east/*&lt;/</a:t>
            </a:r>
            <a:r>
              <a:rPr lang="en-US" sz="1400" b="1" dirty="0" err="1">
                <a:solidFill>
                  <a:srgbClr val="17657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1400" b="1" dirty="0">
                <a:solidFill>
                  <a:srgbClr val="17657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-pattern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&lt;</a:t>
            </a:r>
            <a:r>
              <a:rPr lang="en-US" sz="1400" b="1" dirty="0" smtClean="0">
                <a:solidFill>
                  <a:srgbClr val="17657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http-method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&gt;POST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b="1" dirty="0">
                <a:solidFill>
                  <a:srgbClr val="17657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http-method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&lt;</a:t>
            </a:r>
            <a:r>
              <a:rPr lang="en-US" sz="1400" b="1" dirty="0">
                <a:solidFill>
                  <a:srgbClr val="17657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http-method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&gt;GET&lt;/</a:t>
            </a:r>
            <a:r>
              <a:rPr lang="en-US" sz="1400" b="1" dirty="0">
                <a:solidFill>
                  <a:srgbClr val="17657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http-method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&lt;/</a:t>
            </a: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web-resource-collection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&lt;</a:t>
            </a:r>
            <a:r>
              <a:rPr lang="en-US" sz="14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auth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-constraint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&lt;</a:t>
            </a:r>
            <a:r>
              <a:rPr lang="en-US" sz="1400" b="1" dirty="0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role-name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&gt;east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b="1" dirty="0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role-name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b="1" dirty="0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role-name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&gt;manager&lt;/</a:t>
            </a:r>
            <a:r>
              <a:rPr lang="en-US" sz="1400" b="1" dirty="0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role-name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auth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-constraint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&lt;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user-data-constraint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&lt;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transport-guarantee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&gt;NONE/INTEGRAL/CONFIDENTIAL&lt;/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transport-guarantee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user-data-constraint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security-constraint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979054"/>
            <a:ext cx="1600200" cy="428259"/>
          </a:xfrm>
          <a:prstGeom prst="rect">
            <a:avLst/>
          </a:prstGeom>
          <a:solidFill>
            <a:srgbClr val="A3C644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Web.xml</a:t>
            </a:r>
          </a:p>
        </p:txBody>
      </p:sp>
    </p:spTree>
    <p:extLst>
      <p:ext uri="{BB962C8B-B14F-4D97-AF65-F5344CB8AC3E}">
        <p14:creationId xmlns:p14="http://schemas.microsoft.com/office/powerpoint/2010/main" val="1886441574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 smtClean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REST/ Security</a:t>
            </a:r>
            <a:endParaRPr lang="en-US" dirty="0">
              <a:solidFill>
                <a:srgbClr val="39C2D7"/>
              </a:solidFill>
              <a:effectLst>
                <a:outerShdw blurRad="50800" dist="38100" dir="5400000" algn="ctr" rotWithShape="0">
                  <a:schemeClr val="tx1">
                    <a:lumMod val="75000"/>
                  </a:schemeClr>
                </a:outerShdw>
              </a:effectLst>
            </a:endParaRPr>
          </a:p>
        </p:txBody>
      </p:sp>
      <p:pic>
        <p:nvPicPr>
          <p:cNvPr id="1030" name="Picture 6" descr="Opens a new window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5713" y="160338"/>
            <a:ext cx="219075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кутник 6"/>
          <p:cNvSpPr/>
          <p:nvPr/>
        </p:nvSpPr>
        <p:spPr>
          <a:xfrm>
            <a:off x="381000" y="4114800"/>
            <a:ext cx="8305800" cy="22467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9C9F70"/>
                </a:solidFill>
              </a:rPr>
              <a:t>@Path</a:t>
            </a:r>
            <a:r>
              <a:rPr lang="en-US" sz="1400" dirty="0"/>
              <a:t>("/</a:t>
            </a:r>
            <a:r>
              <a:rPr lang="en-US" sz="1400" dirty="0" err="1"/>
              <a:t>helloworld</a:t>
            </a:r>
            <a:r>
              <a:rPr lang="en-US" sz="1400" dirty="0"/>
              <a:t>")</a:t>
            </a:r>
          </a:p>
          <a:p>
            <a:r>
              <a:rPr lang="en-US" sz="1400" dirty="0">
                <a:solidFill>
                  <a:srgbClr val="9C9F70"/>
                </a:solidFill>
              </a:rPr>
              <a:t>@</a:t>
            </a:r>
            <a:r>
              <a:rPr lang="en-US" sz="1400" dirty="0" err="1">
                <a:solidFill>
                  <a:srgbClr val="9C9F70"/>
                </a:solidFill>
              </a:rPr>
              <a:t>RolesAllowed</a:t>
            </a:r>
            <a:r>
              <a:rPr lang="en-US" sz="1400" dirty="0"/>
              <a:t>({"ADMIN", "ORG1"})</a:t>
            </a:r>
          </a:p>
          <a:p>
            <a:r>
              <a:rPr lang="en-US" sz="1400" dirty="0">
                <a:solidFill>
                  <a:srgbClr val="002060"/>
                </a:solidFill>
              </a:rPr>
              <a:t>public</a:t>
            </a:r>
            <a:r>
              <a:rPr lang="en-US" sz="1400" dirty="0"/>
              <a:t> class </a:t>
            </a:r>
            <a:r>
              <a:rPr lang="en-US" sz="1400" dirty="0" err="1"/>
              <a:t>helloWorld</a:t>
            </a:r>
            <a:r>
              <a:rPr lang="en-US" sz="1400" dirty="0"/>
              <a:t> {</a:t>
            </a:r>
          </a:p>
          <a:p>
            <a:endParaRPr lang="en-US" sz="1400" dirty="0"/>
          </a:p>
          <a:p>
            <a:r>
              <a:rPr lang="en-US" sz="1400" dirty="0"/>
              <a:t>   </a:t>
            </a:r>
            <a:r>
              <a:rPr lang="en-US" sz="1400" dirty="0">
                <a:solidFill>
                  <a:srgbClr val="9C9F70"/>
                </a:solidFill>
              </a:rPr>
              <a:t>@GET</a:t>
            </a:r>
          </a:p>
          <a:p>
            <a:r>
              <a:rPr lang="en-US" sz="1400" dirty="0"/>
              <a:t>   </a:t>
            </a:r>
            <a:r>
              <a:rPr lang="en-US" sz="1400" dirty="0">
                <a:solidFill>
                  <a:srgbClr val="9C9F70"/>
                </a:solidFill>
              </a:rPr>
              <a:t>@Path</a:t>
            </a:r>
            <a:r>
              <a:rPr lang="en-US" sz="1400" dirty="0"/>
              <a:t>("</a:t>
            </a:r>
            <a:r>
              <a:rPr lang="en-US" sz="1400" dirty="0" err="1"/>
              <a:t>sayHello</a:t>
            </a:r>
            <a:r>
              <a:rPr lang="en-US" sz="1400" dirty="0"/>
              <a:t>")  </a:t>
            </a:r>
          </a:p>
          <a:p>
            <a:r>
              <a:rPr lang="en-US" sz="1400" dirty="0"/>
              <a:t>   </a:t>
            </a:r>
            <a:r>
              <a:rPr lang="en-US" sz="1400" dirty="0">
                <a:solidFill>
                  <a:srgbClr val="9C9F70"/>
                </a:solidFill>
              </a:rPr>
              <a:t>@Produces</a:t>
            </a:r>
            <a:r>
              <a:rPr lang="en-US" sz="1400" dirty="0"/>
              <a:t>("text/plain")</a:t>
            </a:r>
          </a:p>
          <a:p>
            <a:r>
              <a:rPr lang="en-US" sz="1400" dirty="0"/>
              <a:t>   </a:t>
            </a:r>
            <a:r>
              <a:rPr lang="en-US" sz="1400" dirty="0">
                <a:solidFill>
                  <a:srgbClr val="9C9F70"/>
                </a:solidFill>
              </a:rPr>
              <a:t>@</a:t>
            </a:r>
            <a:r>
              <a:rPr lang="en-US" sz="1400" dirty="0" err="1">
                <a:solidFill>
                  <a:srgbClr val="9C9F70"/>
                </a:solidFill>
              </a:rPr>
              <a:t>RolesAllows</a:t>
            </a:r>
            <a:r>
              <a:rPr lang="en-US" sz="1400" dirty="0"/>
              <a:t>("ADMIN")</a:t>
            </a:r>
          </a:p>
          <a:p>
            <a:r>
              <a:rPr lang="en-US" sz="1400" dirty="0"/>
              <a:t>   </a:t>
            </a:r>
            <a:r>
              <a:rPr lang="en-US" sz="1400" dirty="0">
                <a:solidFill>
                  <a:srgbClr val="002060"/>
                </a:solidFill>
              </a:rPr>
              <a:t>public</a:t>
            </a:r>
            <a:r>
              <a:rPr lang="en-US" sz="1400" dirty="0"/>
              <a:t> String </a:t>
            </a:r>
            <a:r>
              <a:rPr lang="en-US" sz="1400" dirty="0" err="1"/>
              <a:t>sayHello</a:t>
            </a:r>
            <a:r>
              <a:rPr lang="en-US" sz="1400" dirty="0"/>
              <a:t>() </a:t>
            </a:r>
            <a:r>
              <a:rPr lang="en-US" sz="1400" dirty="0" smtClean="0"/>
              <a:t>{  </a:t>
            </a:r>
            <a:r>
              <a:rPr lang="en-US" sz="1400" dirty="0" smtClean="0">
                <a:solidFill>
                  <a:srgbClr val="002060"/>
                </a:solidFill>
              </a:rPr>
              <a:t>return</a:t>
            </a:r>
            <a:r>
              <a:rPr lang="en-US" sz="1400" dirty="0" smtClean="0"/>
              <a:t> "Hello World!"; </a:t>
            </a:r>
            <a:r>
              <a:rPr lang="en-US" sz="1400" dirty="0"/>
              <a:t>	</a:t>
            </a:r>
            <a:r>
              <a:rPr lang="en-US" sz="1400" dirty="0" smtClean="0"/>
              <a:t>}</a:t>
            </a:r>
            <a:endParaRPr lang="en-US" sz="1400" dirty="0"/>
          </a:p>
          <a:p>
            <a:r>
              <a:rPr lang="en-US" sz="1400" dirty="0"/>
              <a:t>}</a:t>
            </a:r>
          </a:p>
        </p:txBody>
      </p:sp>
      <p:sp>
        <p:nvSpPr>
          <p:cNvPr id="4" name="Прямокутник 3"/>
          <p:cNvSpPr/>
          <p:nvPr/>
        </p:nvSpPr>
        <p:spPr>
          <a:xfrm>
            <a:off x="381000" y="1524548"/>
            <a:ext cx="8305800" cy="23775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9C9F70"/>
                </a:solidFill>
              </a:rPr>
              <a:t>@Path</a:t>
            </a:r>
            <a:r>
              <a:rPr lang="en-US" dirty="0"/>
              <a:t>("/stateless")</a:t>
            </a:r>
          </a:p>
          <a:p>
            <a:r>
              <a:rPr lang="en-US" dirty="0">
                <a:solidFill>
                  <a:srgbClr val="9C9F70"/>
                </a:solidFill>
              </a:rPr>
              <a:t>@Stateless</a:t>
            </a:r>
            <a:r>
              <a:rPr lang="en-US" dirty="0"/>
              <a:t>(name = "</a:t>
            </a:r>
            <a:r>
              <a:rPr lang="en-US" dirty="0" err="1"/>
              <a:t>JaxRSStatelessEJB</a:t>
            </a:r>
            <a:r>
              <a:rPr lang="en-US" dirty="0"/>
              <a:t>")</a:t>
            </a:r>
          </a:p>
          <a:p>
            <a:r>
              <a:rPr lang="en-US" dirty="0"/>
              <a:t>public class </a:t>
            </a:r>
            <a:r>
              <a:rPr lang="en-US" dirty="0" err="1"/>
              <a:t>StlsEJBApp</a:t>
            </a:r>
            <a:r>
              <a:rPr lang="en-US" dirty="0"/>
              <a:t> {</a:t>
            </a:r>
          </a:p>
          <a:p>
            <a:r>
              <a:rPr lang="en-US" dirty="0" smtClean="0"/>
              <a:t>...</a:t>
            </a:r>
          </a:p>
          <a:p>
            <a:r>
              <a:rPr lang="en-US" dirty="0" smtClean="0"/>
              <a:t>        </a:t>
            </a:r>
            <a:r>
              <a:rPr lang="en-US" dirty="0" smtClean="0">
                <a:solidFill>
                  <a:srgbClr val="9C9F70"/>
                </a:solidFill>
              </a:rPr>
              <a:t>@GET</a:t>
            </a:r>
          </a:p>
          <a:p>
            <a:r>
              <a:rPr lang="en-US" dirty="0" smtClean="0"/>
              <a:t>        </a:t>
            </a:r>
            <a:r>
              <a:rPr lang="en-US" dirty="0">
                <a:solidFill>
                  <a:srgbClr val="9C9F70"/>
                </a:solidFill>
              </a:rPr>
              <a:t>@Produces</a:t>
            </a:r>
            <a:r>
              <a:rPr lang="en-US" dirty="0"/>
              <a:t>("text/</a:t>
            </a:r>
            <a:r>
              <a:rPr lang="en-US" dirty="0" err="1"/>
              <a:t>plain;charset</a:t>
            </a:r>
            <a:r>
              <a:rPr lang="en-US" dirty="0"/>
              <a:t>=UTF-8")</a:t>
            </a:r>
          </a:p>
          <a:p>
            <a:r>
              <a:rPr lang="en-US" dirty="0"/>
              <a:t>        </a:t>
            </a:r>
            <a:r>
              <a:rPr lang="en-US" dirty="0">
                <a:solidFill>
                  <a:srgbClr val="9C9F70"/>
                </a:solidFill>
              </a:rPr>
              <a:t>@Path</a:t>
            </a:r>
            <a:r>
              <a:rPr lang="en-US" dirty="0"/>
              <a:t>("/hello")</a:t>
            </a:r>
          </a:p>
          <a:p>
            <a:r>
              <a:rPr lang="en-US" dirty="0"/>
              <a:t>        public String </a:t>
            </a:r>
            <a:r>
              <a:rPr lang="en-US" dirty="0" err="1"/>
              <a:t>sayHello</a:t>
            </a:r>
            <a:r>
              <a:rPr lang="en-US" dirty="0"/>
              <a:t>(</a:t>
            </a:r>
            <a:r>
              <a:rPr lang="en-US" dirty="0">
                <a:solidFill>
                  <a:srgbClr val="9C9F70"/>
                </a:solidFill>
              </a:rPr>
              <a:t>@Context </a:t>
            </a:r>
            <a:r>
              <a:rPr lang="en-US" dirty="0" err="1"/>
              <a:t>SecurityContext</a:t>
            </a:r>
            <a:r>
              <a:rPr lang="en-US" dirty="0"/>
              <a:t> </a:t>
            </a:r>
            <a:r>
              <a:rPr lang="en-US" dirty="0" err="1"/>
              <a:t>sc</a:t>
            </a:r>
            <a:r>
              <a:rPr lang="en-US" dirty="0"/>
              <a:t>) {</a:t>
            </a:r>
          </a:p>
          <a:p>
            <a:r>
              <a:rPr lang="en-US" dirty="0"/>
              <a:t>                if (</a:t>
            </a:r>
            <a:r>
              <a:rPr lang="en-US" dirty="0" err="1"/>
              <a:t>sc.isUserInRole</a:t>
            </a:r>
            <a:r>
              <a:rPr lang="en-US" dirty="0"/>
              <a:t>("admin"))  return "Hello World!";</a:t>
            </a:r>
          </a:p>
          <a:p>
            <a:r>
              <a:rPr lang="en-US" dirty="0"/>
              <a:t>                throw new </a:t>
            </a:r>
            <a:r>
              <a:rPr lang="en-US" dirty="0" err="1"/>
              <a:t>SecurityException</a:t>
            </a:r>
            <a:r>
              <a:rPr lang="en-US" dirty="0"/>
              <a:t>("User is unauthorized.");</a:t>
            </a:r>
          </a:p>
          <a:p>
            <a:r>
              <a:rPr lang="en-US" dirty="0"/>
              <a:t>       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845511"/>
            <a:ext cx="4267200" cy="428259"/>
          </a:xfrm>
          <a:prstGeom prst="rect">
            <a:avLst/>
          </a:prstGeom>
          <a:solidFill>
            <a:srgbClr val="A3C644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 err="1" smtClean="0">
                <a:solidFill>
                  <a:schemeClr val="bg1"/>
                </a:solidFill>
              </a:rPr>
              <a:t>SecurityContext</a:t>
            </a:r>
            <a:r>
              <a:rPr lang="en-US" sz="2000" b="1" dirty="0" smtClean="0">
                <a:solidFill>
                  <a:schemeClr val="bg1"/>
                </a:solidFill>
              </a:rPr>
              <a:t> vs Annotations</a:t>
            </a:r>
            <a:endParaRPr lang="en-US" sz="2000" b="1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156897327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 smtClean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REST/ </a:t>
            </a:r>
            <a:r>
              <a:rPr lang="en-US" dirty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Frameworks</a:t>
            </a:r>
          </a:p>
        </p:txBody>
      </p:sp>
      <p:grpSp>
        <p:nvGrpSpPr>
          <p:cNvPr id="7" name="Групувати 6"/>
          <p:cNvGrpSpPr/>
          <p:nvPr/>
        </p:nvGrpSpPr>
        <p:grpSpPr>
          <a:xfrm>
            <a:off x="609600" y="1972271"/>
            <a:ext cx="8001000" cy="647911"/>
            <a:chOff x="762000" y="1166243"/>
            <a:chExt cx="8001000" cy="647911"/>
          </a:xfrm>
        </p:grpSpPr>
        <p:sp>
          <p:nvSpPr>
            <p:cNvPr id="3" name="TextBox 2"/>
            <p:cNvSpPr txBox="1"/>
            <p:nvPr/>
          </p:nvSpPr>
          <p:spPr>
            <a:xfrm>
              <a:off x="3581400" y="1223223"/>
              <a:ext cx="5181600" cy="590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dirty="0" smtClean="0">
                  <a:solidFill>
                    <a:srgbClr val="444444"/>
                  </a:solidFill>
                  <a:cs typeface="Trebuchet MS"/>
                </a:rPr>
                <a:t>Provides 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it’s own API that extend the JAX-RS toolkit with additional features and utilities</a:t>
              </a:r>
              <a:endParaRPr lang="en-US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  <p:pic>
          <p:nvPicPr>
            <p:cNvPr id="1026" name="Picture 2" descr="https://jersey.java.net/images/jersey_logo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1219200"/>
              <a:ext cx="609600" cy="523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1517276" y="1166243"/>
              <a:ext cx="1600200" cy="629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3200" b="1" dirty="0">
                  <a:solidFill>
                    <a:srgbClr val="FD9803"/>
                  </a:solidFill>
                  <a:latin typeface="Trebuchet MS"/>
                  <a:cs typeface="Trebuchet MS"/>
                </a:rPr>
                <a:t>JERSEY</a:t>
              </a:r>
            </a:p>
          </p:txBody>
        </p:sp>
      </p:grpSp>
      <p:grpSp>
        <p:nvGrpSpPr>
          <p:cNvPr id="8" name="Групувати 7"/>
          <p:cNvGrpSpPr/>
          <p:nvPr/>
        </p:nvGrpSpPr>
        <p:grpSpPr>
          <a:xfrm>
            <a:off x="609600" y="2949737"/>
            <a:ext cx="8001000" cy="1047751"/>
            <a:chOff x="859204" y="2746625"/>
            <a:chExt cx="8001000" cy="1047751"/>
          </a:xfrm>
        </p:grpSpPr>
        <p:pic>
          <p:nvPicPr>
            <p:cNvPr id="1028" name="Picture 4" descr="http://www.jboss.org/dms/resteasy/images/resteasy-banner-1180px.png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3125"/>
            <a:stretch/>
          </p:blipFill>
          <p:spPr bwMode="auto">
            <a:xfrm>
              <a:off x="859204" y="2746625"/>
              <a:ext cx="2057400" cy="1047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3678604" y="2986319"/>
              <a:ext cx="5181600" cy="5683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dirty="0" smtClean="0">
                  <a:solidFill>
                    <a:srgbClr val="444444"/>
                  </a:solidFill>
                  <a:cs typeface="Trebuchet MS"/>
                </a:rPr>
                <a:t>Provides various 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frameworks </a:t>
              </a:r>
              <a:r>
                <a:rPr lang="en-US" dirty="0" smtClean="0">
                  <a:solidFill>
                    <a:srgbClr val="444444"/>
                  </a:solidFill>
                  <a:cs typeface="Trebuchet MS"/>
                </a:rPr>
                <a:t>for building RESTful 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Web </a:t>
              </a:r>
              <a:r>
                <a:rPr lang="en-US" dirty="0" smtClean="0">
                  <a:solidFill>
                    <a:srgbClr val="444444"/>
                  </a:solidFill>
                  <a:cs typeface="Trebuchet MS"/>
                </a:rPr>
                <a:t>Services. Fully certified 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and portable implementation of the JAX-RS </a:t>
              </a:r>
              <a:r>
                <a:rPr lang="en-US" dirty="0" smtClean="0">
                  <a:solidFill>
                    <a:srgbClr val="444444"/>
                  </a:solidFill>
                  <a:cs typeface="Trebuchet MS"/>
                </a:rPr>
                <a:t>2.0</a:t>
              </a:r>
              <a:endParaRPr lang="en-US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9" name="Групувати 8"/>
          <p:cNvGrpSpPr/>
          <p:nvPr/>
        </p:nvGrpSpPr>
        <p:grpSpPr>
          <a:xfrm>
            <a:off x="609600" y="938313"/>
            <a:ext cx="7239000" cy="840230"/>
            <a:chOff x="762000" y="4702059"/>
            <a:chExt cx="7239000" cy="840230"/>
          </a:xfrm>
        </p:grpSpPr>
        <p:pic>
          <p:nvPicPr>
            <p:cNvPr id="1030" name="Picture 6" descr="https://spring.io/img/spring-by-pivotal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4744970"/>
              <a:ext cx="2251808" cy="7318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3581400" y="4702059"/>
              <a:ext cx="4419600" cy="840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dirty="0" smtClean="0">
                  <a:solidFill>
                    <a:srgbClr val="444444"/>
                  </a:solidFill>
                  <a:latin typeface="Trebuchet MS"/>
                  <a:cs typeface="Trebuchet MS"/>
                </a:rPr>
                <a:t>Spring  </a:t>
              </a:r>
              <a:r>
                <a:rPr lang="en-US" b="1" dirty="0" smtClean="0">
                  <a:solidFill>
                    <a:srgbClr val="444444"/>
                  </a:solidFill>
                  <a:latin typeface="Trebuchet MS"/>
                  <a:cs typeface="Trebuchet MS"/>
                </a:rPr>
                <a:t>MVC</a:t>
              </a:r>
              <a:r>
                <a:rPr lang="en-US" dirty="0" smtClean="0">
                  <a:solidFill>
                    <a:srgbClr val="444444"/>
                  </a:solidFill>
                  <a:latin typeface="Trebuchet MS"/>
                  <a:cs typeface="Trebuchet MS"/>
                </a:rPr>
                <a:t>		– to build </a:t>
              </a:r>
              <a:r>
                <a:rPr lang="en-US" dirty="0" err="1" smtClean="0">
                  <a:solidFill>
                    <a:srgbClr val="444444"/>
                  </a:solidFill>
                  <a:latin typeface="Trebuchet MS"/>
                  <a:cs typeface="Trebuchet MS"/>
                </a:rPr>
                <a:t>RESTfull</a:t>
              </a:r>
              <a:r>
                <a:rPr lang="en-US" dirty="0" smtClean="0">
                  <a:solidFill>
                    <a:srgbClr val="444444"/>
                  </a:solidFill>
                  <a:latin typeface="Trebuchet MS"/>
                  <a:cs typeface="Trebuchet MS"/>
                </a:rPr>
                <a:t> Server</a:t>
              </a:r>
              <a:br>
                <a:rPr lang="en-US" dirty="0" smtClean="0">
                  <a:solidFill>
                    <a:srgbClr val="444444"/>
                  </a:solidFill>
                  <a:latin typeface="Trebuchet MS"/>
                  <a:cs typeface="Trebuchet MS"/>
                </a:rPr>
              </a:br>
              <a:r>
                <a:rPr lang="en-US" dirty="0" smtClean="0">
                  <a:solidFill>
                    <a:srgbClr val="444444"/>
                  </a:solidFill>
                  <a:latin typeface="Trebuchet MS"/>
                  <a:cs typeface="Trebuchet MS"/>
                </a:rPr>
                <a:t>Spring  </a:t>
              </a:r>
              <a:r>
                <a:rPr lang="en-US" b="1" dirty="0" err="1" smtClean="0">
                  <a:solidFill>
                    <a:srgbClr val="444444"/>
                  </a:solidFill>
                  <a:latin typeface="Trebuchet MS"/>
                  <a:cs typeface="Trebuchet MS"/>
                </a:rPr>
                <a:t>RestTemplate</a:t>
              </a:r>
              <a:r>
                <a:rPr lang="en-US" dirty="0" smtClean="0">
                  <a:solidFill>
                    <a:srgbClr val="444444"/>
                  </a:solidFill>
                  <a:latin typeface="Trebuchet MS"/>
                  <a:cs typeface="Trebuchet MS"/>
                </a:rPr>
                <a:t>	- for Client side</a:t>
              </a:r>
              <a:br>
                <a:rPr lang="en-US" dirty="0" smtClean="0">
                  <a:solidFill>
                    <a:srgbClr val="444444"/>
                  </a:solidFill>
                  <a:latin typeface="Trebuchet MS"/>
                  <a:cs typeface="Trebuchet MS"/>
                </a:rPr>
              </a:br>
              <a:r>
                <a:rPr lang="en-US" dirty="0" smtClean="0">
                  <a:solidFill>
                    <a:srgbClr val="444444"/>
                  </a:solidFill>
                  <a:latin typeface="Trebuchet MS"/>
                  <a:cs typeface="Trebuchet MS"/>
                </a:rPr>
                <a:t>Spring  </a:t>
              </a:r>
              <a:r>
                <a:rPr lang="en-US" b="1" dirty="0" smtClean="0"/>
                <a:t>HATEOAS</a:t>
              </a:r>
              <a:r>
                <a:rPr lang="en-US" dirty="0" smtClean="0"/>
                <a:t>		- Hypermedia</a:t>
              </a:r>
              <a:endParaRPr lang="en-US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592504" y="5158126"/>
            <a:ext cx="205925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 smtClean="0">
                <a:solidFill>
                  <a:srgbClr val="444444"/>
                </a:solidFill>
                <a:latin typeface="Trebuchet MS"/>
                <a:cs typeface="Trebuchet MS"/>
              </a:rPr>
              <a:t>and tons of others…</a:t>
            </a: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  <p:sp>
        <p:nvSpPr>
          <p:cNvPr id="14" name="Прямокутник 13"/>
          <p:cNvSpPr/>
          <p:nvPr/>
        </p:nvSpPr>
        <p:spPr>
          <a:xfrm>
            <a:off x="2651760" y="4502049"/>
            <a:ext cx="5926622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Apache CXF         Ninja </a:t>
            </a:r>
            <a:r>
              <a:rPr lang="en-US" sz="2000" b="1" dirty="0"/>
              <a:t>Web </a:t>
            </a:r>
            <a:r>
              <a:rPr lang="en-US" sz="2000" b="1" dirty="0" smtClean="0"/>
              <a:t>Framework</a:t>
            </a:r>
            <a:br>
              <a:rPr lang="en-US" sz="2000" b="1" dirty="0" smtClean="0"/>
            </a:br>
            <a:endParaRPr lang="en-US" sz="2000" b="1" dirty="0" smtClean="0"/>
          </a:p>
          <a:p>
            <a:r>
              <a:rPr lang="en-US" sz="2000" b="1" dirty="0" smtClean="0"/>
              <a:t>	     Play Framework                 </a:t>
            </a:r>
            <a:r>
              <a:rPr lang="en-US" sz="2000" b="1" dirty="0" err="1" smtClean="0"/>
              <a:t>RestExpress</a:t>
            </a:r>
            <a:r>
              <a:rPr lang="en-US" sz="2000" b="1" dirty="0" smtClean="0"/>
              <a:t/>
            </a:r>
            <a:br>
              <a:rPr lang="en-US" sz="2000" b="1" dirty="0" smtClean="0"/>
            </a:br>
            <a:endParaRPr lang="en-US" sz="2000" b="1" dirty="0" smtClean="0"/>
          </a:p>
          <a:p>
            <a:r>
              <a:rPr lang="en-US" sz="2000" b="1" dirty="0" smtClean="0"/>
              <a:t>     </a:t>
            </a:r>
            <a:r>
              <a:rPr lang="en-US" sz="2000" b="1" dirty="0" err="1" smtClean="0"/>
              <a:t>Restlet</a:t>
            </a:r>
            <a:r>
              <a:rPr lang="en-US" sz="2000" b="1" dirty="0" smtClean="0"/>
              <a:t>             </a:t>
            </a:r>
            <a:r>
              <a:rPr lang="en-US" sz="2000" b="1" dirty="0" err="1" smtClean="0"/>
              <a:t>RestxSpark</a:t>
            </a:r>
            <a:r>
              <a:rPr lang="en-US" sz="2000" b="1" dirty="0" smtClean="0"/>
              <a:t> </a:t>
            </a:r>
            <a:r>
              <a:rPr lang="en-US" sz="2000" b="1" dirty="0"/>
              <a:t>Framework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81015295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 smtClean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REST/ HATEOAS</a:t>
            </a:r>
            <a:endParaRPr lang="en-US" dirty="0">
              <a:solidFill>
                <a:srgbClr val="39C2D7"/>
              </a:solidFill>
              <a:effectLst>
                <a:outerShdw blurRad="50800" dist="38100" dir="5400000" algn="ctr" rotWithShape="0">
                  <a:schemeClr val="tx1">
                    <a:lumMod val="75000"/>
                  </a:scheme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9501" y="840596"/>
            <a:ext cx="68580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444444"/>
                </a:solidFill>
                <a:cs typeface="Trebuchet MS"/>
              </a:rPr>
              <a:t>Hypermedia as the Engine of Application State</a:t>
            </a:r>
            <a:endParaRPr lang="en-US" sz="2400" b="1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4564" y="5882567"/>
            <a:ext cx="2819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 smtClean="0">
                <a:solidFill>
                  <a:srgbClr val="444444"/>
                </a:solidFill>
                <a:latin typeface="Trebuchet MS"/>
                <a:cs typeface="Trebuchet MS"/>
              </a:rPr>
              <a:t>…when REST looks more like WEB</a:t>
            </a: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  <p:sp>
        <p:nvSpPr>
          <p:cNvPr id="8" name="Прямокутник 7"/>
          <p:cNvSpPr/>
          <p:nvPr/>
        </p:nvSpPr>
        <p:spPr>
          <a:xfrm>
            <a:off x="403412" y="3638820"/>
            <a:ext cx="1140759" cy="533400"/>
          </a:xfrm>
          <a:prstGeom prst="rect">
            <a:avLst/>
          </a:prstGeom>
          <a:solidFill>
            <a:srgbClr val="A3C644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</a:t>
            </a:r>
            <a:r>
              <a:rPr lang="en-US" sz="1400" b="1" dirty="0" smtClean="0">
                <a:solidFill>
                  <a:schemeClr val="bg1"/>
                </a:solidFill>
              </a:rPr>
              <a:t>hell / root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0" name="Прямокутник 9"/>
          <p:cNvSpPr/>
          <p:nvPr/>
        </p:nvSpPr>
        <p:spPr>
          <a:xfrm>
            <a:off x="3155577" y="3638820"/>
            <a:ext cx="1371600" cy="533400"/>
          </a:xfrm>
          <a:prstGeom prst="rect">
            <a:avLst/>
          </a:prstGeom>
          <a:solidFill>
            <a:srgbClr val="A3C644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list of books</a:t>
            </a:r>
          </a:p>
        </p:txBody>
      </p:sp>
      <p:sp>
        <p:nvSpPr>
          <p:cNvPr id="11" name="Прямокутник 10"/>
          <p:cNvSpPr/>
          <p:nvPr/>
        </p:nvSpPr>
        <p:spPr>
          <a:xfrm>
            <a:off x="7123018" y="1790142"/>
            <a:ext cx="1577788" cy="533400"/>
          </a:xfrm>
          <a:prstGeom prst="rect">
            <a:avLst/>
          </a:prstGeom>
          <a:solidFill>
            <a:srgbClr val="A3C644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Payment OK</a:t>
            </a:r>
          </a:p>
        </p:txBody>
      </p:sp>
      <p:sp>
        <p:nvSpPr>
          <p:cNvPr id="12" name="Прямокутник 11"/>
          <p:cNvSpPr/>
          <p:nvPr/>
        </p:nvSpPr>
        <p:spPr>
          <a:xfrm>
            <a:off x="7123019" y="3324888"/>
            <a:ext cx="1577787" cy="533400"/>
          </a:xfrm>
          <a:prstGeom prst="rect">
            <a:avLst/>
          </a:prstGeom>
          <a:solidFill>
            <a:srgbClr val="A3C644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123.epub</a:t>
            </a:r>
          </a:p>
        </p:txBody>
      </p:sp>
      <p:sp>
        <p:nvSpPr>
          <p:cNvPr id="13" name="Прямокутник 12"/>
          <p:cNvSpPr/>
          <p:nvPr/>
        </p:nvSpPr>
        <p:spPr>
          <a:xfrm>
            <a:off x="3151095" y="4791740"/>
            <a:ext cx="1371600" cy="533400"/>
          </a:xfrm>
          <a:prstGeom prst="rect">
            <a:avLst/>
          </a:prstGeom>
          <a:solidFill>
            <a:srgbClr val="A3C644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list of books</a:t>
            </a:r>
          </a:p>
        </p:txBody>
      </p:sp>
      <p:sp>
        <p:nvSpPr>
          <p:cNvPr id="14" name="Прямокутник 13"/>
          <p:cNvSpPr/>
          <p:nvPr/>
        </p:nvSpPr>
        <p:spPr>
          <a:xfrm>
            <a:off x="5165351" y="2502110"/>
            <a:ext cx="1371600" cy="533400"/>
          </a:xfrm>
          <a:prstGeom prst="rect">
            <a:avLst/>
          </a:prstGeom>
          <a:solidFill>
            <a:srgbClr val="A3C644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book 123</a:t>
            </a:r>
          </a:p>
        </p:txBody>
      </p:sp>
      <p:sp>
        <p:nvSpPr>
          <p:cNvPr id="15" name="Прямокутник 14"/>
          <p:cNvSpPr/>
          <p:nvPr/>
        </p:nvSpPr>
        <p:spPr>
          <a:xfrm>
            <a:off x="1736913" y="2502110"/>
            <a:ext cx="1371600" cy="533400"/>
          </a:xfrm>
          <a:prstGeom prst="rect">
            <a:avLst/>
          </a:prstGeom>
          <a:solidFill>
            <a:srgbClr val="A3C644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list of books</a:t>
            </a:r>
          </a:p>
        </p:txBody>
      </p:sp>
      <p:sp>
        <p:nvSpPr>
          <p:cNvPr id="16" name="Прямокутник 15"/>
          <p:cNvSpPr/>
          <p:nvPr/>
        </p:nvSpPr>
        <p:spPr>
          <a:xfrm>
            <a:off x="5191965" y="4789833"/>
            <a:ext cx="1371600" cy="533400"/>
          </a:xfrm>
          <a:prstGeom prst="rect">
            <a:avLst/>
          </a:prstGeom>
          <a:solidFill>
            <a:srgbClr val="A3C644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book 456</a:t>
            </a:r>
          </a:p>
        </p:txBody>
      </p:sp>
      <p:cxnSp>
        <p:nvCxnSpPr>
          <p:cNvPr id="23" name="Пряма зі стрілкою 22"/>
          <p:cNvCxnSpPr>
            <a:stCxn id="8" idx="0"/>
            <a:endCxn id="15" idx="2"/>
          </p:cNvCxnSpPr>
          <p:nvPr/>
        </p:nvCxnSpPr>
        <p:spPr>
          <a:xfrm flipV="1">
            <a:off x="973792" y="3035510"/>
            <a:ext cx="1448921" cy="603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Пряма зі стрілкою 24"/>
          <p:cNvCxnSpPr>
            <a:stCxn id="8" idx="3"/>
            <a:endCxn id="10" idx="1"/>
          </p:cNvCxnSpPr>
          <p:nvPr/>
        </p:nvCxnSpPr>
        <p:spPr>
          <a:xfrm>
            <a:off x="1544171" y="3905520"/>
            <a:ext cx="16114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Пряма зі стрілкою 26"/>
          <p:cNvCxnSpPr>
            <a:stCxn id="10" idx="2"/>
            <a:endCxn id="13" idx="0"/>
          </p:cNvCxnSpPr>
          <p:nvPr/>
        </p:nvCxnSpPr>
        <p:spPr>
          <a:xfrm flipH="1">
            <a:off x="3836895" y="4172220"/>
            <a:ext cx="4482" cy="619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Пряма зі стрілкою 28"/>
          <p:cNvCxnSpPr>
            <a:stCxn id="13" idx="3"/>
            <a:endCxn id="16" idx="1"/>
          </p:cNvCxnSpPr>
          <p:nvPr/>
        </p:nvCxnSpPr>
        <p:spPr>
          <a:xfrm flipV="1">
            <a:off x="4522695" y="5056533"/>
            <a:ext cx="669270" cy="19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Пряма зі стрілкою 31"/>
          <p:cNvCxnSpPr>
            <a:stCxn id="16" idx="0"/>
            <a:endCxn id="14" idx="2"/>
          </p:cNvCxnSpPr>
          <p:nvPr/>
        </p:nvCxnSpPr>
        <p:spPr>
          <a:xfrm flipH="1" flipV="1">
            <a:off x="5851151" y="3035510"/>
            <a:ext cx="26614" cy="1754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Пряма зі стрілкою 33"/>
          <p:cNvCxnSpPr>
            <a:stCxn id="15" idx="3"/>
            <a:endCxn id="14" idx="1"/>
          </p:cNvCxnSpPr>
          <p:nvPr/>
        </p:nvCxnSpPr>
        <p:spPr>
          <a:xfrm>
            <a:off x="3108513" y="2768810"/>
            <a:ext cx="20568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Пряма зі стрілкою 35"/>
          <p:cNvCxnSpPr>
            <a:stCxn id="10" idx="0"/>
            <a:endCxn id="14" idx="1"/>
          </p:cNvCxnSpPr>
          <p:nvPr/>
        </p:nvCxnSpPr>
        <p:spPr>
          <a:xfrm flipV="1">
            <a:off x="3841377" y="2768810"/>
            <a:ext cx="1323974" cy="870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Пряма зі стрілкою 40"/>
          <p:cNvCxnSpPr>
            <a:stCxn id="14" idx="3"/>
            <a:endCxn id="11" idx="1"/>
          </p:cNvCxnSpPr>
          <p:nvPr/>
        </p:nvCxnSpPr>
        <p:spPr>
          <a:xfrm flipV="1">
            <a:off x="6536951" y="2056842"/>
            <a:ext cx="586067" cy="711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Пряма зі стрілкою 42"/>
          <p:cNvCxnSpPr>
            <a:stCxn id="14" idx="3"/>
            <a:endCxn id="12" idx="1"/>
          </p:cNvCxnSpPr>
          <p:nvPr/>
        </p:nvCxnSpPr>
        <p:spPr>
          <a:xfrm>
            <a:off x="6536951" y="2768810"/>
            <a:ext cx="586068" cy="822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Пряма зі стрілкою 47"/>
          <p:cNvCxnSpPr>
            <a:stCxn id="11" idx="2"/>
            <a:endCxn id="12" idx="0"/>
          </p:cNvCxnSpPr>
          <p:nvPr/>
        </p:nvCxnSpPr>
        <p:spPr>
          <a:xfrm>
            <a:off x="7911912" y="2323542"/>
            <a:ext cx="1" cy="1001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60295" y="3082978"/>
            <a:ext cx="129540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 err="1" smtClean="0">
                <a:solidFill>
                  <a:srgbClr val="44444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books:owbed</a:t>
            </a:r>
            <a:endParaRPr lang="en-US" sz="1200" dirty="0">
              <a:solidFill>
                <a:srgbClr val="44444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569945" y="3591588"/>
            <a:ext cx="163830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 err="1" smtClean="0">
                <a:solidFill>
                  <a:srgbClr val="44444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books:available</a:t>
            </a:r>
            <a:endParaRPr lang="en-US" sz="1200" dirty="0">
              <a:solidFill>
                <a:srgbClr val="44444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779744" y="2450707"/>
            <a:ext cx="61856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 smtClean="0">
                <a:solidFill>
                  <a:srgbClr val="44444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endParaRPr lang="en-US" sz="1200" dirty="0">
              <a:solidFill>
                <a:srgbClr val="44444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3793751" y="3031339"/>
            <a:ext cx="61856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 smtClean="0">
                <a:solidFill>
                  <a:srgbClr val="44444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endParaRPr lang="en-US" sz="1200" dirty="0">
              <a:solidFill>
                <a:srgbClr val="44444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632089" y="3732089"/>
            <a:ext cx="1354791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 err="1">
                <a:solidFill>
                  <a:srgbClr val="44444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 err="1" smtClean="0">
                <a:solidFill>
                  <a:srgbClr val="44444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tem:related</a:t>
            </a:r>
            <a:endParaRPr lang="en-US" sz="1200" dirty="0">
              <a:solidFill>
                <a:srgbClr val="44444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546787" y="4726913"/>
            <a:ext cx="61856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 smtClean="0">
                <a:solidFill>
                  <a:srgbClr val="44444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endParaRPr lang="en-US" sz="1200" dirty="0">
              <a:solidFill>
                <a:srgbClr val="44444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048000" y="4308803"/>
            <a:ext cx="899273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 smtClean="0">
                <a:solidFill>
                  <a:srgbClr val="44444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</a:t>
            </a:r>
            <a:endParaRPr lang="en-US" sz="1200" dirty="0">
              <a:solidFill>
                <a:srgbClr val="44444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6458789" y="2098894"/>
            <a:ext cx="61856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 smtClean="0">
                <a:solidFill>
                  <a:srgbClr val="44444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buy</a:t>
            </a:r>
            <a:endParaRPr lang="en-US" sz="1200" dirty="0">
              <a:solidFill>
                <a:srgbClr val="44444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5994725" y="3119614"/>
            <a:ext cx="989199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 smtClean="0">
                <a:solidFill>
                  <a:srgbClr val="44444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download</a:t>
            </a:r>
            <a:endParaRPr lang="en-US" sz="1200" dirty="0">
              <a:solidFill>
                <a:srgbClr val="44444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7036592" y="2646745"/>
            <a:ext cx="961746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 smtClean="0">
                <a:solidFill>
                  <a:srgbClr val="44444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download</a:t>
            </a:r>
            <a:endParaRPr lang="en-US" sz="1200" dirty="0">
              <a:solidFill>
                <a:srgbClr val="44444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552655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 smtClean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REST/ It is all about relations!</a:t>
            </a:r>
            <a:endParaRPr lang="en-US" dirty="0">
              <a:solidFill>
                <a:srgbClr val="39C2D7"/>
              </a:solidFill>
              <a:effectLst>
                <a:outerShdw blurRad="50800" dist="38100" dir="5400000" algn="ctr" rotWithShape="0">
                  <a:schemeClr val="tx1">
                    <a:lumMod val="75000"/>
                  </a:schemeClr>
                </a:outerShdw>
              </a:effectLst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114800" y="2073533"/>
            <a:ext cx="4648200" cy="3970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 /rooms/1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HTTP/1.1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Host: example.org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Accept: application/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hal+json</a:t>
            </a:r>
            <a:endParaRPr lang="en-US" altLang="en-US" sz="1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HTTP/1.1 200 OK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Content-Type: application/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hal+json</a:t>
            </a:r>
            <a:endParaRPr lang="en-US" altLang="en-US" sz="1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"_</a:t>
            </a: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links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"self": { "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</a:t>
            </a:r>
            <a:r>
              <a:rPr lang="en-US" altLang="en-US" sz="12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"/rooms/1"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},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2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12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door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{ "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"/</a:t>
            </a:r>
            <a:r>
              <a:rPr lang="en-US" altLang="en-US" sz="12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who/cares/door</a:t>
            </a:r>
            <a:r>
              <a:rPr lang="en-US" altLang="en-US" sz="12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"},</a:t>
            </a:r>
            <a:endParaRPr lang="en-US" altLang="en-US" sz="1200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12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door":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"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</a:t>
            </a:r>
            <a:r>
              <a:rPr lang="en-US" altLang="en-US" sz="12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"/another/door"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12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},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"</a:t>
            </a:r>
            <a:r>
              <a:rPr lang="en-US" altLang="en-US" sz="12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name":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12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kitchen",</a:t>
            </a:r>
            <a:endParaRPr lang="en-US" altLang="en-US" sz="1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"status": "</a:t>
            </a:r>
            <a:r>
              <a:rPr lang="en-US" altLang="en-US" sz="12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open",</a:t>
            </a:r>
            <a:endParaRPr lang="en-US" altLang="en-US" sz="1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"</a:t>
            </a:r>
            <a:r>
              <a:rPr lang="en-US" altLang="en-US" sz="12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size":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10.20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2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1000" y="831110"/>
            <a:ext cx="8382000" cy="757130"/>
          </a:xfrm>
          <a:prstGeom prst="rect">
            <a:avLst/>
          </a:prstGeom>
          <a:solidFill>
            <a:srgbClr val="A3C644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800" dirty="0">
                <a:solidFill>
                  <a:schemeClr val="bg1"/>
                </a:solidFill>
                <a:cs typeface="Trebuchet MS"/>
              </a:rPr>
              <a:t>H</a:t>
            </a:r>
            <a:r>
              <a:rPr lang="en-US" sz="1800" b="1" dirty="0" smtClean="0">
                <a:solidFill>
                  <a:schemeClr val="bg1"/>
                </a:solidFill>
                <a:cs typeface="Trebuchet MS"/>
              </a:rPr>
              <a:t>ypermedia-driven</a:t>
            </a:r>
            <a:r>
              <a:rPr lang="en-US" sz="1800" dirty="0" smtClean="0">
                <a:solidFill>
                  <a:schemeClr val="bg1"/>
                </a:solidFill>
                <a:cs typeface="Trebuchet MS"/>
              </a:rPr>
              <a:t> </a:t>
            </a:r>
            <a:r>
              <a:rPr lang="en-US" sz="1800" dirty="0">
                <a:solidFill>
                  <a:schemeClr val="bg1"/>
                </a:solidFill>
                <a:cs typeface="Trebuchet MS"/>
              </a:rPr>
              <a:t>site provides </a:t>
            </a:r>
            <a:r>
              <a:rPr lang="en-US" sz="1800" dirty="0" smtClean="0">
                <a:solidFill>
                  <a:schemeClr val="bg1"/>
                </a:solidFill>
                <a:cs typeface="Trebuchet MS"/>
              </a:rPr>
              <a:t>information to </a:t>
            </a:r>
            <a:r>
              <a:rPr lang="en-US" sz="1800" dirty="0">
                <a:solidFill>
                  <a:schemeClr val="bg1"/>
                </a:solidFill>
                <a:cs typeface="Trebuchet MS"/>
              </a:rPr>
              <a:t>navigate </a:t>
            </a:r>
            <a:r>
              <a:rPr lang="en-US" sz="1800" dirty="0" smtClean="0">
                <a:solidFill>
                  <a:schemeClr val="bg1"/>
                </a:solidFill>
                <a:cs typeface="Trebuchet MS"/>
              </a:rPr>
              <a:t>the </a:t>
            </a:r>
            <a:r>
              <a:rPr lang="en-US" sz="1800" b="1" dirty="0" smtClean="0">
                <a:solidFill>
                  <a:schemeClr val="bg1"/>
                </a:solidFill>
                <a:cs typeface="Trebuchet MS"/>
              </a:rPr>
              <a:t>REST</a:t>
            </a:r>
            <a:r>
              <a:rPr lang="en-US" sz="1800" dirty="0" smtClean="0">
                <a:solidFill>
                  <a:schemeClr val="bg1"/>
                </a:solidFill>
                <a:cs typeface="Trebuchet MS"/>
              </a:rPr>
              <a:t> interfaces </a:t>
            </a:r>
            <a:r>
              <a:rPr lang="en-US" sz="1800" b="1" dirty="0">
                <a:solidFill>
                  <a:schemeClr val="bg1"/>
                </a:solidFill>
                <a:cs typeface="Trebuchet MS"/>
              </a:rPr>
              <a:t>dynamically</a:t>
            </a:r>
            <a:r>
              <a:rPr lang="en-US" sz="1800" dirty="0">
                <a:solidFill>
                  <a:schemeClr val="bg1"/>
                </a:solidFill>
                <a:cs typeface="Trebuchet MS"/>
              </a:rPr>
              <a:t> </a:t>
            </a:r>
            <a:r>
              <a:rPr lang="en-US" sz="1800" dirty="0" smtClean="0">
                <a:solidFill>
                  <a:schemeClr val="bg1"/>
                </a:solidFill>
                <a:cs typeface="Trebuchet MS"/>
              </a:rPr>
              <a:t>by </a:t>
            </a:r>
            <a:r>
              <a:rPr lang="en-US" sz="1800" dirty="0">
                <a:solidFill>
                  <a:schemeClr val="bg1"/>
                </a:solidFill>
                <a:cs typeface="Trebuchet MS"/>
              </a:rPr>
              <a:t>including </a:t>
            </a:r>
            <a:r>
              <a:rPr lang="en-US" sz="1800" b="1" dirty="0">
                <a:solidFill>
                  <a:schemeClr val="bg1"/>
                </a:solidFill>
                <a:cs typeface="Trebuchet MS"/>
              </a:rPr>
              <a:t>hypermedia</a:t>
            </a:r>
            <a:r>
              <a:rPr lang="en-US" sz="1800" dirty="0">
                <a:solidFill>
                  <a:schemeClr val="bg1"/>
                </a:solidFill>
                <a:cs typeface="Trebuchet MS"/>
              </a:rPr>
              <a:t> </a:t>
            </a:r>
            <a:r>
              <a:rPr lang="en-US" sz="1800" b="1" dirty="0">
                <a:solidFill>
                  <a:schemeClr val="bg1"/>
                </a:solidFill>
                <a:cs typeface="Trebuchet MS"/>
              </a:rPr>
              <a:t>links</a:t>
            </a:r>
            <a:r>
              <a:rPr lang="en-US" sz="1800" dirty="0">
                <a:solidFill>
                  <a:schemeClr val="bg1"/>
                </a:solidFill>
                <a:cs typeface="Trebuchet MS"/>
              </a:rPr>
              <a:t> with the responses</a:t>
            </a:r>
            <a:r>
              <a:rPr lang="en-US" sz="1800" dirty="0" smtClean="0">
                <a:solidFill>
                  <a:schemeClr val="bg1"/>
                </a:solidFill>
                <a:cs typeface="Trebuchet MS"/>
              </a:rPr>
              <a:t>.</a:t>
            </a:r>
            <a:endParaRPr lang="en-US" sz="1800" dirty="0">
              <a:solidFill>
                <a:schemeClr val="bg1"/>
              </a:solidFill>
              <a:cs typeface="Trebuchet M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000" y="2405932"/>
            <a:ext cx="3810000" cy="3305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b="1" dirty="0" smtClean="0">
                <a:solidFill>
                  <a:srgbClr val="002060"/>
                </a:solidFill>
                <a:latin typeface="Trebuchet MS"/>
                <a:cs typeface="Trebuchet MS"/>
              </a:rPr>
              <a:t>rooms/1</a:t>
            </a:r>
          </a:p>
          <a:p>
            <a:pPr marL="6286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444444"/>
                </a:solidFill>
                <a:latin typeface="Trebuchet MS"/>
                <a:cs typeface="Trebuchet MS"/>
              </a:rPr>
              <a:t>-</a:t>
            </a:r>
            <a:r>
              <a:rPr lang="en-US" sz="1400" b="1" dirty="0" err="1" smtClean="0">
                <a:solidFill>
                  <a:srgbClr val="444444"/>
                </a:solidFill>
                <a:latin typeface="Trebuchet MS"/>
                <a:cs typeface="Trebuchet MS"/>
              </a:rPr>
              <a:t>rel</a:t>
            </a:r>
            <a:r>
              <a:rPr lang="en-US" sz="1400" dirty="0" smtClean="0">
                <a:solidFill>
                  <a:srgbClr val="444444"/>
                </a:solidFill>
                <a:latin typeface="Trebuchet MS"/>
                <a:cs typeface="Trebuchet MS"/>
              </a:rPr>
              <a:t>: </a:t>
            </a:r>
            <a:r>
              <a:rPr lang="en-US" sz="1400" b="1" dirty="0" smtClean="0">
                <a:solidFill>
                  <a:srgbClr val="444444"/>
                </a:solidFill>
                <a:latin typeface="Trebuchet MS"/>
                <a:cs typeface="Trebuchet MS"/>
              </a:rPr>
              <a:t>door</a:t>
            </a:r>
            <a:r>
              <a:rPr lang="en-US" sz="1400" dirty="0" smtClean="0">
                <a:solidFill>
                  <a:srgbClr val="444444"/>
                </a:solidFill>
                <a:latin typeface="Trebuchet MS"/>
                <a:cs typeface="Trebuchet MS"/>
              </a:rPr>
              <a:t>,  </a:t>
            </a:r>
            <a:r>
              <a:rPr lang="en-US" sz="1400" dirty="0" err="1" smtClean="0">
                <a:solidFill>
                  <a:srgbClr val="444444"/>
                </a:solidFill>
                <a:latin typeface="Trebuchet MS"/>
                <a:cs typeface="Trebuchet MS"/>
              </a:rPr>
              <a:t>href</a:t>
            </a:r>
            <a:r>
              <a:rPr lang="en-US" sz="1400" dirty="0" smtClean="0">
                <a:solidFill>
                  <a:srgbClr val="444444"/>
                </a:solidFill>
                <a:latin typeface="Trebuchet MS"/>
                <a:cs typeface="Trebuchet MS"/>
              </a:rPr>
              <a:t>: /who/cares/door</a:t>
            </a:r>
          </a:p>
          <a:p>
            <a:pPr marL="6286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44444"/>
                </a:solidFill>
                <a:cs typeface="Trebuchet MS"/>
              </a:rPr>
              <a:t>-</a:t>
            </a:r>
            <a:r>
              <a:rPr lang="en-US" sz="1400" b="1" dirty="0" err="1">
                <a:solidFill>
                  <a:srgbClr val="444444"/>
                </a:solidFill>
                <a:cs typeface="Trebuchet MS"/>
              </a:rPr>
              <a:t>rel</a:t>
            </a:r>
            <a:r>
              <a:rPr lang="en-US" sz="1400" dirty="0">
                <a:solidFill>
                  <a:srgbClr val="444444"/>
                </a:solidFill>
                <a:cs typeface="Trebuchet MS"/>
              </a:rPr>
              <a:t>: </a:t>
            </a:r>
            <a:r>
              <a:rPr lang="en-US" sz="1400" b="1" dirty="0">
                <a:solidFill>
                  <a:srgbClr val="444444"/>
                </a:solidFill>
                <a:cs typeface="Trebuchet MS"/>
              </a:rPr>
              <a:t>door</a:t>
            </a:r>
            <a:r>
              <a:rPr lang="en-US" sz="1400" dirty="0" smtClean="0">
                <a:solidFill>
                  <a:srgbClr val="444444"/>
                </a:solidFill>
                <a:cs typeface="Trebuchet MS"/>
              </a:rPr>
              <a:t>,  </a:t>
            </a:r>
            <a:r>
              <a:rPr lang="en-US" sz="1400" dirty="0" err="1">
                <a:solidFill>
                  <a:srgbClr val="444444"/>
                </a:solidFill>
                <a:cs typeface="Trebuchet MS"/>
              </a:rPr>
              <a:t>href</a:t>
            </a:r>
            <a:r>
              <a:rPr lang="en-US" sz="1400" dirty="0">
                <a:solidFill>
                  <a:srgbClr val="444444"/>
                </a:solidFill>
                <a:cs typeface="Trebuchet MS"/>
              </a:rPr>
              <a:t>: </a:t>
            </a:r>
            <a:r>
              <a:rPr lang="en-US" sz="1400" dirty="0" smtClean="0">
                <a:solidFill>
                  <a:srgbClr val="444444"/>
                </a:solidFill>
                <a:cs typeface="Trebuchet MS"/>
              </a:rPr>
              <a:t>/another/door</a:t>
            </a:r>
          </a:p>
          <a:p>
            <a:pPr marL="6286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rgbClr val="444444"/>
              </a:solidFill>
              <a:cs typeface="Trebuchet MS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b="1" dirty="0" smtClean="0">
                <a:solidFill>
                  <a:srgbClr val="002060"/>
                </a:solidFill>
                <a:cs typeface="Trebuchet MS"/>
              </a:rPr>
              <a:t>/who/cares/door</a:t>
            </a:r>
          </a:p>
          <a:p>
            <a:pPr marL="6286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44444"/>
                </a:solidFill>
                <a:cs typeface="Trebuchet MS"/>
              </a:rPr>
              <a:t>-</a:t>
            </a:r>
            <a:r>
              <a:rPr lang="en-US" sz="1400" b="1" dirty="0" err="1">
                <a:solidFill>
                  <a:srgbClr val="444444"/>
                </a:solidFill>
                <a:cs typeface="Trebuchet MS"/>
              </a:rPr>
              <a:t>rel</a:t>
            </a:r>
            <a:r>
              <a:rPr lang="en-US" sz="1400" dirty="0">
                <a:solidFill>
                  <a:srgbClr val="444444"/>
                </a:solidFill>
                <a:cs typeface="Trebuchet MS"/>
              </a:rPr>
              <a:t>: </a:t>
            </a:r>
            <a:r>
              <a:rPr lang="en-US" sz="1400" b="1" dirty="0" smtClean="0">
                <a:solidFill>
                  <a:srgbClr val="444444"/>
                </a:solidFill>
                <a:cs typeface="Trebuchet MS"/>
              </a:rPr>
              <a:t>entry-to</a:t>
            </a:r>
            <a:r>
              <a:rPr lang="en-US" sz="1400" dirty="0" smtClean="0">
                <a:solidFill>
                  <a:srgbClr val="444444"/>
                </a:solidFill>
                <a:cs typeface="Trebuchet MS"/>
              </a:rPr>
              <a:t>, </a:t>
            </a:r>
            <a:r>
              <a:rPr lang="en-US" sz="1400" dirty="0" err="1">
                <a:solidFill>
                  <a:srgbClr val="444444"/>
                </a:solidFill>
                <a:cs typeface="Trebuchet MS"/>
              </a:rPr>
              <a:t>href</a:t>
            </a:r>
            <a:r>
              <a:rPr lang="en-US" sz="1400" dirty="0">
                <a:solidFill>
                  <a:srgbClr val="444444"/>
                </a:solidFill>
                <a:cs typeface="Trebuchet MS"/>
              </a:rPr>
              <a:t>: </a:t>
            </a:r>
            <a:r>
              <a:rPr lang="en-US" sz="1400" dirty="0" smtClean="0">
                <a:solidFill>
                  <a:srgbClr val="444444"/>
                </a:solidFill>
                <a:cs typeface="Trebuchet MS"/>
              </a:rPr>
              <a:t>/rooms/1</a:t>
            </a:r>
            <a:endParaRPr lang="en-US" sz="1400" dirty="0">
              <a:solidFill>
                <a:srgbClr val="444444"/>
              </a:solidFill>
              <a:cs typeface="Trebuchet MS"/>
            </a:endParaRPr>
          </a:p>
          <a:p>
            <a:pPr marL="6286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44444"/>
                </a:solidFill>
                <a:cs typeface="Trebuchet MS"/>
              </a:rPr>
              <a:t>-</a:t>
            </a:r>
            <a:r>
              <a:rPr lang="en-US" sz="1400" b="1" dirty="0" err="1">
                <a:solidFill>
                  <a:srgbClr val="444444"/>
                </a:solidFill>
                <a:cs typeface="Trebuchet MS"/>
              </a:rPr>
              <a:t>rel</a:t>
            </a:r>
            <a:r>
              <a:rPr lang="en-US" sz="1400" dirty="0">
                <a:solidFill>
                  <a:srgbClr val="444444"/>
                </a:solidFill>
                <a:cs typeface="Trebuchet MS"/>
              </a:rPr>
              <a:t>: </a:t>
            </a:r>
            <a:r>
              <a:rPr lang="en-US" sz="1400" b="1" dirty="0">
                <a:solidFill>
                  <a:srgbClr val="444444"/>
                </a:solidFill>
                <a:cs typeface="Trebuchet MS"/>
              </a:rPr>
              <a:t>entry-to</a:t>
            </a:r>
            <a:r>
              <a:rPr lang="en-US" sz="1400" dirty="0" smtClean="0">
                <a:solidFill>
                  <a:srgbClr val="444444"/>
                </a:solidFill>
                <a:cs typeface="Trebuchet MS"/>
              </a:rPr>
              <a:t>, </a:t>
            </a:r>
            <a:r>
              <a:rPr lang="en-US" sz="1400" dirty="0" err="1">
                <a:solidFill>
                  <a:srgbClr val="444444"/>
                </a:solidFill>
                <a:cs typeface="Trebuchet MS"/>
              </a:rPr>
              <a:t>href</a:t>
            </a:r>
            <a:r>
              <a:rPr lang="en-US" sz="1400" dirty="0">
                <a:solidFill>
                  <a:srgbClr val="444444"/>
                </a:solidFill>
                <a:cs typeface="Trebuchet MS"/>
              </a:rPr>
              <a:t>: </a:t>
            </a:r>
            <a:r>
              <a:rPr lang="en-US" sz="1400" dirty="0" smtClean="0">
                <a:solidFill>
                  <a:srgbClr val="444444"/>
                </a:solidFill>
                <a:cs typeface="Trebuchet MS"/>
              </a:rPr>
              <a:t>/hallways/1</a:t>
            </a:r>
          </a:p>
          <a:p>
            <a:pPr marL="6286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444444"/>
              </a:solidFill>
              <a:cs typeface="Trebuchet MS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b="1" dirty="0" smtClean="0">
                <a:solidFill>
                  <a:srgbClr val="002060"/>
                </a:solidFill>
                <a:cs typeface="Trebuchet MS"/>
              </a:rPr>
              <a:t>/hallways/1</a:t>
            </a:r>
          </a:p>
          <a:p>
            <a:pPr marL="6286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44444"/>
                </a:solidFill>
                <a:cs typeface="Trebuchet MS"/>
              </a:rPr>
              <a:t>-</a:t>
            </a:r>
            <a:r>
              <a:rPr lang="en-US" sz="1400" b="1" dirty="0" err="1">
                <a:solidFill>
                  <a:srgbClr val="444444"/>
                </a:solidFill>
                <a:cs typeface="Trebuchet MS"/>
              </a:rPr>
              <a:t>rel</a:t>
            </a:r>
            <a:r>
              <a:rPr lang="en-US" sz="1400" dirty="0">
                <a:solidFill>
                  <a:srgbClr val="444444"/>
                </a:solidFill>
                <a:cs typeface="Trebuchet MS"/>
              </a:rPr>
              <a:t>: </a:t>
            </a:r>
            <a:r>
              <a:rPr lang="en-US" sz="1400" b="1" dirty="0" smtClean="0">
                <a:solidFill>
                  <a:srgbClr val="444444"/>
                </a:solidFill>
                <a:cs typeface="Trebuchet MS"/>
              </a:rPr>
              <a:t>floor</a:t>
            </a:r>
            <a:r>
              <a:rPr lang="en-US" sz="1400" dirty="0" smtClean="0">
                <a:solidFill>
                  <a:srgbClr val="444444"/>
                </a:solidFill>
                <a:cs typeface="Trebuchet MS"/>
              </a:rPr>
              <a:t>, </a:t>
            </a:r>
            <a:r>
              <a:rPr lang="en-US" sz="1400" dirty="0" err="1">
                <a:solidFill>
                  <a:srgbClr val="444444"/>
                </a:solidFill>
                <a:cs typeface="Trebuchet MS"/>
              </a:rPr>
              <a:t>href</a:t>
            </a:r>
            <a:r>
              <a:rPr lang="en-US" sz="1400" dirty="0">
                <a:solidFill>
                  <a:srgbClr val="444444"/>
                </a:solidFill>
                <a:cs typeface="Trebuchet MS"/>
              </a:rPr>
              <a:t>: </a:t>
            </a:r>
            <a:r>
              <a:rPr lang="en-US" sz="1400" dirty="0" smtClean="0">
                <a:solidFill>
                  <a:srgbClr val="444444"/>
                </a:solidFill>
                <a:cs typeface="Trebuchet MS"/>
              </a:rPr>
              <a:t>/floors/1</a:t>
            </a:r>
            <a:endParaRPr lang="en-US" sz="1400" dirty="0">
              <a:solidFill>
                <a:srgbClr val="444444"/>
              </a:solidFill>
              <a:cs typeface="Trebuchet MS"/>
            </a:endParaRPr>
          </a:p>
          <a:p>
            <a:pPr marL="6286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444444"/>
              </a:solidFill>
              <a:cs typeface="Trebuchet MS"/>
            </a:endParaRPr>
          </a:p>
          <a:p>
            <a:pPr marL="6286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203478466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 smtClean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REST/ Relations format</a:t>
            </a:r>
            <a:endParaRPr lang="en-US" dirty="0">
              <a:solidFill>
                <a:srgbClr val="39C2D7"/>
              </a:solidFill>
              <a:effectLst>
                <a:outerShdw blurRad="50800" dist="38100" dir="5400000" algn="ctr" rotWithShape="0">
                  <a:schemeClr val="tx1">
                    <a:lumMod val="75000"/>
                  </a:scheme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8965" y="754705"/>
            <a:ext cx="3818965" cy="394660"/>
          </a:xfrm>
          <a:prstGeom prst="rect">
            <a:avLst/>
          </a:prstGeom>
          <a:solidFill>
            <a:srgbClr val="A3C644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800" b="1" dirty="0" smtClean="0">
                <a:solidFill>
                  <a:schemeClr val="bg1"/>
                </a:solidFill>
                <a:latin typeface="Trebuchet MS"/>
                <a:cs typeface="Trebuchet MS"/>
              </a:rPr>
              <a:t>HUL - </a:t>
            </a:r>
            <a:r>
              <a:rPr lang="en-US" sz="1800" dirty="0" smtClean="0">
                <a:solidFill>
                  <a:schemeClr val="bg1"/>
                </a:solidFill>
                <a:latin typeface="Trebuchet MS"/>
                <a:cs typeface="Trebuchet MS"/>
              </a:rPr>
              <a:t>application/</a:t>
            </a:r>
            <a:r>
              <a:rPr lang="en-US" sz="1800" dirty="0" err="1" smtClean="0">
                <a:solidFill>
                  <a:schemeClr val="bg1"/>
                </a:solidFill>
                <a:latin typeface="Trebuchet MS"/>
                <a:cs typeface="Trebuchet MS"/>
              </a:rPr>
              <a:t>hal+json</a:t>
            </a:r>
            <a:endParaRPr lang="en-US" sz="18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05400" y="754705"/>
            <a:ext cx="4038600" cy="424732"/>
          </a:xfrm>
          <a:prstGeom prst="rect">
            <a:avLst/>
          </a:prstGeom>
          <a:solidFill>
            <a:srgbClr val="A3C644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1800" b="1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lang="en-US" dirty="0"/>
              <a:t>application/</a:t>
            </a:r>
            <a:r>
              <a:rPr lang="en-US" dirty="0" err="1"/>
              <a:t>vnd.siren+json</a:t>
            </a:r>
            <a:r>
              <a:rPr lang="en-US" dirty="0"/>
              <a:t> - SIREN</a:t>
            </a:r>
          </a:p>
        </p:txBody>
      </p:sp>
      <p:sp>
        <p:nvSpPr>
          <p:cNvPr id="10" name="Прямокутник 9"/>
          <p:cNvSpPr/>
          <p:nvPr/>
        </p:nvSpPr>
        <p:spPr>
          <a:xfrm>
            <a:off x="-8965" y="1286064"/>
            <a:ext cx="4428566" cy="51706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"_links":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"curies": [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"name": 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fx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"https://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api.exmpl.com/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rels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/{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}",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templated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true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],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"self":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"https://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api.exmpl.com/stores/2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"title": "This Store"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fx:attributes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"https://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api.exmpl.com/stores/2/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attrs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"title": "Attributes for This Store"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},</a:t>
            </a:r>
          </a:p>
          <a:p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fx:templates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"https://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api.exmpl.com/stores/2/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tmplts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"title": "Checkout Templates for This Store"</a:t>
            </a:r>
          </a:p>
          <a:p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store_name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": "Example Store",</a:t>
            </a:r>
          </a:p>
          <a:p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store_domain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": "example",</a:t>
            </a:r>
          </a:p>
          <a:p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use_remote_domain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": false,</a:t>
            </a:r>
          </a:p>
          <a:p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store_url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": "https://example.com/catalog",</a:t>
            </a:r>
          </a:p>
          <a:p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store_email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": "someone@example.com",</a:t>
            </a:r>
          </a:p>
          <a:p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Прямокутник 11"/>
          <p:cNvSpPr/>
          <p:nvPr/>
        </p:nvSpPr>
        <p:spPr>
          <a:xfrm>
            <a:off x="4419600" y="1286064"/>
            <a:ext cx="4724400" cy="51706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"class": [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"store"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],</a:t>
            </a:r>
          </a:p>
          <a:p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links": [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["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"],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"https://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api.exmpl.com/stores/2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["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api.exmpl.com/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rels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attrs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"],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"https://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api.exmplt.com/stores/2/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["https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://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api.exmpl.com/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rels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svs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"],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" 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https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://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api.exmpl.com/svs/100 </a:t>
            </a:r>
          </a:p>
          <a:p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},</a:t>
            </a:r>
          </a:p>
          <a:p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https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://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api.exmpl.com/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rels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tmplts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api.exmpl.com/stores/2/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tmplts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],</a:t>
            </a:r>
          </a:p>
          <a:p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"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properties":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store_name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"Example Store",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store_domain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"example",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use_remote_domain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false,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store_url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"https://example.com/catalog",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store_email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"someone@example.com",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},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81968694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 animBg="1"/>
      <p:bldP spid="7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 smtClean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QUESTIONS?</a:t>
            </a:r>
            <a:endParaRPr lang="en-US" dirty="0">
              <a:solidFill>
                <a:srgbClr val="39C2D7"/>
              </a:solidFill>
              <a:effectLst>
                <a:outerShdw blurRad="50800" dist="38100" dir="5400000" algn="ctr" rotWithShape="0">
                  <a:schemeClr val="tx1">
                    <a:lumMod val="75000"/>
                  </a:scheme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24300" y="3124200"/>
            <a:ext cx="1295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 smtClean="0">
                <a:solidFill>
                  <a:srgbClr val="444444"/>
                </a:solidFill>
                <a:latin typeface="Trebuchet MS"/>
                <a:cs typeface="Trebuchet MS"/>
              </a:rPr>
              <a:t>…oh come on!</a:t>
            </a: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  <p:pic>
        <p:nvPicPr>
          <p:cNvPr id="3074" name="Picture 2" descr="https://cinemaxplorer.files.wordpress.com/2015/02/balrog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600" y="0"/>
            <a:ext cx="1013804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143000" y="1981200"/>
            <a:ext cx="2022058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400" b="1" dirty="0" smtClean="0">
                <a:solidFill>
                  <a:schemeClr val="bg1"/>
                </a:solidFill>
                <a:latin typeface="Trebuchet MS"/>
                <a:cs typeface="Trebuchet MS"/>
              </a:rPr>
              <a:t>SOAP</a:t>
            </a:r>
            <a:endParaRPr lang="en-US" sz="1800" b="1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48400" y="5715000"/>
            <a:ext cx="1524000" cy="831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400" b="1" dirty="0" smtClean="0">
                <a:solidFill>
                  <a:schemeClr val="bg1"/>
                </a:solidFill>
                <a:latin typeface="Trebuchet MS"/>
                <a:cs typeface="Trebuchet MS"/>
              </a:rPr>
              <a:t>REST</a:t>
            </a:r>
            <a:endParaRPr lang="en-US" sz="4400" b="1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7" name="Округлена прямокутна виноска 6"/>
          <p:cNvSpPr/>
          <p:nvPr/>
        </p:nvSpPr>
        <p:spPr>
          <a:xfrm>
            <a:off x="6629400" y="3200400"/>
            <a:ext cx="2514600" cy="609600"/>
          </a:xfrm>
          <a:prstGeom prst="wedgeRoundRectCallout">
            <a:avLst>
              <a:gd name="adj1" fmla="val -34704"/>
              <a:gd name="adj2" fmla="val 128675"/>
              <a:gd name="adj3" fmla="val 16667"/>
            </a:avLst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YOU SHALL NOT PASS!!!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74353458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REST or not to REST?</a:t>
            </a:r>
            <a:endParaRPr lang="en-US" dirty="0">
              <a:solidFill>
                <a:srgbClr val="39C2D7"/>
              </a:solidFill>
              <a:effectLst>
                <a:outerShdw blurRad="50800" dist="38100" dir="5400000" algn="ctr" rotWithShape="0">
                  <a:schemeClr val="tx1">
                    <a:lumMod val="75000"/>
                  </a:schemeClr>
                </a:outerShdw>
              </a:effectLst>
            </a:endParaRPr>
          </a:p>
        </p:txBody>
      </p:sp>
      <p:grpSp>
        <p:nvGrpSpPr>
          <p:cNvPr id="10" name="Групувати 9"/>
          <p:cNvGrpSpPr/>
          <p:nvPr/>
        </p:nvGrpSpPr>
        <p:grpSpPr>
          <a:xfrm>
            <a:off x="0" y="1361492"/>
            <a:ext cx="7772400" cy="1905000"/>
            <a:chOff x="683558" y="1280534"/>
            <a:chExt cx="7546042" cy="1517731"/>
          </a:xfrm>
          <a:solidFill>
            <a:srgbClr val="8EAD35"/>
          </a:solidFill>
        </p:grpSpPr>
        <p:sp>
          <p:nvSpPr>
            <p:cNvPr id="4" name="TextBox 3"/>
            <p:cNvSpPr txBox="1"/>
            <p:nvPr/>
          </p:nvSpPr>
          <p:spPr>
            <a:xfrm>
              <a:off x="685800" y="1280534"/>
              <a:ext cx="7543800" cy="6832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dirty="0" smtClean="0">
                  <a:solidFill>
                    <a:schemeClr val="bg1"/>
                  </a:solidFill>
                </a:rPr>
                <a:t>  It is </a:t>
              </a:r>
              <a:r>
                <a:rPr lang="en-US" sz="1600" dirty="0">
                  <a:solidFill>
                    <a:schemeClr val="bg1"/>
                  </a:solidFill>
                </a:rPr>
                <a:t>focused on accessing named resources </a:t>
              </a:r>
              <a:r>
                <a:rPr lang="en-US" sz="1600" dirty="0" smtClean="0">
                  <a:solidFill>
                    <a:schemeClr val="bg1"/>
                  </a:solidFill>
                </a:rPr>
                <a:t>through </a:t>
              </a:r>
              <a:r>
                <a:rPr lang="en-US" sz="1600" dirty="0">
                  <a:solidFill>
                    <a:schemeClr val="bg1"/>
                  </a:solidFill>
                </a:rPr>
                <a:t>a single consistent interface</a:t>
              </a:r>
              <a:endParaRPr lang="en-US" sz="1600" dirty="0">
                <a:solidFill>
                  <a:schemeClr val="bg1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685800" y="1668332"/>
              <a:ext cx="7543800" cy="38779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20000"/>
                </a:lnSpc>
                <a:defRPr sz="1600">
                  <a:solidFill>
                    <a:schemeClr val="bg1"/>
                  </a:solidFill>
                </a:defRPr>
              </a:lvl1pPr>
            </a:lstStyle>
            <a:p>
              <a:r>
                <a:rPr lang="en-US" dirty="0" smtClean="0"/>
                <a:t>  it </a:t>
              </a:r>
              <a:r>
                <a:rPr lang="en-US" dirty="0"/>
                <a:t>is much simpler in just about ever way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3558" y="2056130"/>
              <a:ext cx="7546042" cy="38779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20000"/>
                </a:lnSpc>
                <a:defRPr sz="1600">
                  <a:solidFill>
                    <a:schemeClr val="bg1"/>
                  </a:solidFill>
                </a:defRPr>
              </a:lvl1pPr>
            </a:lstStyle>
            <a:p>
              <a:r>
                <a:rPr lang="en-US" dirty="0" smtClean="0"/>
                <a:t>  It </a:t>
              </a:r>
              <a:r>
                <a:rPr lang="en-US" dirty="0"/>
                <a:t>permits many different data formats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83558" y="2410467"/>
              <a:ext cx="7546041" cy="38779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20000"/>
                </a:lnSpc>
                <a:defRPr sz="1600">
                  <a:solidFill>
                    <a:schemeClr val="bg1"/>
                  </a:solidFill>
                </a:defRPr>
              </a:lvl1pPr>
            </a:lstStyle>
            <a:p>
              <a:r>
                <a:rPr lang="en-US" dirty="0" smtClean="0"/>
                <a:t>  It </a:t>
              </a:r>
              <a:r>
                <a:rPr lang="en-US" dirty="0"/>
                <a:t>has better performance and scalability</a:t>
              </a:r>
            </a:p>
          </p:txBody>
        </p:sp>
      </p:grpSp>
      <p:grpSp>
        <p:nvGrpSpPr>
          <p:cNvPr id="13" name="Групувати 12"/>
          <p:cNvGrpSpPr/>
          <p:nvPr/>
        </p:nvGrpSpPr>
        <p:grpSpPr>
          <a:xfrm>
            <a:off x="1295400" y="3981873"/>
            <a:ext cx="7848600" cy="1735205"/>
            <a:chOff x="1219200" y="4380644"/>
            <a:chExt cx="7924800" cy="1490695"/>
          </a:xfrm>
          <a:solidFill>
            <a:srgbClr val="A1233E"/>
          </a:solidFill>
        </p:grpSpPr>
        <p:grpSp>
          <p:nvGrpSpPr>
            <p:cNvPr id="11" name="Групувати 10"/>
            <p:cNvGrpSpPr/>
            <p:nvPr/>
          </p:nvGrpSpPr>
          <p:grpSpPr>
            <a:xfrm>
              <a:off x="1219200" y="4380644"/>
              <a:ext cx="7924800" cy="1282782"/>
              <a:chOff x="457200" y="5150450"/>
              <a:chExt cx="7924800" cy="753913"/>
            </a:xfrm>
            <a:grpFill/>
          </p:grpSpPr>
          <p:sp>
            <p:nvSpPr>
              <p:cNvPr id="8" name="TextBox 7"/>
              <p:cNvSpPr txBox="1"/>
              <p:nvPr/>
            </p:nvSpPr>
            <p:spPr>
              <a:xfrm>
                <a:off x="457200" y="5410202"/>
                <a:ext cx="7924800" cy="49416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600" dirty="0" smtClean="0">
                    <a:solidFill>
                      <a:schemeClr val="bg1"/>
                    </a:solidFill>
                    <a:cs typeface="Trebuchet MS"/>
                  </a:rPr>
                  <a:t>  It doesn’t </a:t>
                </a:r>
                <a:r>
                  <a:rPr lang="en-US" sz="1600" dirty="0">
                    <a:solidFill>
                      <a:schemeClr val="bg1"/>
                    </a:solidFill>
                    <a:cs typeface="Trebuchet MS"/>
                  </a:rPr>
                  <a:t>have a standard messaging system </a:t>
                </a:r>
                <a:r>
                  <a:rPr lang="en-US" sz="1600" dirty="0" smtClean="0">
                    <a:solidFill>
                      <a:schemeClr val="bg1"/>
                    </a:solidFill>
                    <a:cs typeface="Trebuchet MS"/>
                  </a:rPr>
                  <a:t>and expects clients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1600" dirty="0">
                    <a:solidFill>
                      <a:schemeClr val="bg1"/>
                    </a:solidFill>
                    <a:cs typeface="Trebuchet MS"/>
                  </a:rPr>
                  <a:t> </a:t>
                </a:r>
                <a:r>
                  <a:rPr lang="en-US" sz="1600" dirty="0" smtClean="0">
                    <a:solidFill>
                      <a:schemeClr val="bg1"/>
                    </a:solidFill>
                    <a:cs typeface="Trebuchet MS"/>
                  </a:rPr>
                  <a:t> to deal with failures by retrying</a:t>
                </a:r>
              </a:p>
              <a:p>
                <a:pPr>
                  <a:lnSpc>
                    <a:spcPct val="120000"/>
                  </a:lnSpc>
                </a:pPr>
                <a:endParaRPr lang="en-US" sz="1600" dirty="0">
                  <a:solidFill>
                    <a:schemeClr val="bg1"/>
                  </a:solidFill>
                  <a:latin typeface="Trebuchet MS"/>
                  <a:cs typeface="Trebuchet MS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457200" y="5150450"/>
                <a:ext cx="7924800" cy="28164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120000"/>
                  </a:lnSpc>
                  <a:defRPr sz="1600">
                    <a:solidFill>
                      <a:schemeClr val="bg1"/>
                    </a:solidFill>
                    <a:cs typeface="Trebuchet MS"/>
                  </a:defRPr>
                </a:lvl1pPr>
              </a:lstStyle>
              <a:p>
                <a:r>
                  <a:rPr lang="en-US" dirty="0" smtClean="0"/>
                  <a:t>  It is limited by HTTP</a:t>
                </a:r>
                <a:endParaRPr lang="en-US" dirty="0"/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1219200" y="5510278"/>
              <a:ext cx="7924800" cy="36106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20000"/>
                </a:lnSpc>
                <a:defRPr sz="1600">
                  <a:solidFill>
                    <a:schemeClr val="bg1"/>
                  </a:solidFill>
                  <a:cs typeface="Trebuchet MS"/>
                </a:defRPr>
              </a:lvl1pPr>
            </a:lstStyle>
            <a:p>
              <a:r>
                <a:rPr lang="en-US" dirty="0" smtClean="0"/>
                <a:t>  It might not be enough</a:t>
              </a:r>
              <a:endParaRPr lang="en-US" dirty="0"/>
            </a:p>
          </p:txBody>
        </p:sp>
      </p:grpSp>
      <p:sp>
        <p:nvSpPr>
          <p:cNvPr id="14" name="Знак заборони 13"/>
          <p:cNvSpPr/>
          <p:nvPr/>
        </p:nvSpPr>
        <p:spPr>
          <a:xfrm>
            <a:off x="228600" y="4424484"/>
            <a:ext cx="838200" cy="844603"/>
          </a:xfrm>
          <a:prstGeom prst="noSmoking">
            <a:avLst/>
          </a:prstGeom>
          <a:solidFill>
            <a:srgbClr val="B22746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Усміхнене обличчя 14"/>
          <p:cNvSpPr/>
          <p:nvPr/>
        </p:nvSpPr>
        <p:spPr>
          <a:xfrm>
            <a:off x="8001000" y="1896640"/>
            <a:ext cx="914400" cy="876704"/>
          </a:xfrm>
          <a:prstGeom prst="smileyFace">
            <a:avLst/>
          </a:prstGeom>
          <a:solidFill>
            <a:srgbClr val="A3C644"/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975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50">
        <p:push dir="u"/>
      </p:transition>
    </mc:Choice>
    <mc:Fallback xmlns=""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 smtClean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QUESTIONS?</a:t>
            </a:r>
            <a:endParaRPr lang="en-US" dirty="0">
              <a:solidFill>
                <a:srgbClr val="39C2D7"/>
              </a:solidFill>
              <a:effectLst>
                <a:outerShdw blurRad="50800" dist="38100" dir="5400000" algn="ctr" rotWithShape="0">
                  <a:schemeClr val="tx1">
                    <a:lumMod val="75000"/>
                  </a:scheme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29050" y="3124200"/>
            <a:ext cx="1485900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 smtClean="0">
                <a:solidFill>
                  <a:srgbClr val="444444"/>
                </a:solidFill>
                <a:latin typeface="Trebuchet MS"/>
                <a:cs typeface="Trebuchet MS"/>
              </a:rPr>
              <a:t>…oh come on!</a:t>
            </a:r>
            <a:endParaRPr lang="en-US" sz="1400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145694107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кутник 5"/>
          <p:cNvSpPr/>
          <p:nvPr/>
        </p:nvSpPr>
        <p:spPr>
          <a:xfrm>
            <a:off x="0" y="6553200"/>
            <a:ext cx="9151460" cy="30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10" y="228600"/>
            <a:ext cx="4947920" cy="63981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76800" y="1219200"/>
            <a:ext cx="3276600" cy="411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400" b="1" dirty="0" smtClean="0">
                <a:solidFill>
                  <a:schemeClr val="bg1"/>
                </a:solidFill>
                <a:latin typeface="Trebuchet MS"/>
                <a:cs typeface="Trebuchet MS"/>
              </a:rPr>
              <a:t>REST</a:t>
            </a:r>
          </a:p>
          <a:p>
            <a:pPr>
              <a:lnSpc>
                <a:spcPct val="120000"/>
              </a:lnSpc>
            </a:pPr>
            <a:r>
              <a:rPr lang="en-US" sz="5400" b="1" dirty="0" smtClean="0">
                <a:solidFill>
                  <a:schemeClr val="bg1"/>
                </a:solidFill>
                <a:latin typeface="Trebuchet MS"/>
                <a:cs typeface="Trebuchet MS"/>
              </a:rPr>
              <a:t>is Strong with</a:t>
            </a:r>
          </a:p>
          <a:p>
            <a:pPr>
              <a:lnSpc>
                <a:spcPct val="120000"/>
              </a:lnSpc>
            </a:pPr>
            <a:r>
              <a:rPr lang="en-US" sz="5400" b="1" dirty="0">
                <a:solidFill>
                  <a:schemeClr val="bg1"/>
                </a:solidFill>
                <a:latin typeface="Trebuchet MS"/>
                <a:cs typeface="Trebuchet MS"/>
              </a:rPr>
              <a:t>t</a:t>
            </a:r>
            <a:r>
              <a:rPr lang="en-US" sz="5400" b="1" dirty="0" smtClean="0">
                <a:solidFill>
                  <a:schemeClr val="bg1"/>
                </a:solidFill>
                <a:latin typeface="Trebuchet MS"/>
                <a:cs typeface="Trebuchet MS"/>
              </a:rPr>
              <a:t>his one!</a:t>
            </a:r>
            <a:endParaRPr lang="en-US" sz="5400" b="1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50243689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Content Slides">
  <a:themeElements>
    <a:clrScheme name="EPAM">
      <a:dk1>
        <a:srgbClr val="464547"/>
      </a:dk1>
      <a:lt1>
        <a:sysClr val="window" lastClr="FFFFFF"/>
      </a:lt1>
      <a:dk2>
        <a:srgbClr val="666666"/>
      </a:dk2>
      <a:lt2>
        <a:srgbClr val="999999"/>
      </a:lt2>
      <a:accent1>
        <a:srgbClr val="CCCCCC"/>
      </a:accent1>
      <a:accent2>
        <a:srgbClr val="39C2D7"/>
      </a:accent2>
      <a:accent3>
        <a:srgbClr val="1A9CB0"/>
      </a:accent3>
      <a:accent4>
        <a:srgbClr val="A3C644"/>
      </a:accent4>
      <a:accent5>
        <a:srgbClr val="7F993A"/>
      </a:accent5>
      <a:accent6>
        <a:srgbClr val="B22746"/>
      </a:accent6>
      <a:hlink>
        <a:srgbClr val="FFFFFF"/>
      </a:hlink>
      <a:folHlink>
        <a:srgbClr val="FFFFFF"/>
      </a:folHlink>
    </a:clrScheme>
    <a:fontScheme name="Slipstream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dirty="0" err="1">
            <a:solidFill>
              <a:srgbClr val="444444"/>
            </a:solidFill>
            <a:latin typeface="Trebuchet MS"/>
            <a:cs typeface="Trebuchet M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EPAM_PPT_CaseStudy_STANDARD_20150424</Template>
  <TotalTime>8309</TotalTime>
  <Words>1473</Words>
  <Application>Microsoft Office PowerPoint</Application>
  <PresentationFormat>Екран (4:3)</PresentationFormat>
  <Paragraphs>423</Paragraphs>
  <Slides>22</Slides>
  <Notes>22</Notes>
  <HiddenSlides>1</HiddenSlides>
  <MMClips>0</MMClips>
  <ScaleCrop>false</ScaleCrop>
  <HeadingPairs>
    <vt:vector size="6" baseType="variant">
      <vt:variant>
        <vt:lpstr>Використані шрифти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22</vt:i4>
      </vt:variant>
    </vt:vector>
  </HeadingPairs>
  <TitlesOfParts>
    <vt:vector size="29" baseType="lpstr">
      <vt:lpstr>Arial</vt:lpstr>
      <vt:lpstr>Arial Black</vt:lpstr>
      <vt:lpstr>Calibri</vt:lpstr>
      <vt:lpstr>Courier New</vt:lpstr>
      <vt:lpstr>inherit</vt:lpstr>
      <vt:lpstr>Trebuchet MS</vt:lpstr>
      <vt:lpstr>1_Content Slides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subject>&lt;Project Name&gt;</dc:subject>
  <dc:creator>TiredDude</dc:creator>
  <cp:lastModifiedBy>TiredDude</cp:lastModifiedBy>
  <cp:revision>296</cp:revision>
  <cp:lastPrinted>2011-12-05T22:59:34Z</cp:lastPrinted>
  <dcterms:created xsi:type="dcterms:W3CDTF">2016-02-06T17:30:02Z</dcterms:created>
  <dcterms:modified xsi:type="dcterms:W3CDTF">2016-05-11T21:58:30Z</dcterms:modified>
  <cp:category>Project-related Documents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ID">
    <vt:lpwstr>Project ID</vt:lpwstr>
  </property>
</Properties>
</file>