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3" r:id="rId1"/>
  </p:sldMasterIdLst>
  <p:notesMasterIdLst>
    <p:notesMasterId r:id="rId22"/>
  </p:notesMasterIdLst>
  <p:handoutMasterIdLst>
    <p:handoutMasterId r:id="rId23"/>
  </p:handoutMasterIdLst>
  <p:sldIdLst>
    <p:sldId id="377" r:id="rId2"/>
    <p:sldId id="362" r:id="rId3"/>
    <p:sldId id="378" r:id="rId4"/>
    <p:sldId id="409" r:id="rId5"/>
    <p:sldId id="382" r:id="rId6"/>
    <p:sldId id="384" r:id="rId7"/>
    <p:sldId id="410" r:id="rId8"/>
    <p:sldId id="383" r:id="rId9"/>
    <p:sldId id="411" r:id="rId10"/>
    <p:sldId id="403" r:id="rId11"/>
    <p:sldId id="402" r:id="rId12"/>
    <p:sldId id="405" r:id="rId13"/>
    <p:sldId id="399" r:id="rId14"/>
    <p:sldId id="404" r:id="rId15"/>
    <p:sldId id="385" r:id="rId16"/>
    <p:sldId id="407" r:id="rId17"/>
    <p:sldId id="386" r:id="rId18"/>
    <p:sldId id="406" r:id="rId19"/>
    <p:sldId id="401" r:id="rId20"/>
    <p:sldId id="400" r:id="rId21"/>
  </p:sldIdLst>
  <p:sldSz cx="9144000" cy="6858000" type="screen4x3"/>
  <p:notesSz cx="6858000" cy="9144000"/>
  <p:defaultTextStyle>
    <a:defPPr>
      <a:defRPr lang="en-US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ver Page Options" id="{7B6B4EC7-FC6D-4749-B97F-A2DEF9F32144}">
          <p14:sldIdLst>
            <p14:sldId id="377"/>
          </p14:sldIdLst>
        </p14:section>
        <p14:section name="Content Pages" id="{3C68DE92-C1C6-714A-8AF4-15E21920A072}">
          <p14:sldIdLst>
            <p14:sldId id="362"/>
            <p14:sldId id="378"/>
            <p14:sldId id="409"/>
            <p14:sldId id="382"/>
            <p14:sldId id="384"/>
            <p14:sldId id="410"/>
            <p14:sldId id="383"/>
            <p14:sldId id="411"/>
            <p14:sldId id="403"/>
            <p14:sldId id="402"/>
            <p14:sldId id="405"/>
            <p14:sldId id="399"/>
            <p14:sldId id="404"/>
            <p14:sldId id="385"/>
            <p14:sldId id="407"/>
            <p14:sldId id="386"/>
            <p14:sldId id="406"/>
            <p14:sldId id="401"/>
            <p14:sldId id="400"/>
          </p14:sldIdLst>
        </p14:section>
        <p14:section name="End Page" id="{2F30834D-CDFD-E940-8841-26779747EFEF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userDrawn="1">
          <p15:clr>
            <a:srgbClr val="A4A3A4"/>
          </p15:clr>
        </p15:guide>
        <p15:guide id="2" pos="5520" userDrawn="1">
          <p15:clr>
            <a:srgbClr val="A4A3A4"/>
          </p15:clr>
        </p15:guide>
        <p15:guide id="3" orient="horz" pos="384" userDrawn="1">
          <p15:clr>
            <a:srgbClr val="A4A3A4"/>
          </p15:clr>
        </p15:guide>
        <p15:guide id="4" pos="240" userDrawn="1">
          <p15:clr>
            <a:srgbClr val="A4A3A4"/>
          </p15:clr>
        </p15:guide>
        <p15:guide id="5" userDrawn="1">
          <p15:clr>
            <a:srgbClr val="A4A3A4"/>
          </p15:clr>
        </p15:guide>
        <p15:guide id="6" orient="horz" pos="432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9C2D7"/>
    <a:srgbClr val="A3C745"/>
    <a:srgbClr val="B22746"/>
    <a:srgbClr val="66FFFF"/>
    <a:srgbClr val="FFFFFF"/>
    <a:srgbClr val="000000"/>
    <a:srgbClr val="464547"/>
    <a:srgbClr val="2298AA"/>
    <a:srgbClr val="FFF8F6"/>
    <a:srgbClr val="3F727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859" autoAdjust="0"/>
    <p:restoredTop sz="96221" autoAdjust="0"/>
  </p:normalViewPr>
  <p:slideViewPr>
    <p:cSldViewPr>
      <p:cViewPr varScale="1">
        <p:scale>
          <a:sx n="77" d="100"/>
          <a:sy n="77" d="100"/>
        </p:scale>
        <p:origin x="1344" y="96"/>
      </p:cViewPr>
      <p:guideLst>
        <p:guide orient="horz"/>
        <p:guide pos="5520"/>
        <p:guide orient="horz" pos="384"/>
        <p:guide pos="240"/>
        <p:guide/>
        <p:guide orient="horz" pos="43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howGuides="1">
      <p:cViewPr varScale="1">
        <p:scale>
          <a:sx n="113" d="100"/>
          <a:sy n="113" d="100"/>
        </p:scale>
        <p:origin x="4758" y="108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9F7FF7-50CD-D74F-8521-E72DB68B670C}" type="datetimeFigureOut">
              <a:rPr lang="en-US" smtClean="0"/>
              <a:pPr/>
              <a:t>6/2/2016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46F62F-B370-7346-B33C-1C487BFE615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978081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D1DD9B-E140-4D76-B427-DF4838D859EA}" type="datetimeFigureOut">
              <a:rPr lang="en-US" smtClean="0"/>
              <a:pPr/>
              <a:t>6/2/2016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267C37-924A-4F8E-82E0-C3470BACC8B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865801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267C37-924A-4F8E-82E0-C3470BACC8B3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60685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267C37-924A-4F8E-82E0-C3470BACC8B3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55814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267C37-924A-4F8E-82E0-C3470BACC8B3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84834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267C37-924A-4F8E-82E0-C3470BACC8B3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5398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267C37-924A-4F8E-82E0-C3470BACC8B3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3430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267C37-924A-4F8E-82E0-C3470BACC8B3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296408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267C37-924A-4F8E-82E0-C3470BACC8B3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905823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267C37-924A-4F8E-82E0-C3470BACC8B3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040363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267C37-924A-4F8E-82E0-C3470BACC8B3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2269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267C37-924A-4F8E-82E0-C3470BACC8B3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598509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267C37-924A-4F8E-82E0-C3470BACC8B3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198616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267C37-924A-4F8E-82E0-C3470BACC8B3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766849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267C37-924A-4F8E-82E0-C3470BACC8B3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131430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267C37-924A-4F8E-82E0-C3470BACC8B3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53592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267C37-924A-4F8E-82E0-C3470BACC8B3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166394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267C37-924A-4F8E-82E0-C3470BACC8B3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377171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267C37-924A-4F8E-82E0-C3470BACC8B3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27001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267C37-924A-4F8E-82E0-C3470BACC8B3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198647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267C37-924A-4F8E-82E0-C3470BACC8B3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280058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267C37-924A-4F8E-82E0-C3470BACC8B3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48176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/>
          <p:cNvSpPr>
            <a:spLocks noGrp="1"/>
          </p:cNvSpPr>
          <p:nvPr>
            <p:ph type="pic" sz="quarter" idx="18" hasCustomPrompt="1"/>
          </p:nvPr>
        </p:nvSpPr>
        <p:spPr>
          <a:xfrm>
            <a:off x="0" y="0"/>
            <a:ext cx="9144000" cy="6858000"/>
          </a:xfrm>
          <a:prstGeom prst="rect">
            <a:avLst/>
          </a:prstGeom>
        </p:spPr>
        <p:txBody>
          <a:bodyPr vert="horz" lIns="68580" tIns="34290" rIns="68580" bIns="34290"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Background Image</a:t>
            </a:r>
          </a:p>
        </p:txBody>
      </p:sp>
      <p:sp>
        <p:nvSpPr>
          <p:cNvPr id="3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631825" y="2075578"/>
            <a:ext cx="6910388" cy="595035"/>
          </a:xfrm>
          <a:prstGeom prst="rect">
            <a:avLst/>
          </a:prstGeom>
        </p:spPr>
        <p:txBody>
          <a:bodyPr lIns="68580" tIns="34290" rIns="68580" bIns="34290">
            <a:sp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4100" spc="-150">
                <a:solidFill>
                  <a:schemeClr val="bg1"/>
                </a:solidFill>
                <a:latin typeface="Arial Black"/>
                <a:cs typeface="Arial Black"/>
              </a:defRPr>
            </a:lvl1pPr>
            <a:lvl2pPr>
              <a:defRPr sz="4500">
                <a:latin typeface="Arial Black"/>
                <a:cs typeface="Arial Black"/>
              </a:defRPr>
            </a:lvl2pPr>
            <a:lvl3pPr>
              <a:defRPr sz="4500">
                <a:latin typeface="Arial Black"/>
                <a:cs typeface="Arial Black"/>
              </a:defRPr>
            </a:lvl3pPr>
            <a:lvl4pPr>
              <a:defRPr sz="4500">
                <a:latin typeface="Arial Black"/>
                <a:cs typeface="Arial Black"/>
              </a:defRPr>
            </a:lvl4pPr>
            <a:lvl5pPr>
              <a:defRPr sz="4500">
                <a:latin typeface="Arial Black"/>
                <a:cs typeface="Arial Black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4" name="Text Placeholder 7"/>
          <p:cNvSpPr>
            <a:spLocks noGrp="1"/>
          </p:cNvSpPr>
          <p:nvPr>
            <p:ph type="body" sz="quarter" idx="16" hasCustomPrompt="1"/>
          </p:nvPr>
        </p:nvSpPr>
        <p:spPr>
          <a:xfrm>
            <a:off x="660401" y="4453469"/>
            <a:ext cx="6488113" cy="284693"/>
          </a:xfrm>
          <a:prstGeom prst="rect">
            <a:avLst/>
          </a:prstGeom>
        </p:spPr>
        <p:txBody>
          <a:bodyPr lIns="68580" tIns="34290" rIns="68580" bIns="3429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400">
                <a:solidFill>
                  <a:schemeClr val="bg1"/>
                </a:solidFill>
                <a:latin typeface="Arial Black"/>
                <a:cs typeface="Arial Black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5" name="Text Placeholder 11"/>
          <p:cNvSpPr>
            <a:spLocks noGrp="1"/>
          </p:cNvSpPr>
          <p:nvPr>
            <p:ph type="body" sz="quarter" idx="17" hasCustomPrompt="1"/>
          </p:nvPr>
        </p:nvSpPr>
        <p:spPr>
          <a:xfrm>
            <a:off x="660399" y="5459486"/>
            <a:ext cx="3649662" cy="373063"/>
          </a:xfrm>
          <a:prstGeom prst="rect">
            <a:avLst/>
          </a:prstGeom>
        </p:spPr>
        <p:txBody>
          <a:bodyPr lIns="68580" tIns="34290" rIns="68580" bIns="34290">
            <a:normAutofit/>
          </a:bodyPr>
          <a:lstStyle>
            <a:lvl1pPr marL="0" indent="0">
              <a:buNone/>
              <a:defRPr sz="140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MONTH DATE, YEAR</a:t>
            </a:r>
          </a:p>
        </p:txBody>
      </p:sp>
      <p:sp>
        <p:nvSpPr>
          <p:cNvPr id="12" name="Picture Placeholder 9"/>
          <p:cNvSpPr>
            <a:spLocks noGrp="1"/>
          </p:cNvSpPr>
          <p:nvPr>
            <p:ph type="pic" sz="quarter" idx="19" hasCustomPrompt="1"/>
          </p:nvPr>
        </p:nvSpPr>
        <p:spPr>
          <a:xfrm>
            <a:off x="609600" y="671513"/>
            <a:ext cx="1371600" cy="762000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/>
            </a:lvl1pPr>
          </a:lstStyle>
          <a:p>
            <a:r>
              <a:rPr lang="en-US" dirty="0"/>
              <a:t>Logo</a:t>
            </a:r>
          </a:p>
        </p:txBody>
      </p:sp>
    </p:spTree>
    <p:extLst>
      <p:ext uri="{BB962C8B-B14F-4D97-AF65-F5344CB8AC3E}">
        <p14:creationId xmlns:p14="http://schemas.microsoft.com/office/powerpoint/2010/main" val="2302279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Лише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0"/>
            <a:ext cx="9144000" cy="93268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40005" dist="25400" dir="5400000" algn="t" rotWithShape="0">
              <a:prstClr val="black">
                <a:alpha val="30000"/>
              </a:prstClr>
            </a:outerShdw>
          </a:effectLst>
        </p:spPr>
        <p:txBody>
          <a:bodyPr lIns="365760" anchor="ctr" anchorCtr="0">
            <a:normAutofit/>
          </a:bodyPr>
          <a:lstStyle>
            <a:lvl1pPr marL="0" indent="0">
              <a:buNone/>
              <a:defRPr sz="2600" baseline="0">
                <a:latin typeface="Arial Black"/>
                <a:cs typeface="Arial Black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655216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2"/>
          <p:cNvSpPr>
            <a:spLocks noGrp="1"/>
          </p:cNvSpPr>
          <p:nvPr>
            <p:ph idx="1" hasCustomPrompt="1"/>
          </p:nvPr>
        </p:nvSpPr>
        <p:spPr>
          <a:xfrm>
            <a:off x="352473" y="1223705"/>
            <a:ext cx="8337502" cy="4525963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>
              <a:defRPr sz="1200"/>
            </a:lvl2pPr>
            <a:lvl3pPr>
              <a:defRPr sz="1100"/>
            </a:lvl3pPr>
          </a:lstStyle>
          <a:p>
            <a:pPr lvl="0"/>
            <a:r>
              <a:rPr lang="en-US" dirty="0">
                <a:solidFill>
                  <a:srgbClr val="444444"/>
                </a:solidFill>
              </a:rPr>
              <a:t>Click to add text - Lorem </a:t>
            </a:r>
            <a:r>
              <a:rPr lang="en-US" dirty="0" err="1">
                <a:solidFill>
                  <a:srgbClr val="444444"/>
                </a:solidFill>
              </a:rPr>
              <a:t>ipsum</a:t>
            </a:r>
            <a:r>
              <a:rPr lang="en-US" dirty="0">
                <a:solidFill>
                  <a:srgbClr val="444444"/>
                </a:solidFill>
              </a:rPr>
              <a:t> dolor sit </a:t>
            </a:r>
            <a:r>
              <a:rPr lang="en-US" dirty="0" err="1">
                <a:solidFill>
                  <a:srgbClr val="444444"/>
                </a:solidFill>
              </a:rPr>
              <a:t>amet</a:t>
            </a:r>
            <a:r>
              <a:rPr lang="en-US" dirty="0">
                <a:solidFill>
                  <a:srgbClr val="444444"/>
                </a:solidFill>
              </a:rPr>
              <a:t>, </a:t>
            </a:r>
            <a:r>
              <a:rPr lang="en-US" dirty="0" err="1">
                <a:solidFill>
                  <a:srgbClr val="444444"/>
                </a:solidFill>
              </a:rPr>
              <a:t>consectetur</a:t>
            </a:r>
            <a:r>
              <a:rPr lang="en-US" dirty="0">
                <a:solidFill>
                  <a:srgbClr val="444444"/>
                </a:solidFill>
              </a:rPr>
              <a:t> adipiscing </a:t>
            </a:r>
            <a:r>
              <a:rPr lang="en-US" dirty="0" err="1">
                <a:solidFill>
                  <a:srgbClr val="444444"/>
                </a:solidFill>
              </a:rPr>
              <a:t>elit</a:t>
            </a:r>
            <a:r>
              <a:rPr lang="en-US" dirty="0">
                <a:solidFill>
                  <a:srgbClr val="444444"/>
                </a:solidFill>
              </a:rPr>
              <a:t>. </a:t>
            </a:r>
            <a:r>
              <a:rPr lang="en-US" dirty="0" err="1">
                <a:solidFill>
                  <a:srgbClr val="444444"/>
                </a:solidFill>
              </a:rPr>
              <a:t>Ut</a:t>
            </a:r>
            <a:r>
              <a:rPr lang="en-US" dirty="0">
                <a:solidFill>
                  <a:srgbClr val="444444"/>
                </a:solidFill>
              </a:rPr>
              <a:t> vitae </a:t>
            </a:r>
            <a:r>
              <a:rPr lang="en-US" dirty="0" err="1">
                <a:solidFill>
                  <a:srgbClr val="444444"/>
                </a:solidFill>
              </a:rPr>
              <a:t>laoreet</a:t>
            </a:r>
            <a:r>
              <a:rPr lang="en-US" dirty="0">
                <a:solidFill>
                  <a:srgbClr val="444444"/>
                </a:solidFill>
              </a:rPr>
              <a:t> </a:t>
            </a:r>
            <a:r>
              <a:rPr lang="en-US" dirty="0" err="1">
                <a:solidFill>
                  <a:srgbClr val="444444"/>
                </a:solidFill>
              </a:rPr>
              <a:t>mauris</a:t>
            </a:r>
            <a:r>
              <a:rPr lang="en-US" dirty="0">
                <a:solidFill>
                  <a:srgbClr val="444444"/>
                </a:solidFill>
              </a:rPr>
              <a:t>. </a:t>
            </a:r>
            <a:r>
              <a:rPr lang="en-US" dirty="0" err="1">
                <a:solidFill>
                  <a:srgbClr val="444444"/>
                </a:solidFill>
              </a:rPr>
              <a:t>Sed</a:t>
            </a:r>
            <a:r>
              <a:rPr lang="en-US" dirty="0">
                <a:solidFill>
                  <a:srgbClr val="444444"/>
                </a:solidFill>
              </a:rPr>
              <a:t> </a:t>
            </a:r>
            <a:r>
              <a:rPr lang="en-US" dirty="0" err="1">
                <a:solidFill>
                  <a:srgbClr val="444444"/>
                </a:solidFill>
              </a:rPr>
              <a:t>eleifend</a:t>
            </a:r>
            <a:r>
              <a:rPr lang="en-US" dirty="0">
                <a:solidFill>
                  <a:srgbClr val="444444"/>
                </a:solidFill>
              </a:rPr>
              <a:t> </a:t>
            </a:r>
            <a:r>
              <a:rPr lang="en-US" dirty="0" err="1">
                <a:solidFill>
                  <a:srgbClr val="444444"/>
                </a:solidFill>
              </a:rPr>
              <a:t>lorem</a:t>
            </a:r>
            <a:r>
              <a:rPr lang="en-US" dirty="0">
                <a:solidFill>
                  <a:srgbClr val="444444"/>
                </a:solidFill>
              </a:rPr>
              <a:t> a </a:t>
            </a:r>
            <a:r>
              <a:rPr lang="en-US" dirty="0" err="1">
                <a:solidFill>
                  <a:srgbClr val="444444"/>
                </a:solidFill>
              </a:rPr>
              <a:t>purus</a:t>
            </a:r>
            <a:r>
              <a:rPr lang="en-US" dirty="0">
                <a:solidFill>
                  <a:srgbClr val="444444"/>
                </a:solidFill>
              </a:rPr>
              <a:t> </a:t>
            </a:r>
            <a:r>
              <a:rPr lang="en-US" dirty="0" err="1">
                <a:solidFill>
                  <a:srgbClr val="444444"/>
                </a:solidFill>
              </a:rPr>
              <a:t>tincidunt</a:t>
            </a:r>
            <a:r>
              <a:rPr lang="en-US" dirty="0">
                <a:solidFill>
                  <a:srgbClr val="444444"/>
                </a:solidFill>
              </a:rPr>
              <a:t>, a </a:t>
            </a:r>
            <a:r>
              <a:rPr lang="en-US" dirty="0" err="1">
                <a:solidFill>
                  <a:srgbClr val="444444"/>
                </a:solidFill>
              </a:rPr>
              <a:t>malesuada</a:t>
            </a:r>
            <a:r>
              <a:rPr lang="en-US" dirty="0">
                <a:solidFill>
                  <a:srgbClr val="444444"/>
                </a:solidFill>
              </a:rPr>
              <a:t> </a:t>
            </a:r>
            <a:r>
              <a:rPr lang="en-US" dirty="0" err="1">
                <a:solidFill>
                  <a:srgbClr val="444444"/>
                </a:solidFill>
              </a:rPr>
              <a:t>mauris</a:t>
            </a:r>
            <a:r>
              <a:rPr lang="en-US" dirty="0">
                <a:solidFill>
                  <a:srgbClr val="444444"/>
                </a:solidFill>
              </a:rPr>
              <a:t> </a:t>
            </a:r>
            <a:r>
              <a:rPr lang="en-US" dirty="0" err="1">
                <a:solidFill>
                  <a:srgbClr val="444444"/>
                </a:solidFill>
              </a:rPr>
              <a:t>bibendum</a:t>
            </a:r>
            <a:r>
              <a:rPr lang="en-US" dirty="0">
                <a:solidFill>
                  <a:srgbClr val="444444"/>
                </a:solidFill>
              </a:rPr>
              <a:t>. </a:t>
            </a:r>
            <a:r>
              <a:rPr lang="en-US" dirty="0" err="1">
                <a:solidFill>
                  <a:srgbClr val="444444"/>
                </a:solidFill>
              </a:rPr>
              <a:t>Praesent</a:t>
            </a:r>
            <a:r>
              <a:rPr lang="en-US" dirty="0">
                <a:solidFill>
                  <a:srgbClr val="444444"/>
                </a:solidFill>
              </a:rPr>
              <a:t> </a:t>
            </a:r>
            <a:r>
              <a:rPr lang="en-US" dirty="0" err="1">
                <a:solidFill>
                  <a:srgbClr val="444444"/>
                </a:solidFill>
              </a:rPr>
              <a:t>bibendum</a:t>
            </a:r>
            <a:r>
              <a:rPr lang="en-US" dirty="0">
                <a:solidFill>
                  <a:srgbClr val="444444"/>
                </a:solidFill>
              </a:rPr>
              <a:t> </a:t>
            </a:r>
            <a:r>
              <a:rPr lang="en-US" dirty="0" err="1">
                <a:solidFill>
                  <a:srgbClr val="444444"/>
                </a:solidFill>
              </a:rPr>
              <a:t>justo</a:t>
            </a:r>
            <a:r>
              <a:rPr lang="en-US" dirty="0">
                <a:solidFill>
                  <a:srgbClr val="444444"/>
                </a:solidFill>
              </a:rPr>
              <a:t> </a:t>
            </a:r>
            <a:r>
              <a:rPr lang="en-US" dirty="0" err="1">
                <a:solidFill>
                  <a:srgbClr val="444444"/>
                </a:solidFill>
              </a:rPr>
              <a:t>nec</a:t>
            </a:r>
            <a:r>
              <a:rPr lang="en-US" dirty="0">
                <a:solidFill>
                  <a:srgbClr val="444444"/>
                </a:solidFill>
              </a:rPr>
              <a:t> </a:t>
            </a:r>
            <a:r>
              <a:rPr lang="en-US" dirty="0" err="1">
                <a:solidFill>
                  <a:srgbClr val="444444"/>
                </a:solidFill>
              </a:rPr>
              <a:t>metus</a:t>
            </a:r>
            <a:r>
              <a:rPr lang="en-US" dirty="0">
                <a:solidFill>
                  <a:srgbClr val="444444"/>
                </a:solidFill>
              </a:rPr>
              <a:t> </a:t>
            </a:r>
            <a:r>
              <a:rPr lang="en-US" dirty="0" err="1">
                <a:solidFill>
                  <a:srgbClr val="444444"/>
                </a:solidFill>
              </a:rPr>
              <a:t>auctor</a:t>
            </a:r>
            <a:r>
              <a:rPr lang="en-US" dirty="0">
                <a:solidFill>
                  <a:srgbClr val="444444"/>
                </a:solidFill>
              </a:rPr>
              <a:t> </a:t>
            </a:r>
            <a:r>
              <a:rPr lang="en-US" dirty="0" err="1">
                <a:solidFill>
                  <a:srgbClr val="444444"/>
                </a:solidFill>
              </a:rPr>
              <a:t>volutpat</a:t>
            </a:r>
            <a:r>
              <a:rPr lang="en-US" dirty="0">
                <a:solidFill>
                  <a:srgbClr val="444444"/>
                </a:solidFill>
              </a:rPr>
              <a:t>. </a:t>
            </a:r>
            <a:r>
              <a:rPr lang="en-US" dirty="0" err="1">
                <a:solidFill>
                  <a:srgbClr val="444444"/>
                </a:solidFill>
              </a:rPr>
              <a:t>Morbi</a:t>
            </a:r>
            <a:r>
              <a:rPr lang="en-US" dirty="0">
                <a:solidFill>
                  <a:srgbClr val="444444"/>
                </a:solidFill>
              </a:rPr>
              <a:t> </a:t>
            </a:r>
            <a:r>
              <a:rPr lang="en-US" dirty="0" err="1">
                <a:solidFill>
                  <a:srgbClr val="444444"/>
                </a:solidFill>
              </a:rPr>
              <a:t>malesuada</a:t>
            </a:r>
            <a:r>
              <a:rPr lang="en-US" dirty="0">
                <a:solidFill>
                  <a:srgbClr val="444444"/>
                </a:solidFill>
              </a:rPr>
              <a:t> </a:t>
            </a:r>
            <a:r>
              <a:rPr lang="en-US" dirty="0" err="1">
                <a:solidFill>
                  <a:srgbClr val="444444"/>
                </a:solidFill>
              </a:rPr>
              <a:t>mattis</a:t>
            </a:r>
            <a:r>
              <a:rPr lang="en-US" dirty="0">
                <a:solidFill>
                  <a:srgbClr val="444444"/>
                </a:solidFill>
              </a:rPr>
              <a:t> </a:t>
            </a:r>
            <a:r>
              <a:rPr lang="en-US" dirty="0" err="1">
                <a:solidFill>
                  <a:srgbClr val="444444"/>
                </a:solidFill>
              </a:rPr>
              <a:t>eros</a:t>
            </a:r>
            <a:r>
              <a:rPr lang="en-US" dirty="0">
                <a:solidFill>
                  <a:srgbClr val="444444"/>
                </a:solidFill>
              </a:rPr>
              <a:t>, </a:t>
            </a:r>
            <a:r>
              <a:rPr lang="en-US" dirty="0" err="1">
                <a:solidFill>
                  <a:srgbClr val="444444"/>
                </a:solidFill>
              </a:rPr>
              <a:t>adipiscing</a:t>
            </a:r>
            <a:r>
              <a:rPr lang="en-US" dirty="0">
                <a:solidFill>
                  <a:srgbClr val="444444"/>
                </a:solidFill>
              </a:rPr>
              <a:t> </a:t>
            </a:r>
            <a:r>
              <a:rPr lang="en-US" dirty="0" err="1">
                <a:solidFill>
                  <a:srgbClr val="444444"/>
                </a:solidFill>
              </a:rPr>
              <a:t>tempor</a:t>
            </a:r>
            <a:r>
              <a:rPr lang="en-US" dirty="0">
                <a:solidFill>
                  <a:srgbClr val="444444"/>
                </a:solidFill>
              </a:rPr>
              <a:t> </a:t>
            </a:r>
            <a:r>
              <a:rPr lang="en-US" dirty="0" err="1">
                <a:solidFill>
                  <a:srgbClr val="444444"/>
                </a:solidFill>
              </a:rPr>
              <a:t>lorem</a:t>
            </a:r>
            <a:r>
              <a:rPr lang="en-US" dirty="0">
                <a:solidFill>
                  <a:srgbClr val="444444"/>
                </a:solidFill>
              </a:rPr>
              <a:t> </a:t>
            </a:r>
            <a:r>
              <a:rPr lang="en-US" dirty="0" err="1">
                <a:solidFill>
                  <a:srgbClr val="444444"/>
                </a:solidFill>
              </a:rPr>
              <a:t>varius</a:t>
            </a:r>
            <a:r>
              <a:rPr lang="en-US" dirty="0">
                <a:solidFill>
                  <a:srgbClr val="444444"/>
                </a:solidFill>
              </a:rPr>
              <a:t> </a:t>
            </a:r>
            <a:r>
              <a:rPr lang="en-US" dirty="0" err="1">
                <a:solidFill>
                  <a:srgbClr val="444444"/>
                </a:solidFill>
              </a:rPr>
              <a:t>eget</a:t>
            </a:r>
            <a:r>
              <a:rPr lang="en-US" dirty="0">
                <a:solidFill>
                  <a:srgbClr val="444444"/>
                </a:solidFill>
              </a:rPr>
              <a:t>…</a:t>
            </a:r>
            <a:endParaRPr lang="en-US" dirty="0"/>
          </a:p>
        </p:txBody>
      </p:sp>
      <p:sp>
        <p:nvSpPr>
          <p:cNvPr id="4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0"/>
            <a:ext cx="9144000" cy="93268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40005" dist="25400" dir="5400000" algn="t" rotWithShape="0">
              <a:prstClr val="black">
                <a:alpha val="30000"/>
              </a:prstClr>
            </a:outerShdw>
          </a:effectLst>
        </p:spPr>
        <p:txBody>
          <a:bodyPr lIns="365760" anchor="ctr" anchorCtr="0">
            <a:normAutofit/>
          </a:bodyPr>
          <a:lstStyle>
            <a:lvl1pPr marL="0" indent="0">
              <a:buNone/>
              <a:defRPr sz="2600" baseline="0">
                <a:latin typeface="Arial Black"/>
                <a:cs typeface="Arial Black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9082174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52473" y="1439863"/>
            <a:ext cx="8332740" cy="4222751"/>
          </a:xfrm>
          <a:prstGeom prst="rect">
            <a:avLst/>
          </a:prstGeom>
        </p:spPr>
        <p:txBody>
          <a:bodyPr lIns="68580" tIns="34290" rIns="68580" bIns="34290">
            <a:noAutofit/>
          </a:bodyPr>
          <a:lstStyle>
            <a:lvl1pPr marL="342900" indent="-342900">
              <a:lnSpc>
                <a:spcPts val="1800"/>
              </a:lnSpc>
              <a:spcBef>
                <a:spcPts val="0"/>
              </a:spcBef>
              <a:spcAft>
                <a:spcPts val="1800"/>
              </a:spcAft>
              <a:buSzPct val="140000"/>
              <a:buFont typeface="+mj-lt"/>
              <a:buAutoNum type="arabicPeriod"/>
              <a:defRPr sz="1500" baseline="0"/>
            </a:lvl1pPr>
            <a:lvl2pPr>
              <a:defRPr sz="1400"/>
            </a:lvl2pPr>
            <a:lvl3pPr>
              <a:defRPr sz="1200"/>
            </a:lvl3pPr>
            <a:lvl4pPr>
              <a:defRPr sz="1000"/>
            </a:lvl4pPr>
            <a:lvl5pPr>
              <a:defRPr sz="8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add numbered list</a:t>
            </a:r>
          </a:p>
          <a:p>
            <a:pPr lvl="0"/>
            <a:r>
              <a:rPr lang="en-US" dirty="0"/>
              <a:t>Click to add numbered list</a:t>
            </a:r>
          </a:p>
          <a:p>
            <a:pPr lvl="0"/>
            <a:r>
              <a:rPr lang="en-US" dirty="0"/>
              <a:t>Click to add numbered list</a:t>
            </a:r>
          </a:p>
          <a:p>
            <a:pPr lvl="0"/>
            <a:r>
              <a:rPr lang="en-US" dirty="0"/>
              <a:t>Click to add numbered list</a:t>
            </a:r>
          </a:p>
        </p:txBody>
      </p:sp>
      <p:sp>
        <p:nvSpPr>
          <p:cNvPr id="4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0"/>
            <a:ext cx="9144000" cy="93268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40005" dist="25400" dir="5400000" algn="t" rotWithShape="0">
              <a:prstClr val="black">
                <a:alpha val="30000"/>
              </a:prstClr>
            </a:outerShdw>
          </a:effectLst>
        </p:spPr>
        <p:txBody>
          <a:bodyPr lIns="365760" anchor="ctr" anchorCtr="0">
            <a:normAutofit/>
          </a:bodyPr>
          <a:lstStyle>
            <a:lvl1pPr marL="0" indent="0">
              <a:buNone/>
              <a:defRPr sz="2600" baseline="0">
                <a:latin typeface="Arial Black"/>
                <a:cs typeface="Arial Black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0553301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e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/>
          <p:cNvSpPr>
            <a:spLocks noGrp="1"/>
          </p:cNvSpPr>
          <p:nvPr>
            <p:ph idx="1" hasCustomPrompt="1"/>
          </p:nvPr>
        </p:nvSpPr>
        <p:spPr>
          <a:xfrm>
            <a:off x="360363" y="1439864"/>
            <a:ext cx="8329612" cy="4525963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130302" marR="0" indent="-130302" algn="l" defTabSz="3429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750"/>
              </a:spcAft>
              <a:buClr>
                <a:schemeClr val="accent2"/>
              </a:buClr>
              <a:buSzTx/>
              <a:buFont typeface="Arial"/>
              <a:buChar char="•"/>
              <a:tabLst/>
              <a:defRPr sz="1400" baseline="0"/>
            </a:lvl1pPr>
            <a:lvl2pPr marL="557213" indent="-214313">
              <a:lnSpc>
                <a:spcPct val="120000"/>
              </a:lnSpc>
              <a:buSzPct val="100000"/>
              <a:buFont typeface="Arial"/>
              <a:buChar char="•"/>
              <a:defRPr sz="1200" baseline="0"/>
            </a:lvl2pPr>
            <a:lvl3pPr>
              <a:lnSpc>
                <a:spcPct val="120000"/>
              </a:lnSpc>
              <a:defRPr sz="1100" baseline="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add bulleted list</a:t>
            </a:r>
          </a:p>
          <a:p>
            <a:pPr lvl="1"/>
            <a:r>
              <a:rPr lang="en-US" dirty="0"/>
              <a:t>Second Level Bullet</a:t>
            </a:r>
          </a:p>
          <a:p>
            <a:pPr lvl="2"/>
            <a:r>
              <a:rPr lang="en-US" dirty="0"/>
              <a:t>Third Level Bullet</a:t>
            </a:r>
            <a:br>
              <a:rPr lang="en-US" dirty="0"/>
            </a:br>
            <a:endParaRPr lang="en-US" dirty="0"/>
          </a:p>
          <a:p>
            <a:pPr lvl="0"/>
            <a:r>
              <a:rPr lang="en-US" dirty="0"/>
              <a:t>Click to add bulleted list</a:t>
            </a:r>
          </a:p>
          <a:p>
            <a:pPr lvl="0"/>
            <a:r>
              <a:rPr lang="en-US" dirty="0"/>
              <a:t>Click to add bulleted list</a:t>
            </a:r>
          </a:p>
          <a:p>
            <a:pPr lvl="0"/>
            <a:r>
              <a:rPr lang="en-US" dirty="0"/>
              <a:t>Click to add bulleted list</a:t>
            </a:r>
          </a:p>
          <a:p>
            <a:pPr lvl="0"/>
            <a:endParaRPr lang="en-US" dirty="0"/>
          </a:p>
          <a:p>
            <a:pPr marL="130302" marR="0" lvl="0" indent="-130302" algn="l" defTabSz="3429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/>
              <a:buChar char="•"/>
              <a:tabLst/>
              <a:defRPr/>
            </a:pPr>
            <a:endParaRPr lang="en-US" dirty="0"/>
          </a:p>
          <a:p>
            <a:pPr marL="130302" marR="0" lvl="0" indent="-130302" algn="l" defTabSz="3429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/>
              <a:buChar char="•"/>
              <a:tabLst/>
              <a:defRPr/>
            </a:pPr>
            <a:endParaRPr lang="en-US" dirty="0"/>
          </a:p>
          <a:p>
            <a:pPr marL="130302" marR="0" lvl="0" indent="-130302" algn="l" defTabSz="3429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/>
              <a:buChar char="•"/>
              <a:tabLst/>
              <a:defRPr/>
            </a:pPr>
            <a:endParaRPr lang="en-US" dirty="0"/>
          </a:p>
        </p:txBody>
      </p:sp>
      <p:sp>
        <p:nvSpPr>
          <p:cNvPr id="4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0"/>
            <a:ext cx="9144000" cy="93268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40005" dist="25400" dir="5400000" algn="t" rotWithShape="0">
              <a:prstClr val="black">
                <a:alpha val="30000"/>
              </a:prstClr>
            </a:outerShdw>
          </a:effectLst>
        </p:spPr>
        <p:txBody>
          <a:bodyPr lIns="365760" anchor="ctr" anchorCtr="0">
            <a:normAutofit/>
          </a:bodyPr>
          <a:lstStyle>
            <a:lvl1pPr marL="0" indent="0">
              <a:buNone/>
              <a:defRPr sz="2600" baseline="0">
                <a:latin typeface="Arial Black"/>
                <a:cs typeface="Arial Black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5117400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s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1" hasCustomPrompt="1"/>
          </p:nvPr>
        </p:nvSpPr>
        <p:spPr>
          <a:xfrm>
            <a:off x="4568266" y="939030"/>
            <a:ext cx="4575735" cy="5541819"/>
          </a:xfrm>
          <a:prstGeom prst="rect">
            <a:avLst/>
          </a:prstGeom>
        </p:spPr>
        <p:txBody>
          <a:bodyPr vert="horz"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hasCustomPrompt="1"/>
          </p:nvPr>
        </p:nvSpPr>
        <p:spPr>
          <a:xfrm>
            <a:off x="360364" y="1439864"/>
            <a:ext cx="3810584" cy="4525963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130302" marR="0" indent="-130302" algn="l" defTabSz="342900" rtl="0" eaLnBrk="1" fontAlgn="auto" latinLnBrk="0" hangingPunct="1">
              <a:lnSpc>
                <a:spcPts val="1650"/>
              </a:lnSpc>
              <a:spcBef>
                <a:spcPts val="0"/>
              </a:spcBef>
              <a:spcAft>
                <a:spcPts val="750"/>
              </a:spcAft>
              <a:buClr>
                <a:schemeClr val="accent2"/>
              </a:buClr>
              <a:buSzTx/>
              <a:buFont typeface="Arial"/>
              <a:buChar char="•"/>
              <a:tabLst/>
              <a:defRPr sz="1200" baseline="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add bulleted list</a:t>
            </a:r>
          </a:p>
          <a:p>
            <a:pPr lvl="0"/>
            <a:r>
              <a:rPr lang="en-US" dirty="0"/>
              <a:t>Click to add bulleted list</a:t>
            </a:r>
          </a:p>
          <a:p>
            <a:pPr lvl="0"/>
            <a:r>
              <a:rPr lang="en-US" dirty="0"/>
              <a:t>Click to add bulleted list</a:t>
            </a:r>
          </a:p>
          <a:p>
            <a:pPr lvl="0"/>
            <a:endParaRPr lang="en-US" dirty="0"/>
          </a:p>
          <a:p>
            <a:pPr marL="130302" marR="0" lvl="0" indent="-130302" algn="l" defTabSz="3429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/>
              <a:buChar char="•"/>
              <a:tabLst/>
              <a:defRPr/>
            </a:pPr>
            <a:endParaRPr lang="en-US" dirty="0"/>
          </a:p>
          <a:p>
            <a:pPr marL="130302" marR="0" lvl="0" indent="-130302" algn="l" defTabSz="3429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/>
              <a:buChar char="•"/>
              <a:tabLst/>
              <a:defRPr/>
            </a:pPr>
            <a:endParaRPr lang="en-US" dirty="0"/>
          </a:p>
          <a:p>
            <a:pPr marL="130302" marR="0" lvl="0" indent="-130302" algn="l" defTabSz="3429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/>
              <a:buChar char="•"/>
              <a:tabLst/>
              <a:defRPr/>
            </a:pPr>
            <a:endParaRPr lang="en-US" dirty="0"/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0"/>
            <a:ext cx="9144000" cy="93268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40005" dist="25400" dir="5400000" algn="t" rotWithShape="0">
              <a:prstClr val="black">
                <a:alpha val="30000"/>
              </a:prstClr>
            </a:outerShdw>
          </a:effectLst>
        </p:spPr>
        <p:txBody>
          <a:bodyPr lIns="365760" anchor="ctr" anchorCtr="0">
            <a:normAutofit/>
          </a:bodyPr>
          <a:lstStyle>
            <a:lvl1pPr marL="0" indent="0">
              <a:buNone/>
              <a:defRPr sz="2600" baseline="0">
                <a:latin typeface="Arial Black"/>
                <a:cs typeface="Arial Black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4961756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Sub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2"/>
          <p:cNvSpPr>
            <a:spLocks noGrp="1"/>
          </p:cNvSpPr>
          <p:nvPr>
            <p:ph idx="1" hasCustomPrompt="1"/>
          </p:nvPr>
        </p:nvSpPr>
        <p:spPr>
          <a:xfrm>
            <a:off x="360363" y="1776415"/>
            <a:ext cx="8329612" cy="4525963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130302" marR="0" indent="-130302" algn="l" defTabSz="342900" rtl="0" eaLnBrk="1" fontAlgn="auto" latinLnBrk="0" hangingPunct="1">
              <a:lnSpc>
                <a:spcPts val="1650"/>
              </a:lnSpc>
              <a:spcBef>
                <a:spcPts val="0"/>
              </a:spcBef>
              <a:spcAft>
                <a:spcPts val="750"/>
              </a:spcAft>
              <a:buClr>
                <a:schemeClr val="accent2"/>
              </a:buClr>
              <a:buSzTx/>
              <a:buFont typeface="Arial"/>
              <a:buChar char="•"/>
              <a:tabLst/>
              <a:defRPr sz="1200" baseline="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add bulleted list</a:t>
            </a:r>
          </a:p>
          <a:p>
            <a:pPr lvl="0"/>
            <a:r>
              <a:rPr lang="en-US" dirty="0"/>
              <a:t>Click to add bulleted list</a:t>
            </a:r>
          </a:p>
          <a:p>
            <a:pPr lvl="0"/>
            <a:r>
              <a:rPr lang="en-US" dirty="0"/>
              <a:t>Click to add bulleted list</a:t>
            </a:r>
          </a:p>
          <a:p>
            <a:pPr marL="130302" marR="0" lvl="0" indent="-130302" algn="l" defTabSz="3429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1050"/>
              </a:spcAft>
              <a:buClr>
                <a:schemeClr val="accent2"/>
              </a:buClr>
              <a:buSzTx/>
              <a:buFont typeface="Arial"/>
              <a:buChar char="•"/>
              <a:tabLst/>
              <a:defRPr/>
            </a:pPr>
            <a:r>
              <a:rPr lang="en-US" dirty="0"/>
              <a:t>Click to add bulleted list</a:t>
            </a:r>
          </a:p>
          <a:p>
            <a:pPr lvl="0"/>
            <a:endParaRPr lang="en-US" dirty="0"/>
          </a:p>
          <a:p>
            <a:pPr marL="130302" marR="0" lvl="0" indent="-130302" algn="l" defTabSz="3429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/>
              <a:buChar char="•"/>
              <a:tabLst/>
              <a:defRPr/>
            </a:pPr>
            <a:endParaRPr lang="en-US" dirty="0"/>
          </a:p>
          <a:p>
            <a:pPr marL="130302" marR="0" lvl="0" indent="-130302" algn="l" defTabSz="3429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/>
              <a:buChar char="•"/>
              <a:tabLst/>
              <a:defRPr/>
            </a:pPr>
            <a:endParaRPr lang="en-US" dirty="0"/>
          </a:p>
          <a:p>
            <a:pPr marL="130302" marR="0" lvl="0" indent="-130302" algn="l" defTabSz="3429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/>
              <a:buChar char="•"/>
              <a:tabLst/>
              <a:defRPr/>
            </a:pP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0"/>
            <a:ext cx="9144000" cy="93268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40005" dist="25400" dir="5400000" algn="t" rotWithShape="0">
              <a:prstClr val="black">
                <a:alpha val="30000"/>
              </a:prstClr>
            </a:outerShdw>
          </a:effectLst>
        </p:spPr>
        <p:txBody>
          <a:bodyPr lIns="365760" anchor="ctr" anchorCtr="0">
            <a:normAutofit/>
          </a:bodyPr>
          <a:lstStyle>
            <a:lvl1pPr marL="0" indent="0">
              <a:buNone/>
              <a:defRPr sz="2600" baseline="0">
                <a:latin typeface="Arial Black"/>
                <a:cs typeface="Arial Black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418148" y="1345462"/>
            <a:ext cx="1748991" cy="29546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wrap="none" lIns="68580" tIns="54864" rIns="68580" bIns="54864" anchor="ctr" anchorCtr="0">
            <a:spAutoFit/>
          </a:bodyPr>
          <a:lstStyle>
            <a:lvl1pPr marL="0" indent="0" algn="l">
              <a:spcBef>
                <a:spcPts val="0"/>
              </a:spcBef>
              <a:buNone/>
              <a:defRPr sz="1200">
                <a:solidFill>
                  <a:schemeClr val="bg1"/>
                </a:solidFill>
                <a:latin typeface="Arial Black"/>
                <a:cs typeface="Arial Black"/>
              </a:defRPr>
            </a:lvl1pPr>
          </a:lstStyle>
          <a:p>
            <a:pPr lvl="0"/>
            <a:r>
              <a:rPr lang="en-US" dirty="0"/>
              <a:t>TITLE TO GO HERE</a:t>
            </a:r>
          </a:p>
        </p:txBody>
      </p:sp>
    </p:spTree>
    <p:extLst>
      <p:ext uri="{BB962C8B-B14F-4D97-AF65-F5344CB8AC3E}">
        <p14:creationId xmlns:p14="http://schemas.microsoft.com/office/powerpoint/2010/main" val="30554762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0" y="6349741"/>
            <a:ext cx="9144000" cy="50825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 defTabSz="342900"/>
            <a:endParaRPr lang="en-US" sz="1400">
              <a:solidFill>
                <a:prstClr val="white"/>
              </a:solidFill>
            </a:endParaRPr>
          </a:p>
        </p:txBody>
      </p:sp>
      <p:sp>
        <p:nvSpPr>
          <p:cNvPr id="12" name="Picture Placeholder 5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144000" cy="6858000"/>
          </a:xfrm>
          <a:prstGeom prst="rect">
            <a:avLst/>
          </a:prstGeom>
        </p:spPr>
        <p:txBody>
          <a:bodyPr lIns="68580" tIns="34290" rIns="68580" bIns="34290" anchor="t"/>
          <a:lstStyle>
            <a:lvl1pPr marL="0" indent="0" algn="ctr">
              <a:buNone/>
              <a:defRPr/>
            </a:lvl1pPr>
          </a:lstStyle>
          <a:p>
            <a:pPr lvl="0"/>
            <a:r>
              <a:rPr lang="en-US" dirty="0"/>
              <a:t>Insert Image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13" hasCustomPrompt="1"/>
          </p:nvPr>
        </p:nvSpPr>
        <p:spPr>
          <a:xfrm>
            <a:off x="872405" y="5263636"/>
            <a:ext cx="5014975" cy="647100"/>
          </a:xfrm>
          <a:prstGeom prst="rect">
            <a:avLst/>
          </a:prstGeom>
          <a:solidFill>
            <a:srgbClr val="2FC2D9"/>
          </a:solidFill>
        </p:spPr>
        <p:txBody>
          <a:bodyPr wrap="none" lIns="137160" tIns="27432" rIns="137160" bIns="34290">
            <a:spAutoFit/>
          </a:bodyPr>
          <a:lstStyle>
            <a:lvl1pPr marL="0" indent="0">
              <a:buNone/>
              <a:defRPr sz="3800" b="0" i="0" cap="all">
                <a:solidFill>
                  <a:schemeClr val="bg1"/>
                </a:solidFill>
                <a:latin typeface="Arial Black"/>
                <a:cs typeface="Arial Black"/>
              </a:defRPr>
            </a:lvl1pPr>
            <a:lvl2pPr marL="342900" indent="0">
              <a:buNone/>
              <a:defRPr sz="3800" b="0" i="0" cap="all">
                <a:latin typeface="Arial Black"/>
                <a:cs typeface="Arial Black"/>
              </a:defRPr>
            </a:lvl2pPr>
            <a:lvl3pPr marL="685800" indent="0">
              <a:buNone/>
              <a:defRPr sz="3800" b="0" i="0" cap="all">
                <a:latin typeface="Arial Black"/>
                <a:cs typeface="Arial Black"/>
              </a:defRPr>
            </a:lvl3pPr>
            <a:lvl4pPr marL="1028700" indent="0">
              <a:buNone/>
              <a:defRPr sz="3800" b="0" i="0" cap="all">
                <a:latin typeface="Arial Black"/>
                <a:cs typeface="Arial Black"/>
              </a:defRPr>
            </a:lvl4pPr>
            <a:lvl5pPr marL="1371600" indent="0">
              <a:buNone/>
              <a:defRPr sz="3800" b="0" i="0" cap="all">
                <a:latin typeface="Arial Black"/>
                <a:cs typeface="Arial Black"/>
              </a:defRPr>
            </a:lvl5pPr>
          </a:lstStyle>
          <a:p>
            <a:pPr lvl="0"/>
            <a:r>
              <a:rPr lang="en-US" dirty="0"/>
              <a:t>And Line 3 Here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1" hasCustomPrompt="1"/>
          </p:nvPr>
        </p:nvSpPr>
        <p:spPr>
          <a:xfrm>
            <a:off x="872405" y="4525827"/>
            <a:ext cx="3688427" cy="647100"/>
          </a:xfrm>
          <a:prstGeom prst="rect">
            <a:avLst/>
          </a:prstGeom>
          <a:solidFill>
            <a:srgbClr val="2FC2D9"/>
          </a:solidFill>
        </p:spPr>
        <p:txBody>
          <a:bodyPr wrap="none" lIns="137160" tIns="27432" rIns="137160" bIns="34290">
            <a:spAutoFit/>
          </a:bodyPr>
          <a:lstStyle>
            <a:lvl1pPr marL="0" indent="0">
              <a:buNone/>
              <a:defRPr sz="3800" b="0" i="0" cap="all">
                <a:solidFill>
                  <a:schemeClr val="bg1"/>
                </a:solidFill>
                <a:latin typeface="Arial Black"/>
                <a:cs typeface="Arial Black"/>
              </a:defRPr>
            </a:lvl1pPr>
            <a:lvl2pPr marL="342900" indent="0">
              <a:buNone/>
              <a:defRPr sz="3800" b="0" i="0" cap="all">
                <a:latin typeface="Arial Black"/>
                <a:cs typeface="Arial Black"/>
              </a:defRPr>
            </a:lvl2pPr>
            <a:lvl3pPr marL="685800" indent="0">
              <a:buNone/>
              <a:defRPr sz="3800" b="0" i="0" cap="all">
                <a:latin typeface="Arial Black"/>
                <a:cs typeface="Arial Black"/>
              </a:defRPr>
            </a:lvl3pPr>
            <a:lvl4pPr marL="1028700" indent="0">
              <a:buNone/>
              <a:defRPr sz="3800" b="0" i="0" cap="all">
                <a:latin typeface="Arial Black"/>
                <a:cs typeface="Arial Black"/>
              </a:defRPr>
            </a:lvl4pPr>
            <a:lvl5pPr marL="1371600" indent="0">
              <a:buNone/>
              <a:defRPr sz="3800" b="0" i="0" cap="all">
                <a:latin typeface="Arial Black"/>
                <a:cs typeface="Arial Black"/>
              </a:defRPr>
            </a:lvl5pPr>
          </a:lstStyle>
          <a:p>
            <a:pPr lvl="0"/>
            <a:r>
              <a:rPr lang="en-US" dirty="0"/>
              <a:t>Line 2 Here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72405" y="3826604"/>
            <a:ext cx="5285757" cy="647100"/>
          </a:xfrm>
          <a:prstGeom prst="rect">
            <a:avLst/>
          </a:prstGeom>
          <a:solidFill>
            <a:srgbClr val="2FC2D9"/>
          </a:solidFill>
          <a:ln>
            <a:noFill/>
          </a:ln>
        </p:spPr>
        <p:txBody>
          <a:bodyPr wrap="none" lIns="137160" tIns="27432" rIns="137160" bIns="34290" anchor="t">
            <a:spAutoFit/>
          </a:bodyPr>
          <a:lstStyle>
            <a:lvl1pPr algn="l">
              <a:defRPr sz="3800" b="0" cap="all" baseline="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Type line 1 here</a:t>
            </a:r>
          </a:p>
        </p:txBody>
      </p:sp>
      <p:sp>
        <p:nvSpPr>
          <p:cNvPr id="8" name="Text Placeholder 13"/>
          <p:cNvSpPr txBox="1">
            <a:spLocks/>
          </p:cNvSpPr>
          <p:nvPr/>
        </p:nvSpPr>
        <p:spPr>
          <a:xfrm>
            <a:off x="781355" y="3328611"/>
            <a:ext cx="6488113" cy="923331"/>
          </a:xfrm>
          <a:prstGeom prst="rect">
            <a:avLst/>
          </a:prstGeom>
        </p:spPr>
        <p:txBody>
          <a:bodyPr lIns="68580" tIns="34290" rIns="68580" bIns="34290"/>
          <a:lstStyle>
            <a:lvl1pPr marL="342900" indent="-342900" algn="l" defTabSz="4572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/>
              <a:buChar char="•"/>
              <a:defRPr sz="2000" kern="1200">
                <a:solidFill>
                  <a:schemeClr val="tx1"/>
                </a:solidFill>
                <a:latin typeface="Trebuchet MS"/>
                <a:ea typeface="+mn-ea"/>
                <a:cs typeface="Trebuchet M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800" kern="1200">
                <a:solidFill>
                  <a:schemeClr val="tx1"/>
                </a:solidFill>
                <a:latin typeface="Trebuchet MS"/>
                <a:ea typeface="+mn-ea"/>
                <a:cs typeface="Trebuchet M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Trebuchet MS"/>
                <a:ea typeface="+mn-ea"/>
                <a:cs typeface="Trebuchet M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300" kern="1200">
                <a:solidFill>
                  <a:schemeClr val="tx1"/>
                </a:solidFill>
                <a:latin typeface="Trebuchet MS"/>
                <a:ea typeface="+mn-ea"/>
                <a:cs typeface="Trebuchet M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1100" kern="1200">
                <a:solidFill>
                  <a:schemeClr val="tx1"/>
                </a:solidFill>
                <a:latin typeface="Trebuchet MS"/>
                <a:ea typeface="+mn-ea"/>
                <a:cs typeface="Trebuchet M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39C2D7"/>
              </a:buClr>
              <a:buFont typeface="Arial"/>
              <a:buNone/>
            </a:pPr>
            <a:endParaRPr lang="en-US" sz="1500" dirty="0">
              <a:solidFill>
                <a:srgbClr val="464547"/>
              </a:solidFill>
            </a:endParaRP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14" hasCustomPrompt="1"/>
          </p:nvPr>
        </p:nvSpPr>
        <p:spPr>
          <a:xfrm>
            <a:off x="866629" y="3276170"/>
            <a:ext cx="3731155" cy="284693"/>
          </a:xfrm>
          <a:prstGeom prst="rect">
            <a:avLst/>
          </a:prstGeom>
          <a:solidFill>
            <a:schemeClr val="accent2"/>
          </a:solidFill>
        </p:spPr>
        <p:txBody>
          <a:bodyPr vert="horz" wrap="none" lIns="68580" tIns="34290" rIns="68580" bIns="34290">
            <a:spAutoFit/>
          </a:bodyPr>
          <a:lstStyle>
            <a:lvl1pPr marL="0" indent="0">
              <a:buNone/>
              <a:defRPr sz="1400">
                <a:solidFill>
                  <a:srgbClr val="FFFFFF"/>
                </a:solidFill>
                <a:latin typeface="Arial Black"/>
                <a:cs typeface="Arial Black"/>
              </a:defRPr>
            </a:lvl1pPr>
          </a:lstStyle>
          <a:p>
            <a:pPr lvl="0"/>
            <a:r>
              <a:rPr lang="en-US" dirty="0"/>
              <a:t>OPTIONAL EYEBROW HEADER HERE</a:t>
            </a:r>
          </a:p>
        </p:txBody>
      </p:sp>
    </p:spTree>
    <p:extLst>
      <p:ext uri="{BB962C8B-B14F-4D97-AF65-F5344CB8AC3E}">
        <p14:creationId xmlns:p14="http://schemas.microsoft.com/office/powerpoint/2010/main" val="1441272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 (No Imag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Placeholder 6" descr="Pattern_ppt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7" name="Text Placeholder 12"/>
          <p:cNvSpPr>
            <a:spLocks noGrp="1"/>
          </p:cNvSpPr>
          <p:nvPr>
            <p:ph type="body" sz="quarter" idx="13" hasCustomPrompt="1"/>
          </p:nvPr>
        </p:nvSpPr>
        <p:spPr>
          <a:xfrm>
            <a:off x="872405" y="5263636"/>
            <a:ext cx="5014975" cy="647100"/>
          </a:xfrm>
          <a:prstGeom prst="rect">
            <a:avLst/>
          </a:prstGeom>
          <a:solidFill>
            <a:srgbClr val="2FC2D9"/>
          </a:solidFill>
        </p:spPr>
        <p:txBody>
          <a:bodyPr wrap="none" lIns="137160" tIns="27432" rIns="137160" bIns="34290">
            <a:spAutoFit/>
          </a:bodyPr>
          <a:lstStyle>
            <a:lvl1pPr marL="0" indent="0">
              <a:buNone/>
              <a:defRPr sz="3800" b="0" i="0" cap="all">
                <a:solidFill>
                  <a:schemeClr val="bg1"/>
                </a:solidFill>
                <a:latin typeface="Arial Black"/>
                <a:cs typeface="Arial Black"/>
              </a:defRPr>
            </a:lvl1pPr>
            <a:lvl2pPr marL="342900" indent="0">
              <a:buNone/>
              <a:defRPr sz="3800" b="0" i="0" cap="all">
                <a:latin typeface="Arial Black"/>
                <a:cs typeface="Arial Black"/>
              </a:defRPr>
            </a:lvl2pPr>
            <a:lvl3pPr marL="685800" indent="0">
              <a:buNone/>
              <a:defRPr sz="3800" b="0" i="0" cap="all">
                <a:latin typeface="Arial Black"/>
                <a:cs typeface="Arial Black"/>
              </a:defRPr>
            </a:lvl3pPr>
            <a:lvl4pPr marL="1028700" indent="0">
              <a:buNone/>
              <a:defRPr sz="3800" b="0" i="0" cap="all">
                <a:latin typeface="Arial Black"/>
                <a:cs typeface="Arial Black"/>
              </a:defRPr>
            </a:lvl4pPr>
            <a:lvl5pPr marL="1371600" indent="0">
              <a:buNone/>
              <a:defRPr sz="3800" b="0" i="0" cap="all">
                <a:latin typeface="Arial Black"/>
                <a:cs typeface="Arial Black"/>
              </a:defRPr>
            </a:lvl5pPr>
          </a:lstStyle>
          <a:p>
            <a:pPr lvl="0"/>
            <a:r>
              <a:rPr lang="en-US" dirty="0"/>
              <a:t>And Line 3 Here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1" hasCustomPrompt="1"/>
          </p:nvPr>
        </p:nvSpPr>
        <p:spPr>
          <a:xfrm>
            <a:off x="872405" y="4525827"/>
            <a:ext cx="3688427" cy="647100"/>
          </a:xfrm>
          <a:prstGeom prst="rect">
            <a:avLst/>
          </a:prstGeom>
          <a:solidFill>
            <a:srgbClr val="2FC2D9"/>
          </a:solidFill>
        </p:spPr>
        <p:txBody>
          <a:bodyPr wrap="none" lIns="137160" tIns="27432" rIns="137160" bIns="34290">
            <a:spAutoFit/>
          </a:bodyPr>
          <a:lstStyle>
            <a:lvl1pPr marL="0" indent="0">
              <a:buNone/>
              <a:defRPr sz="3800" b="0" i="0" cap="all">
                <a:solidFill>
                  <a:schemeClr val="bg1"/>
                </a:solidFill>
                <a:latin typeface="Arial Black"/>
                <a:cs typeface="Arial Black"/>
              </a:defRPr>
            </a:lvl1pPr>
            <a:lvl2pPr marL="342900" indent="0">
              <a:buNone/>
              <a:defRPr sz="3800" b="0" i="0" cap="all">
                <a:latin typeface="Arial Black"/>
                <a:cs typeface="Arial Black"/>
              </a:defRPr>
            </a:lvl2pPr>
            <a:lvl3pPr marL="685800" indent="0">
              <a:buNone/>
              <a:defRPr sz="3800" b="0" i="0" cap="all">
                <a:latin typeface="Arial Black"/>
                <a:cs typeface="Arial Black"/>
              </a:defRPr>
            </a:lvl3pPr>
            <a:lvl4pPr marL="1028700" indent="0">
              <a:buNone/>
              <a:defRPr sz="3800" b="0" i="0" cap="all">
                <a:latin typeface="Arial Black"/>
                <a:cs typeface="Arial Black"/>
              </a:defRPr>
            </a:lvl4pPr>
            <a:lvl5pPr marL="1371600" indent="0">
              <a:buNone/>
              <a:defRPr sz="3800" b="0" i="0" cap="all">
                <a:latin typeface="Arial Black"/>
                <a:cs typeface="Arial Black"/>
              </a:defRPr>
            </a:lvl5pPr>
          </a:lstStyle>
          <a:p>
            <a:pPr lvl="0"/>
            <a:r>
              <a:rPr lang="en-US" dirty="0"/>
              <a:t>Line 2 Here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72405" y="3826604"/>
            <a:ext cx="5285757" cy="647100"/>
          </a:xfrm>
          <a:prstGeom prst="rect">
            <a:avLst/>
          </a:prstGeom>
          <a:solidFill>
            <a:srgbClr val="2FC2D9"/>
          </a:solidFill>
          <a:ln>
            <a:noFill/>
          </a:ln>
        </p:spPr>
        <p:txBody>
          <a:bodyPr wrap="none" lIns="137160" tIns="27432" rIns="137160" bIns="34290" anchor="t">
            <a:spAutoFit/>
          </a:bodyPr>
          <a:lstStyle>
            <a:lvl1pPr algn="l">
              <a:defRPr sz="3800" b="0" cap="all" baseline="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Type line 1 here</a:t>
            </a:r>
          </a:p>
        </p:txBody>
      </p:sp>
      <p:sp>
        <p:nvSpPr>
          <p:cNvPr id="8" name="Text Placeholder 13"/>
          <p:cNvSpPr txBox="1">
            <a:spLocks/>
          </p:cNvSpPr>
          <p:nvPr/>
        </p:nvSpPr>
        <p:spPr>
          <a:xfrm>
            <a:off x="781355" y="3328611"/>
            <a:ext cx="6488113" cy="923331"/>
          </a:xfrm>
          <a:prstGeom prst="rect">
            <a:avLst/>
          </a:prstGeom>
        </p:spPr>
        <p:txBody>
          <a:bodyPr lIns="68580" tIns="34290" rIns="68580" bIns="34290"/>
          <a:lstStyle>
            <a:lvl1pPr marL="342900" indent="-342900" algn="l" defTabSz="4572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/>
              <a:buChar char="•"/>
              <a:defRPr sz="2000" kern="1200">
                <a:solidFill>
                  <a:schemeClr val="tx1"/>
                </a:solidFill>
                <a:latin typeface="Trebuchet MS"/>
                <a:ea typeface="+mn-ea"/>
                <a:cs typeface="Trebuchet M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800" kern="1200">
                <a:solidFill>
                  <a:schemeClr val="tx1"/>
                </a:solidFill>
                <a:latin typeface="Trebuchet MS"/>
                <a:ea typeface="+mn-ea"/>
                <a:cs typeface="Trebuchet M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Trebuchet MS"/>
                <a:ea typeface="+mn-ea"/>
                <a:cs typeface="Trebuchet M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300" kern="1200">
                <a:solidFill>
                  <a:schemeClr val="tx1"/>
                </a:solidFill>
                <a:latin typeface="Trebuchet MS"/>
                <a:ea typeface="+mn-ea"/>
                <a:cs typeface="Trebuchet M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1100" kern="1200">
                <a:solidFill>
                  <a:schemeClr val="tx1"/>
                </a:solidFill>
                <a:latin typeface="Trebuchet MS"/>
                <a:ea typeface="+mn-ea"/>
                <a:cs typeface="Trebuchet M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39C2D7"/>
              </a:buClr>
              <a:buFont typeface="Arial"/>
              <a:buNone/>
            </a:pPr>
            <a:endParaRPr lang="en-US" sz="1500" dirty="0">
              <a:solidFill>
                <a:srgbClr val="464547"/>
              </a:solidFill>
            </a:endParaRP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14" hasCustomPrompt="1"/>
          </p:nvPr>
        </p:nvSpPr>
        <p:spPr>
          <a:xfrm>
            <a:off x="866629" y="3276170"/>
            <a:ext cx="3731155" cy="284693"/>
          </a:xfrm>
          <a:prstGeom prst="rect">
            <a:avLst/>
          </a:prstGeom>
          <a:solidFill>
            <a:schemeClr val="accent2"/>
          </a:solidFill>
        </p:spPr>
        <p:txBody>
          <a:bodyPr vert="horz" wrap="none" lIns="68580" tIns="34290" rIns="68580" bIns="34290">
            <a:spAutoFit/>
          </a:bodyPr>
          <a:lstStyle>
            <a:lvl1pPr marL="0" indent="0">
              <a:buNone/>
              <a:defRPr sz="1400">
                <a:solidFill>
                  <a:srgbClr val="FFFFFF"/>
                </a:solidFill>
                <a:latin typeface="Arial Black"/>
                <a:cs typeface="Arial Black"/>
              </a:defRPr>
            </a:lvl1pPr>
          </a:lstStyle>
          <a:p>
            <a:pPr lvl="0"/>
            <a:r>
              <a:rPr lang="en-US" dirty="0"/>
              <a:t>OPTIONAL EYEBROW HEADER HERE</a:t>
            </a:r>
          </a:p>
        </p:txBody>
      </p:sp>
    </p:spTree>
    <p:extLst>
      <p:ext uri="{BB962C8B-B14F-4D97-AF65-F5344CB8AC3E}">
        <p14:creationId xmlns:p14="http://schemas.microsoft.com/office/powerpoint/2010/main" val="14284039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p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flip="none" rotWithShape="1">
            <a:gsLst>
              <a:gs pos="0">
                <a:srgbClr val="1A9CB0"/>
              </a:gs>
              <a:gs pos="100000">
                <a:srgbClr val="2FC2D9"/>
              </a:gs>
            </a:gsLst>
            <a:lin ang="1764000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 defTabSz="342900">
              <a:lnSpc>
                <a:spcPct val="85000"/>
              </a:lnSpc>
            </a:pPr>
            <a:endParaRPr lang="en-US" sz="1400" dirty="0">
              <a:solidFill>
                <a:prstClr val="white"/>
              </a:solidFill>
            </a:endParaRPr>
          </a:p>
        </p:txBody>
      </p:sp>
      <p:sp>
        <p:nvSpPr>
          <p:cNvPr id="6" name="Text Placeholder 2"/>
          <p:cNvSpPr>
            <a:spLocks noGrp="1"/>
          </p:cNvSpPr>
          <p:nvPr>
            <p:ph idx="1" hasCustomPrompt="1"/>
          </p:nvPr>
        </p:nvSpPr>
        <p:spPr>
          <a:xfrm>
            <a:off x="626532" y="3197413"/>
            <a:ext cx="7574494" cy="2921872"/>
          </a:xfrm>
          <a:prstGeom prst="rect">
            <a:avLst/>
          </a:prstGeom>
        </p:spPr>
        <p:txBody>
          <a:bodyPr vert="horz" lIns="68580" tIns="34290" rIns="68580" bIns="34290" rtlCol="0">
            <a:no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buFontTx/>
              <a:buNone/>
              <a:defRPr sz="3400">
                <a:solidFill>
                  <a:schemeClr val="bg1"/>
                </a:solidFill>
                <a:latin typeface="Arial Black"/>
                <a:cs typeface="Arial Black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ADD HEADLINE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alphaModFix amt="25000"/>
          </a:blip>
          <a:stretch>
            <a:fillRect/>
          </a:stretch>
        </p:blipFill>
        <p:spPr>
          <a:xfrm>
            <a:off x="-1642264" y="0"/>
            <a:ext cx="12428528" cy="721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81829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ullet List with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1" hasCustomPrompt="1"/>
          </p:nvPr>
        </p:nvSpPr>
        <p:spPr>
          <a:xfrm>
            <a:off x="5029200" y="910939"/>
            <a:ext cx="4114800" cy="5577840"/>
          </a:xfrm>
          <a:prstGeom prst="rect">
            <a:avLst/>
          </a:prstGeom>
        </p:spPr>
        <p:txBody>
          <a:bodyPr vert="horz"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hasCustomPrompt="1"/>
          </p:nvPr>
        </p:nvSpPr>
        <p:spPr>
          <a:xfrm>
            <a:off x="360363" y="1439863"/>
            <a:ext cx="4343400" cy="4572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30302" marR="0" indent="-130302" algn="l" defTabSz="3429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750"/>
              </a:spcAft>
              <a:buClr>
                <a:schemeClr val="accent2"/>
              </a:buClr>
              <a:buSzTx/>
              <a:buFont typeface="Arial"/>
              <a:buChar char="•"/>
              <a:tabLst/>
              <a:defRPr sz="1200" baseline="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add bulleted list</a:t>
            </a:r>
          </a:p>
          <a:p>
            <a:pPr lvl="0"/>
            <a:r>
              <a:rPr lang="en-US" dirty="0"/>
              <a:t>Click to add bulleted list</a:t>
            </a:r>
          </a:p>
          <a:p>
            <a:pPr lvl="0"/>
            <a:r>
              <a:rPr lang="en-US" dirty="0"/>
              <a:t>Click to add bulleted list</a:t>
            </a:r>
          </a:p>
          <a:p>
            <a:pPr lvl="0"/>
            <a:r>
              <a:rPr lang="en-US" dirty="0"/>
              <a:t>Click to add bulleted list</a:t>
            </a:r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0"/>
            <a:ext cx="9144000" cy="93268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40005" dist="25400" dir="5400000" algn="t" rotWithShape="0">
              <a:prstClr val="black">
                <a:alpha val="30000"/>
              </a:prstClr>
            </a:outerShdw>
          </a:effectLst>
        </p:spPr>
        <p:txBody>
          <a:bodyPr lIns="365760" anchor="ctr" anchorCtr="0">
            <a:normAutofit/>
          </a:bodyPr>
          <a:lstStyle>
            <a:lvl1pPr marL="0" indent="0">
              <a:buNone/>
              <a:defRPr sz="2600" baseline="0">
                <a:latin typeface="Arial Black"/>
                <a:cs typeface="Arial Black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9910994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0" y="6560477"/>
            <a:ext cx="9144000" cy="30599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/>
          <p:cNvSpPr txBox="1"/>
          <p:nvPr userDrawn="1"/>
        </p:nvSpPr>
        <p:spPr>
          <a:xfrm>
            <a:off x="7281115" y="6560477"/>
            <a:ext cx="14935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C2C0EDAD-27A0-9447-9004-E733B36B95C3}" type="slidenum">
              <a:rPr lang="en-US" sz="1000" b="0" i="0" smtClean="0">
                <a:solidFill>
                  <a:srgbClr val="CCCCCC"/>
                </a:solidFill>
                <a:latin typeface="Trebuchet MS"/>
                <a:cs typeface="Trebuchet MS"/>
              </a:rPr>
              <a:pPr algn="r"/>
              <a:t>‹#›</a:t>
            </a:fld>
            <a:endParaRPr lang="en-US" sz="1000" b="0" i="0" dirty="0">
              <a:solidFill>
                <a:srgbClr val="CCCCCC"/>
              </a:solidFill>
              <a:latin typeface="Trebuchet MS"/>
              <a:cs typeface="Trebuchet MS"/>
            </a:endParaRPr>
          </a:p>
        </p:txBody>
      </p:sp>
      <p:sp>
        <p:nvSpPr>
          <p:cNvPr id="11" name="TextBox 10"/>
          <p:cNvSpPr txBox="1"/>
          <p:nvPr userDrawn="1"/>
        </p:nvSpPr>
        <p:spPr>
          <a:xfrm>
            <a:off x="1143000" y="6605750"/>
            <a:ext cx="2316480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800" b="0" i="0" kern="0" spc="20" dirty="0">
                <a:solidFill>
                  <a:srgbClr val="A3C745"/>
                </a:solidFill>
                <a:latin typeface="Trebuchet MS"/>
                <a:cs typeface="Trebuchet MS"/>
              </a:rPr>
              <a:t>CONFIDENTIAL</a:t>
            </a:r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990600" y="6631176"/>
            <a:ext cx="0" cy="164592"/>
          </a:xfrm>
          <a:prstGeom prst="line">
            <a:avLst/>
          </a:prstGeom>
          <a:ln w="3175" cmpd="sng">
            <a:solidFill>
              <a:schemeClr val="accent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4" name="Picture 13" descr="logo_footer.png"/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175" y="6631176"/>
            <a:ext cx="476250" cy="169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49665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3" r:id="rId1"/>
    <p:sldLayoutId id="2147483764" r:id="rId2"/>
    <p:sldLayoutId id="2147483765" r:id="rId3"/>
    <p:sldLayoutId id="2147483766" r:id="rId4"/>
    <p:sldLayoutId id="2147483767" r:id="rId5"/>
    <p:sldLayoutId id="2147483768" r:id="rId6"/>
    <p:sldLayoutId id="2147483769" r:id="rId7"/>
    <p:sldLayoutId id="2147483776" r:id="rId8"/>
    <p:sldLayoutId id="2147483777" r:id="rId9"/>
    <p:sldLayoutId id="2147483778" r:id="rId10"/>
    <p:sldLayoutId id="2147483781" r:id="rId11"/>
  </p:sldLayoutIdLst>
  <p:hf sldNum="0" hdr="0" ftr="0" dt="0"/>
  <p:txStyles>
    <p:titleStyle>
      <a:lvl1pPr algn="l" defTabSz="342900" rtl="0" eaLnBrk="1" latinLnBrk="0" hangingPunct="1">
        <a:spcBef>
          <a:spcPct val="0"/>
        </a:spcBef>
        <a:buNone/>
        <a:defRPr sz="2000" kern="1200" cap="all" baseline="0">
          <a:solidFill>
            <a:schemeClr val="tx1"/>
          </a:solidFill>
          <a:latin typeface="Arial Black"/>
          <a:ea typeface="+mj-ea"/>
          <a:cs typeface="Arial Black"/>
        </a:defRPr>
      </a:lvl1pPr>
    </p:titleStyle>
    <p:bodyStyle>
      <a:lvl1pPr marL="257175" indent="-257175" algn="l" defTabSz="342900" rtl="0" eaLnBrk="1" latinLnBrk="0" hangingPunct="1">
        <a:spcBef>
          <a:spcPct val="20000"/>
        </a:spcBef>
        <a:buClr>
          <a:schemeClr val="accent2"/>
        </a:buClr>
        <a:buFont typeface="Arial"/>
        <a:buChar char="•"/>
        <a:defRPr sz="1500" kern="1200">
          <a:solidFill>
            <a:schemeClr val="tx1"/>
          </a:solidFill>
          <a:latin typeface="Trebuchet MS"/>
          <a:ea typeface="+mn-ea"/>
          <a:cs typeface="Trebuchet MS"/>
        </a:defRPr>
      </a:lvl1pPr>
      <a:lvl2pPr marL="557213" indent="-214313" algn="l" defTabSz="342900" rtl="0" eaLnBrk="1" latinLnBrk="0" hangingPunct="1">
        <a:spcBef>
          <a:spcPct val="20000"/>
        </a:spcBef>
        <a:buFont typeface="Arial"/>
        <a:buChar char="–"/>
        <a:defRPr sz="1400" kern="1200">
          <a:solidFill>
            <a:schemeClr val="tx1"/>
          </a:solidFill>
          <a:latin typeface="Trebuchet MS"/>
          <a:ea typeface="+mn-ea"/>
          <a:cs typeface="Trebuchet MS"/>
        </a:defRPr>
      </a:lvl2pPr>
      <a:lvl3pPr marL="857250" indent="-171450" algn="l" defTabSz="342900" rtl="0" eaLnBrk="1" latinLnBrk="0" hangingPunct="1">
        <a:spcBef>
          <a:spcPct val="20000"/>
        </a:spcBef>
        <a:buFont typeface="Arial"/>
        <a:buChar char="•"/>
        <a:defRPr sz="1200" kern="1200">
          <a:solidFill>
            <a:schemeClr val="tx1"/>
          </a:solidFill>
          <a:latin typeface="Trebuchet MS"/>
          <a:ea typeface="+mn-ea"/>
          <a:cs typeface="Trebuchet MS"/>
        </a:defRPr>
      </a:lvl3pPr>
      <a:lvl4pPr marL="1200150" indent="-171450" algn="l" defTabSz="342900" rtl="0" eaLnBrk="1" latinLnBrk="0" hangingPunct="1">
        <a:spcBef>
          <a:spcPct val="20000"/>
        </a:spcBef>
        <a:buFont typeface="Arial"/>
        <a:buChar char="–"/>
        <a:defRPr sz="1000" kern="1200">
          <a:solidFill>
            <a:schemeClr val="tx1"/>
          </a:solidFill>
          <a:latin typeface="Trebuchet MS"/>
          <a:ea typeface="+mn-ea"/>
          <a:cs typeface="Trebuchet MS"/>
        </a:defRPr>
      </a:lvl4pPr>
      <a:lvl5pPr marL="1543050" indent="-171450" algn="l" defTabSz="342900" rtl="0" eaLnBrk="1" latinLnBrk="0" hangingPunct="1">
        <a:spcBef>
          <a:spcPct val="20000"/>
        </a:spcBef>
        <a:buFont typeface="Arial"/>
        <a:buChar char="»"/>
        <a:defRPr sz="800" kern="1200">
          <a:solidFill>
            <a:schemeClr val="tx1"/>
          </a:solidFill>
          <a:latin typeface="Trebuchet MS"/>
          <a:ea typeface="+mn-ea"/>
          <a:cs typeface="Trebuchet MS"/>
        </a:defRPr>
      </a:lvl5pPr>
      <a:lvl6pPr marL="18859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jp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gi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645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/>
          <p:cNvSpPr>
            <a:spLocks noGrp="1"/>
          </p:cNvSpPr>
          <p:nvPr>
            <p:ph type="body" sz="quarter" idx="15"/>
          </p:nvPr>
        </p:nvSpPr>
        <p:spPr>
          <a:xfrm>
            <a:off x="609600" y="1905000"/>
            <a:ext cx="6324600" cy="700192"/>
          </a:xfrm>
          <a:noFill/>
          <a:effectLst>
            <a:outerShdw sx="1000" sy="1000" algn="ctr" rotWithShape="0">
              <a:srgbClr val="569BA5"/>
            </a:outerShdw>
          </a:effectLst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pc="0" dirty="0">
                <a:solidFill>
                  <a:srgbClr val="39C2D7"/>
                </a:solidFill>
                <a:latin typeface="Arial Black" panose="020B0A04020102020204" pitchFamily="34" charset="0"/>
              </a:rPr>
              <a:t>SOAP</a:t>
            </a:r>
            <a:r>
              <a:rPr lang="en-US" spc="0" dirty="0">
                <a:latin typeface="Arial Black" panose="020B0A04020102020204" pitchFamily="34" charset="0"/>
              </a:rPr>
              <a:t> WEB SERVICES</a:t>
            </a:r>
          </a:p>
        </p:txBody>
      </p:sp>
      <p:sp>
        <p:nvSpPr>
          <p:cNvPr id="28" name="Text Placeholder 3"/>
          <p:cNvSpPr>
            <a:spLocks noGrp="1"/>
          </p:cNvSpPr>
          <p:nvPr>
            <p:ph type="body" sz="quarter" idx="16"/>
          </p:nvPr>
        </p:nvSpPr>
        <p:spPr>
          <a:xfrm>
            <a:off x="609600" y="2819400"/>
            <a:ext cx="4038600" cy="346249"/>
          </a:xfrm>
          <a:noFill/>
        </p:spPr>
        <p:txBody>
          <a:bodyPr/>
          <a:lstStyle/>
          <a:p>
            <a:r>
              <a:rPr lang="en-US" sz="1800" dirty="0"/>
              <a:t>SOAP </a:t>
            </a:r>
            <a:r>
              <a:rPr lang="en-US" sz="1800" dirty="0">
                <a:solidFill>
                  <a:srgbClr val="39C2D7"/>
                </a:solidFill>
              </a:rPr>
              <a:t>–</a:t>
            </a:r>
            <a:r>
              <a:rPr lang="en-US" sz="1800" dirty="0"/>
              <a:t> WSDL </a:t>
            </a:r>
            <a:r>
              <a:rPr lang="en-US" sz="1800" dirty="0">
                <a:solidFill>
                  <a:srgbClr val="39C2D7"/>
                </a:solidFill>
              </a:rPr>
              <a:t>– </a:t>
            </a:r>
            <a:r>
              <a:rPr lang="en-US" sz="1800" dirty="0"/>
              <a:t>JAXB </a:t>
            </a:r>
            <a:r>
              <a:rPr lang="en-US" sz="1800" dirty="0">
                <a:solidFill>
                  <a:srgbClr val="39C2D7"/>
                </a:solidFill>
              </a:rPr>
              <a:t>–</a:t>
            </a:r>
            <a:r>
              <a:rPr lang="en-US" sz="1800" dirty="0"/>
              <a:t> JAX-WS</a:t>
            </a:r>
          </a:p>
        </p:txBody>
      </p:sp>
      <p:sp>
        <p:nvSpPr>
          <p:cNvPr id="22" name="Text Placeholder 21"/>
          <p:cNvSpPr>
            <a:spLocks noGrp="1"/>
          </p:cNvSpPr>
          <p:nvPr>
            <p:ph type="body" sz="quarter" idx="17"/>
          </p:nvPr>
        </p:nvSpPr>
        <p:spPr>
          <a:xfrm>
            <a:off x="609600" y="6324600"/>
            <a:ext cx="3649662" cy="304800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FEBRUARY 20, 2016</a:t>
            </a:r>
          </a:p>
          <a:p>
            <a:endParaRPr lang="en-US" dirty="0"/>
          </a:p>
        </p:txBody>
      </p:sp>
      <p:pic>
        <p:nvPicPr>
          <p:cNvPr id="26" name="Picture Placeholder 25" descr="EPAM_LOGO_white_blue.png"/>
          <p:cNvPicPr>
            <a:picLocks noGrp="1" noChangeAspect="1"/>
          </p:cNvPicPr>
          <p:nvPr>
            <p:ph type="pic" sz="quarter" idx="19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1038" b="-21038"/>
          <a:stretch>
            <a:fillRect/>
          </a:stretch>
        </p:blipFill>
        <p:spPr>
          <a:xfrm>
            <a:off x="577850" y="152400"/>
            <a:ext cx="1066800" cy="592667"/>
          </a:xfrm>
        </p:spPr>
      </p:pic>
    </p:spTree>
    <p:extLst>
      <p:ext uri="{BB962C8B-B14F-4D97-AF65-F5344CB8AC3E}">
        <p14:creationId xmlns:p14="http://schemas.microsoft.com/office/powerpoint/2010/main" val="18698499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22222E-6 -7.40741E-7 L -2.22222E-6 -0.37778 " pathEditMode="relative" rAng="0" ptsTypes="AA">
                                      <p:cBhvr>
                                        <p:cTn id="6" dur="7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8889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42" presetClass="path" presetSubtype="0" ac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05556E-6 -1.11111E-6 L 3.05556E-6 -0.46944 " pathEditMode="relative" rAng="0" ptsTypes="AA">
                                      <p:cBhvr>
                                        <p:cTn id="8" dur="10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347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build="p"/>
      <p:bldP spid="28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0" y="0"/>
            <a:ext cx="9144000" cy="590550"/>
          </a:xfrm>
          <a:prstGeom prst="rect">
            <a:avLst/>
          </a:prstGeom>
          <a:solidFill>
            <a:srgbClr val="464547"/>
          </a:solidFill>
          <a:ln>
            <a:noFill/>
          </a:ln>
          <a:effectLst>
            <a:outerShdw blurRad="38100" dist="25400" dir="5400000" algn="t" rotWithShape="0">
              <a:schemeClr val="tx1">
                <a:lumMod val="50000"/>
                <a:alpha val="70000"/>
              </a:schemeClr>
            </a:outerShdw>
          </a:effectLst>
        </p:spPr>
        <p:txBody>
          <a:bodyPr/>
          <a:lstStyle/>
          <a:p>
            <a:r>
              <a:rPr lang="en-US" dirty="0">
                <a:solidFill>
                  <a:srgbClr val="39C2D7"/>
                </a:solidFill>
                <a:effectLst>
                  <a:outerShdw blurRad="50800" dist="38100" dir="5400000" algn="ctr" rotWithShape="0">
                    <a:schemeClr val="tx1">
                      <a:lumMod val="75000"/>
                    </a:schemeClr>
                  </a:outerShdw>
                </a:effectLst>
              </a:rPr>
              <a:t>Who am I?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00450" y="1219200"/>
            <a:ext cx="5257800" cy="1911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2000" dirty="0">
                <a:solidFill>
                  <a:srgbClr val="464547"/>
                </a:solidFill>
                <a:latin typeface="Trebuchet MS"/>
                <a:cs typeface="Trebuchet MS"/>
              </a:rPr>
              <a:t>Bohdan </a:t>
            </a:r>
            <a:r>
              <a:rPr lang="en-US" sz="2000" dirty="0" err="1">
                <a:solidFill>
                  <a:srgbClr val="464547"/>
                </a:solidFill>
                <a:latin typeface="Trebuchet MS"/>
                <a:cs typeface="Trebuchet MS"/>
              </a:rPr>
              <a:t>Lakotiy</a:t>
            </a:r>
            <a:endParaRPr lang="en-US" sz="2000" dirty="0">
              <a:solidFill>
                <a:srgbClr val="464547"/>
              </a:solidFill>
              <a:latin typeface="Trebuchet MS"/>
              <a:cs typeface="Trebuchet MS"/>
            </a:endParaRPr>
          </a:p>
          <a:p>
            <a:pPr>
              <a:lnSpc>
                <a:spcPct val="120000"/>
              </a:lnSpc>
            </a:pPr>
            <a:r>
              <a:rPr lang="en-US" sz="1200" dirty="0">
                <a:solidFill>
                  <a:srgbClr val="464547"/>
                </a:solidFill>
                <a:cs typeface="Trebuchet MS"/>
              </a:rPr>
              <a:t>Bohdan_Lakotiy@epam.com</a:t>
            </a:r>
          </a:p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464547"/>
                </a:solidFill>
              </a:rPr>
              <a:t>Senior Software Engineer</a:t>
            </a:r>
          </a:p>
          <a:p>
            <a:pPr>
              <a:lnSpc>
                <a:spcPct val="120000"/>
              </a:lnSpc>
            </a:pPr>
            <a:r>
              <a:rPr lang="en-US" sz="1200" dirty="0"/>
              <a:t>CIS, Ukraine, </a:t>
            </a:r>
            <a:r>
              <a:rPr lang="en-US" sz="1200" dirty="0" err="1"/>
              <a:t>Lviv</a:t>
            </a:r>
            <a:endParaRPr lang="en-US" sz="1200" dirty="0">
              <a:solidFill>
                <a:srgbClr val="464547"/>
              </a:solidFill>
            </a:endParaRPr>
          </a:p>
          <a:p>
            <a:pPr>
              <a:lnSpc>
                <a:spcPct val="120000"/>
              </a:lnSpc>
            </a:pPr>
            <a:endParaRPr lang="en-US" dirty="0">
              <a:solidFill>
                <a:srgbClr val="464547"/>
              </a:solidFill>
              <a:latin typeface="Trebuchet MS"/>
              <a:cs typeface="Trebuchet MS"/>
            </a:endParaRPr>
          </a:p>
          <a:p>
            <a:pPr>
              <a:lnSpc>
                <a:spcPct val="120000"/>
              </a:lnSpc>
            </a:pPr>
            <a:r>
              <a:rPr lang="en-US" dirty="0">
                <a:solidFill>
                  <a:srgbClr val="464547"/>
                </a:solidFill>
                <a:latin typeface="Trebuchet MS"/>
                <a:cs typeface="Trebuchet MS"/>
              </a:rPr>
              <a:t>About five years of experience in Web Development and Support</a:t>
            </a:r>
            <a:r>
              <a:rPr lang="en-US" dirty="0">
                <a:solidFill>
                  <a:srgbClr val="464547"/>
                </a:solidFill>
                <a:cs typeface="Trebuchet MS"/>
              </a:rPr>
              <a:t>.</a:t>
            </a:r>
            <a:br>
              <a:rPr lang="en-US" dirty="0">
                <a:solidFill>
                  <a:srgbClr val="464547"/>
                </a:solidFill>
                <a:cs typeface="Trebuchet MS"/>
              </a:rPr>
            </a:br>
            <a:r>
              <a:rPr lang="en-US" dirty="0">
                <a:solidFill>
                  <a:srgbClr val="464547"/>
                </a:solidFill>
                <a:cs typeface="Trebuchet MS"/>
              </a:rPr>
              <a:t>Working in </a:t>
            </a:r>
            <a:r>
              <a:rPr lang="en-US" dirty="0"/>
              <a:t>SAP-SUPP</a:t>
            </a:r>
            <a:r>
              <a:rPr lang="en-US" dirty="0">
                <a:solidFill>
                  <a:srgbClr val="464547"/>
                </a:solidFill>
                <a:cs typeface="Trebuchet MS"/>
              </a:rPr>
              <a:t> teem since 2012.</a:t>
            </a:r>
            <a:endParaRPr lang="en-US" dirty="0">
              <a:solidFill>
                <a:srgbClr val="464547"/>
              </a:solidFill>
              <a:latin typeface="Trebuchet MS"/>
              <a:cs typeface="Trebuchet MS"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990600"/>
            <a:ext cx="2846564" cy="3764436"/>
          </a:xfrm>
          <a:prstGeom prst="rect">
            <a:avLst/>
          </a:prstGeom>
          <a:ln>
            <a:noFill/>
          </a:ln>
          <a:effectLst>
            <a:outerShdw blurRad="127000" dist="38100" dir="5880000" algn="tl" rotWithShape="0">
              <a:srgbClr val="333333">
                <a:alpha val="50000"/>
              </a:srgbClr>
            </a:outerShdw>
          </a:effectLst>
        </p:spPr>
      </p:pic>
      <p:pic>
        <p:nvPicPr>
          <p:cNvPr id="1026" name="Picture 2" descr="https://heroes.epam.com/api/images/3378/content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9200" y="3733800"/>
            <a:ext cx="685800" cy="685800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https://heroes.epam.com/api/images/768/content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9584" y="3733800"/>
            <a:ext cx="685799" cy="685800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ttps://heroes.epam.com/api/images/3106/content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58050" y="3733800"/>
            <a:ext cx="685800" cy="685800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ttps://heroes.epam.com/api/images/1826/content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8817" y="3733800"/>
            <a:ext cx="685800" cy="685800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https://heroes.epam.com/api/images/1112/content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8434" y="3733800"/>
            <a:ext cx="685799" cy="685800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64319979"/>
      </p:ext>
    </p:extLst>
  </p:cSld>
  <p:clrMapOvr>
    <a:masterClrMapping/>
  </p:clrMapOvr>
  <p:transition spd="med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0" y="0"/>
            <a:ext cx="9144000" cy="590550"/>
          </a:xfrm>
          <a:prstGeom prst="rect">
            <a:avLst/>
          </a:prstGeom>
          <a:solidFill>
            <a:srgbClr val="464547"/>
          </a:solidFill>
          <a:ln>
            <a:noFill/>
          </a:ln>
          <a:effectLst>
            <a:outerShdw blurRad="38100" dist="25400" dir="5400000" algn="t" rotWithShape="0">
              <a:schemeClr val="tx1">
                <a:lumMod val="50000"/>
                <a:alpha val="70000"/>
              </a:schemeClr>
            </a:outerShdw>
          </a:effectLst>
        </p:spPr>
        <p:txBody>
          <a:bodyPr/>
          <a:lstStyle/>
          <a:p>
            <a:r>
              <a:rPr lang="en-US" dirty="0">
                <a:solidFill>
                  <a:srgbClr val="39C2D7"/>
                </a:solidFill>
                <a:effectLst>
                  <a:outerShdw blurRad="50800" dist="38100" dir="5400000" algn="ctr" rotWithShape="0">
                    <a:schemeClr val="tx1">
                      <a:lumMod val="75000"/>
                    </a:schemeClr>
                  </a:outerShdw>
                </a:effectLst>
              </a:rPr>
              <a:t>AGENDA</a:t>
            </a:r>
          </a:p>
        </p:txBody>
      </p:sp>
      <p:grpSp>
        <p:nvGrpSpPr>
          <p:cNvPr id="26" name="Групувати 25"/>
          <p:cNvGrpSpPr/>
          <p:nvPr/>
        </p:nvGrpSpPr>
        <p:grpSpPr>
          <a:xfrm>
            <a:off x="-7010400" y="1371600"/>
            <a:ext cx="6928082" cy="587352"/>
            <a:chOff x="-2335911" y="1522095"/>
            <a:chExt cx="6928082" cy="587352"/>
          </a:xfrm>
        </p:grpSpPr>
        <p:sp>
          <p:nvSpPr>
            <p:cNvPr id="18" name="Полілінія 17"/>
            <p:cNvSpPr>
              <a:spLocks/>
            </p:cNvSpPr>
            <p:nvPr/>
          </p:nvSpPr>
          <p:spPr>
            <a:xfrm>
              <a:off x="-2335911" y="1522095"/>
              <a:ext cx="6928082" cy="587352"/>
            </a:xfrm>
            <a:custGeom>
              <a:avLst/>
              <a:gdLst>
                <a:gd name="connsiteX0" fmla="*/ 0 w 6928082"/>
                <a:gd name="connsiteY0" fmla="*/ 587352 h 587352"/>
                <a:gd name="connsiteX1" fmla="*/ 6928082 w 6928082"/>
                <a:gd name="connsiteY1" fmla="*/ 587352 h 587352"/>
                <a:gd name="connsiteX2" fmla="*/ 6581011 w 6928082"/>
                <a:gd name="connsiteY2" fmla="*/ 0 h 587352"/>
                <a:gd name="connsiteX3" fmla="*/ 0 w 6928082"/>
                <a:gd name="connsiteY3" fmla="*/ 0 h 587352"/>
                <a:gd name="connsiteX4" fmla="*/ 0 w 6928082"/>
                <a:gd name="connsiteY4" fmla="*/ 587352 h 587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28082" h="587352">
                  <a:moveTo>
                    <a:pt x="0" y="587352"/>
                  </a:moveTo>
                  <a:lnTo>
                    <a:pt x="6928082" y="587352"/>
                  </a:lnTo>
                  <a:lnTo>
                    <a:pt x="6581011" y="0"/>
                  </a:lnTo>
                  <a:lnTo>
                    <a:pt x="0" y="0"/>
                  </a:lnTo>
                  <a:lnTo>
                    <a:pt x="0" y="587352"/>
                  </a:lnTo>
                  <a:close/>
                </a:path>
              </a:pathLst>
            </a:custGeom>
            <a:solidFill>
              <a:srgbClr val="464547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178689" y="1635240"/>
              <a:ext cx="3604961" cy="3877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sz="1600" b="1" spc="300" dirty="0">
                  <a:solidFill>
                    <a:schemeClr val="bg1"/>
                  </a:solidFill>
                  <a:latin typeface="Trebuchet MS"/>
                  <a:cs typeface="Trebuchet MS"/>
                </a:rPr>
                <a:t>      What is Web Services</a:t>
              </a:r>
            </a:p>
          </p:txBody>
        </p:sp>
      </p:grpSp>
      <p:grpSp>
        <p:nvGrpSpPr>
          <p:cNvPr id="27" name="Групувати 26"/>
          <p:cNvGrpSpPr/>
          <p:nvPr/>
        </p:nvGrpSpPr>
        <p:grpSpPr>
          <a:xfrm>
            <a:off x="-7010400" y="2337435"/>
            <a:ext cx="6928082" cy="587352"/>
            <a:chOff x="-1752600" y="2487930"/>
            <a:chExt cx="6928082" cy="587352"/>
          </a:xfrm>
        </p:grpSpPr>
        <p:sp>
          <p:nvSpPr>
            <p:cNvPr id="17" name="Полілінія 16"/>
            <p:cNvSpPr/>
            <p:nvPr/>
          </p:nvSpPr>
          <p:spPr>
            <a:xfrm>
              <a:off x="-1752600" y="2487930"/>
              <a:ext cx="6928082" cy="587352"/>
            </a:xfrm>
            <a:custGeom>
              <a:avLst/>
              <a:gdLst>
                <a:gd name="connsiteX0" fmla="*/ 0 w 6928082"/>
                <a:gd name="connsiteY0" fmla="*/ 587352 h 587352"/>
                <a:gd name="connsiteX1" fmla="*/ 6928082 w 6928082"/>
                <a:gd name="connsiteY1" fmla="*/ 587352 h 587352"/>
                <a:gd name="connsiteX2" fmla="*/ 6581011 w 6928082"/>
                <a:gd name="connsiteY2" fmla="*/ 0 h 587352"/>
                <a:gd name="connsiteX3" fmla="*/ 0 w 6928082"/>
                <a:gd name="connsiteY3" fmla="*/ 0 h 587352"/>
                <a:gd name="connsiteX4" fmla="*/ 0 w 6928082"/>
                <a:gd name="connsiteY4" fmla="*/ 587352 h 587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28082" h="587352">
                  <a:moveTo>
                    <a:pt x="0" y="587352"/>
                  </a:moveTo>
                  <a:lnTo>
                    <a:pt x="6928082" y="587352"/>
                  </a:lnTo>
                  <a:lnTo>
                    <a:pt x="6581011" y="0"/>
                  </a:lnTo>
                  <a:lnTo>
                    <a:pt x="0" y="0"/>
                  </a:lnTo>
                  <a:lnTo>
                    <a:pt x="0" y="587352"/>
                  </a:lnTo>
                  <a:close/>
                </a:path>
              </a:pathLst>
            </a:custGeom>
            <a:solidFill>
              <a:srgbClr val="464547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312420" y="2587707"/>
              <a:ext cx="3581400" cy="3877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sz="1600" b="1" spc="300" dirty="0">
                  <a:solidFill>
                    <a:schemeClr val="bg1"/>
                  </a:solidFill>
                  <a:latin typeface="Trebuchet MS"/>
                  <a:cs typeface="Trebuchet MS"/>
                </a:rPr>
                <a:t>      SOAP protocol</a:t>
              </a:r>
            </a:p>
          </p:txBody>
        </p:sp>
      </p:grpSp>
      <p:grpSp>
        <p:nvGrpSpPr>
          <p:cNvPr id="28" name="Групувати 27"/>
          <p:cNvGrpSpPr/>
          <p:nvPr/>
        </p:nvGrpSpPr>
        <p:grpSpPr>
          <a:xfrm>
            <a:off x="-7010400" y="3303271"/>
            <a:ext cx="6928082" cy="587352"/>
            <a:chOff x="-1143000" y="3453765"/>
            <a:chExt cx="6928082" cy="587352"/>
          </a:xfrm>
        </p:grpSpPr>
        <p:sp>
          <p:nvSpPr>
            <p:cNvPr id="16" name="Полілінія 15"/>
            <p:cNvSpPr/>
            <p:nvPr/>
          </p:nvSpPr>
          <p:spPr>
            <a:xfrm>
              <a:off x="-1143000" y="3453765"/>
              <a:ext cx="6928082" cy="587352"/>
            </a:xfrm>
            <a:custGeom>
              <a:avLst/>
              <a:gdLst>
                <a:gd name="connsiteX0" fmla="*/ 0 w 6928082"/>
                <a:gd name="connsiteY0" fmla="*/ 587352 h 587352"/>
                <a:gd name="connsiteX1" fmla="*/ 6928082 w 6928082"/>
                <a:gd name="connsiteY1" fmla="*/ 587352 h 587352"/>
                <a:gd name="connsiteX2" fmla="*/ 6581011 w 6928082"/>
                <a:gd name="connsiteY2" fmla="*/ 0 h 587352"/>
                <a:gd name="connsiteX3" fmla="*/ 0 w 6928082"/>
                <a:gd name="connsiteY3" fmla="*/ 0 h 587352"/>
                <a:gd name="connsiteX4" fmla="*/ 0 w 6928082"/>
                <a:gd name="connsiteY4" fmla="*/ 587352 h 587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28082" h="587352">
                  <a:moveTo>
                    <a:pt x="0" y="587352"/>
                  </a:moveTo>
                  <a:lnTo>
                    <a:pt x="6928082" y="587352"/>
                  </a:lnTo>
                  <a:lnTo>
                    <a:pt x="6581011" y="0"/>
                  </a:lnTo>
                  <a:lnTo>
                    <a:pt x="0" y="0"/>
                  </a:lnTo>
                  <a:lnTo>
                    <a:pt x="0" y="587352"/>
                  </a:lnTo>
                  <a:close/>
                </a:path>
              </a:pathLst>
            </a:custGeom>
            <a:solidFill>
              <a:srgbClr val="464547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312420" y="3566910"/>
              <a:ext cx="3291840" cy="3877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sz="1600" b="1" spc="300" dirty="0">
                  <a:solidFill>
                    <a:schemeClr val="bg1"/>
                  </a:solidFill>
                  <a:latin typeface="Trebuchet MS"/>
                  <a:cs typeface="Trebuchet MS"/>
                </a:rPr>
                <a:t>      How to use SOAP</a:t>
              </a:r>
            </a:p>
          </p:txBody>
        </p:sp>
      </p:grpSp>
      <p:grpSp>
        <p:nvGrpSpPr>
          <p:cNvPr id="29" name="Групувати 28"/>
          <p:cNvGrpSpPr/>
          <p:nvPr/>
        </p:nvGrpSpPr>
        <p:grpSpPr>
          <a:xfrm>
            <a:off x="-7004763" y="4269105"/>
            <a:ext cx="6928082" cy="587352"/>
            <a:chOff x="-609600" y="4419600"/>
            <a:chExt cx="6928082" cy="587352"/>
          </a:xfrm>
        </p:grpSpPr>
        <p:sp>
          <p:nvSpPr>
            <p:cNvPr id="15" name="Полілінія 14"/>
            <p:cNvSpPr/>
            <p:nvPr/>
          </p:nvSpPr>
          <p:spPr>
            <a:xfrm>
              <a:off x="-609600" y="4419600"/>
              <a:ext cx="6928082" cy="587352"/>
            </a:xfrm>
            <a:custGeom>
              <a:avLst/>
              <a:gdLst>
                <a:gd name="connsiteX0" fmla="*/ 0 w 6928082"/>
                <a:gd name="connsiteY0" fmla="*/ 587352 h 587352"/>
                <a:gd name="connsiteX1" fmla="*/ 6928082 w 6928082"/>
                <a:gd name="connsiteY1" fmla="*/ 587352 h 587352"/>
                <a:gd name="connsiteX2" fmla="*/ 6581011 w 6928082"/>
                <a:gd name="connsiteY2" fmla="*/ 0 h 587352"/>
                <a:gd name="connsiteX3" fmla="*/ 0 w 6928082"/>
                <a:gd name="connsiteY3" fmla="*/ 0 h 587352"/>
                <a:gd name="connsiteX4" fmla="*/ 0 w 6928082"/>
                <a:gd name="connsiteY4" fmla="*/ 587352 h 587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28082" h="587352">
                  <a:moveTo>
                    <a:pt x="0" y="587352"/>
                  </a:moveTo>
                  <a:lnTo>
                    <a:pt x="6928082" y="587352"/>
                  </a:lnTo>
                  <a:lnTo>
                    <a:pt x="6581011" y="0"/>
                  </a:lnTo>
                  <a:lnTo>
                    <a:pt x="0" y="0"/>
                  </a:lnTo>
                  <a:lnTo>
                    <a:pt x="0" y="587352"/>
                  </a:lnTo>
                  <a:close/>
                </a:path>
              </a:pathLst>
            </a:custGeom>
            <a:solidFill>
              <a:srgbClr val="464547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312420" y="4534695"/>
              <a:ext cx="4038600" cy="3877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sz="1600" b="1" spc="300" dirty="0">
                  <a:solidFill>
                    <a:schemeClr val="bg1"/>
                  </a:solidFill>
                  <a:latin typeface="Trebuchet MS"/>
                  <a:cs typeface="Trebuchet MS"/>
                </a:rPr>
                <a:t>      When and Why use SOAP</a:t>
              </a:r>
            </a:p>
          </p:txBody>
        </p:sp>
      </p:grpSp>
      <p:grpSp>
        <p:nvGrpSpPr>
          <p:cNvPr id="30" name="Групувати 29"/>
          <p:cNvGrpSpPr/>
          <p:nvPr/>
        </p:nvGrpSpPr>
        <p:grpSpPr>
          <a:xfrm>
            <a:off x="-7004763" y="5234939"/>
            <a:ext cx="6928082" cy="587352"/>
            <a:chOff x="-17929" y="5385434"/>
            <a:chExt cx="6928082" cy="587352"/>
          </a:xfrm>
        </p:grpSpPr>
        <p:sp>
          <p:nvSpPr>
            <p:cNvPr id="14" name="Полілінія 13"/>
            <p:cNvSpPr/>
            <p:nvPr/>
          </p:nvSpPr>
          <p:spPr>
            <a:xfrm>
              <a:off x="-17929" y="5385434"/>
              <a:ext cx="6928082" cy="587352"/>
            </a:xfrm>
            <a:custGeom>
              <a:avLst/>
              <a:gdLst>
                <a:gd name="connsiteX0" fmla="*/ 0 w 6928082"/>
                <a:gd name="connsiteY0" fmla="*/ 587352 h 587352"/>
                <a:gd name="connsiteX1" fmla="*/ 6928082 w 6928082"/>
                <a:gd name="connsiteY1" fmla="*/ 587352 h 587352"/>
                <a:gd name="connsiteX2" fmla="*/ 6581011 w 6928082"/>
                <a:gd name="connsiteY2" fmla="*/ 0 h 587352"/>
                <a:gd name="connsiteX3" fmla="*/ 0 w 6928082"/>
                <a:gd name="connsiteY3" fmla="*/ 0 h 587352"/>
                <a:gd name="connsiteX4" fmla="*/ 0 w 6928082"/>
                <a:gd name="connsiteY4" fmla="*/ 587352 h 587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28082" h="587352">
                  <a:moveTo>
                    <a:pt x="0" y="587352"/>
                  </a:moveTo>
                  <a:lnTo>
                    <a:pt x="6928082" y="587352"/>
                  </a:lnTo>
                  <a:lnTo>
                    <a:pt x="6581011" y="0"/>
                  </a:lnTo>
                  <a:lnTo>
                    <a:pt x="0" y="0"/>
                  </a:lnTo>
                  <a:lnTo>
                    <a:pt x="0" y="587352"/>
                  </a:lnTo>
                  <a:close/>
                </a:path>
              </a:pathLst>
            </a:custGeom>
            <a:solidFill>
              <a:srgbClr val="464547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304800" y="5519579"/>
              <a:ext cx="5029200" cy="3877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sz="1600" b="1" spc="300" dirty="0">
                  <a:solidFill>
                    <a:schemeClr val="bg1"/>
                  </a:solidFill>
                  <a:latin typeface="Trebuchet MS"/>
                  <a:cs typeface="Trebuchet MS"/>
                </a:rPr>
                <a:t>      Conclusions and Questions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60839783"/>
      </p:ext>
    </p:extLst>
  </p:cSld>
  <p:clrMapOvr>
    <a:masterClrMapping/>
  </p:clrMapOvr>
  <p:transition spd="med">
    <p:push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1215 0.00139 L 0.51962 -0.00046 " pathEditMode="relative" rAng="0" ptsTypes="AA">
                                      <p:cBhvr>
                                        <p:cTn id="6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6597" y="-93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42" presetClass="path" presetSubtype="0" accel="50000" decel="5000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animMotion origin="layout" path="M 3.33333E-6 1.11111E-6 L 0.575 1.11111E-6 " pathEditMode="relative" rAng="0" ptsTypes="AA">
                                      <p:cBhvr>
                                        <p:cTn id="8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8750" y="0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63" presetClass="path" presetSubtype="0" accel="50000" decel="5000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-2.77778E-6 2.96296E-6 L 0.63785 -0.00232 " pathEditMode="relative" rAng="0" ptsTypes="AA">
                                      <p:cBhvr>
                                        <p:cTn id="10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1892" y="-116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42" presetClass="path" presetSubtype="0" accel="50000" decel="5000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3.33333E-6 -3.7037E-6 L 0.69548 -0.00162 " pathEditMode="relative" rAng="0" ptsTypes="AA">
                                      <p:cBhvr>
                                        <p:cTn id="12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4774" y="-93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42" presetClass="path" presetSubtype="0" accel="50000" decel="50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2.77778E-6 0 L 0.75382 -0.00625 " pathEditMode="relative" rAng="0" ptsTypes="AA">
                                      <p:cBhvr>
                                        <p:cTn id="1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7691" y="-32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extBox 49"/>
          <p:cNvSpPr txBox="1"/>
          <p:nvPr/>
        </p:nvSpPr>
        <p:spPr>
          <a:xfrm>
            <a:off x="421481" y="938736"/>
            <a:ext cx="8301038" cy="97872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600" b="1" dirty="0"/>
              <a:t>Web Services </a:t>
            </a:r>
            <a:r>
              <a:rPr lang="uk-UA" sz="1600" b="1" dirty="0"/>
              <a:t>- </a:t>
            </a:r>
            <a:r>
              <a:rPr lang="en-US" sz="1600" dirty="0"/>
              <a:t>client and server applications that communicate over WWW and provide a standard means of interoperating between software applications running on a variety of platforms and frameworks</a:t>
            </a:r>
            <a:endParaRPr lang="en-US" sz="1600" dirty="0">
              <a:solidFill>
                <a:srgbClr val="444444"/>
              </a:solidFill>
              <a:latin typeface="Trebuchet MS"/>
              <a:cs typeface="Trebuchet MS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421481" y="952104"/>
            <a:ext cx="8301038" cy="95199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600" b="1" dirty="0"/>
              <a:t>Distributed computing</a:t>
            </a:r>
            <a:r>
              <a:rPr lang="uk-UA" sz="1600" b="1" dirty="0"/>
              <a:t> - </a:t>
            </a:r>
            <a:r>
              <a:rPr lang="en-US" sz="1600" dirty="0"/>
              <a:t>model in which components of a software system are shared among multiple computers to improve efficiency and performance. </a:t>
            </a:r>
          </a:p>
          <a:p>
            <a:pPr>
              <a:lnSpc>
                <a:spcPct val="120000"/>
              </a:lnSpc>
            </a:pPr>
            <a:endParaRPr lang="en-US" sz="1600" dirty="0">
              <a:solidFill>
                <a:srgbClr val="444444"/>
              </a:solidFill>
              <a:latin typeface="Trebuchet MS"/>
              <a:cs typeface="Trebuchet MS"/>
            </a:endParaRPr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0" y="0"/>
            <a:ext cx="9144000" cy="590550"/>
          </a:xfrm>
          <a:prstGeom prst="rect">
            <a:avLst/>
          </a:prstGeom>
          <a:solidFill>
            <a:srgbClr val="464547"/>
          </a:solidFill>
          <a:ln>
            <a:noFill/>
          </a:ln>
          <a:effectLst>
            <a:outerShdw blurRad="38100" dist="25400" dir="5400000" algn="t" rotWithShape="0">
              <a:schemeClr val="tx1">
                <a:lumMod val="50000"/>
                <a:alpha val="70000"/>
              </a:schemeClr>
            </a:outerShdw>
          </a:effectLst>
        </p:spPr>
        <p:txBody>
          <a:bodyPr/>
          <a:lstStyle/>
          <a:p>
            <a:r>
              <a:rPr lang="en-US" dirty="0">
                <a:solidFill>
                  <a:srgbClr val="39C2D7"/>
                </a:solidFill>
                <a:effectLst>
                  <a:outerShdw blurRad="50800" dist="38100" dir="5400000" algn="ctr" rotWithShape="0">
                    <a:schemeClr val="tx1">
                      <a:lumMod val="75000"/>
                    </a:schemeClr>
                  </a:outerShdw>
                </a:effectLst>
              </a:rPr>
              <a:t>Boring theory…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1481" y="981452"/>
            <a:ext cx="8301038" cy="909993"/>
          </a:xfrm>
          <a:prstGeom prst="rect">
            <a:avLst/>
          </a:prstGeom>
          <a:solidFill>
            <a:srgbClr val="FFFFFF"/>
          </a:solidFill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600" b="1" dirty="0"/>
              <a:t>A long time ago in a galaxy far, far away...</a:t>
            </a:r>
            <a:br>
              <a:rPr lang="en-US" sz="1600" dirty="0"/>
            </a:br>
            <a:r>
              <a:rPr lang="en-US" sz="1600" dirty="0"/>
              <a:t>	an application was created, and with it came the first users…</a:t>
            </a:r>
          </a:p>
          <a:p>
            <a:pPr>
              <a:lnSpc>
                <a:spcPct val="120000"/>
              </a:lnSpc>
            </a:pPr>
            <a:endParaRPr lang="en-US" dirty="0">
              <a:solidFill>
                <a:srgbClr val="444444"/>
              </a:solidFill>
              <a:latin typeface="Trebuchet MS"/>
              <a:cs typeface="Trebuchet MS"/>
            </a:endParaRPr>
          </a:p>
        </p:txBody>
      </p:sp>
      <p:grpSp>
        <p:nvGrpSpPr>
          <p:cNvPr id="17" name="Групувати 16"/>
          <p:cNvGrpSpPr/>
          <p:nvPr/>
        </p:nvGrpSpPr>
        <p:grpSpPr>
          <a:xfrm>
            <a:off x="0" y="1818832"/>
            <a:ext cx="9144000" cy="4267200"/>
            <a:chOff x="0" y="1818832"/>
            <a:chExt cx="9144000" cy="4267200"/>
          </a:xfrm>
        </p:grpSpPr>
        <p:grpSp>
          <p:nvGrpSpPr>
            <p:cNvPr id="61" name="Групувати 60"/>
            <p:cNvGrpSpPr/>
            <p:nvPr/>
          </p:nvGrpSpPr>
          <p:grpSpPr>
            <a:xfrm>
              <a:off x="0" y="1818832"/>
              <a:ext cx="9144000" cy="4267200"/>
              <a:chOff x="0" y="1818832"/>
              <a:chExt cx="9144000" cy="4267200"/>
            </a:xfrm>
          </p:grpSpPr>
          <p:grpSp>
            <p:nvGrpSpPr>
              <p:cNvPr id="20" name="Групувати 19"/>
              <p:cNvGrpSpPr/>
              <p:nvPr/>
            </p:nvGrpSpPr>
            <p:grpSpPr>
              <a:xfrm>
                <a:off x="0" y="1818832"/>
                <a:ext cx="9144000" cy="4267200"/>
                <a:chOff x="0" y="1835354"/>
                <a:chExt cx="9144000" cy="4267200"/>
              </a:xfrm>
            </p:grpSpPr>
            <p:sp>
              <p:nvSpPr>
                <p:cNvPr id="3" name="Прямокутник 2"/>
                <p:cNvSpPr/>
                <p:nvPr/>
              </p:nvSpPr>
              <p:spPr>
                <a:xfrm>
                  <a:off x="0" y="1835354"/>
                  <a:ext cx="9144000" cy="42672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13" name="Групувати 12"/>
                <p:cNvGrpSpPr/>
                <p:nvPr/>
              </p:nvGrpSpPr>
              <p:grpSpPr>
                <a:xfrm>
                  <a:off x="1407731" y="2067619"/>
                  <a:ext cx="6579155" cy="3405374"/>
                  <a:chOff x="795750" y="1903903"/>
                  <a:chExt cx="6579155" cy="3405374"/>
                </a:xfrm>
              </p:grpSpPr>
              <p:sp>
                <p:nvSpPr>
                  <p:cNvPr id="9" name="TextBox 8"/>
                  <p:cNvSpPr txBox="1"/>
                  <p:nvPr/>
                </p:nvSpPr>
                <p:spPr>
                  <a:xfrm>
                    <a:off x="2398183" y="1903903"/>
                    <a:ext cx="2608601" cy="387798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>
                      <a:lnSpc>
                        <a:spcPct val="120000"/>
                      </a:lnSpc>
                    </a:pPr>
                    <a:r>
                      <a:rPr lang="en-US" sz="1600" b="1" dirty="0">
                        <a:solidFill>
                          <a:srgbClr val="444444"/>
                        </a:solidFill>
                        <a:latin typeface="Trebuchet MS"/>
                        <a:cs typeface="Trebuchet MS"/>
                      </a:rPr>
                      <a:t>Traditional Application</a:t>
                    </a:r>
                  </a:p>
                </p:txBody>
              </p:sp>
              <p:sp>
                <p:nvSpPr>
                  <p:cNvPr id="10" name="TextBox 9"/>
                  <p:cNvSpPr txBox="1"/>
                  <p:nvPr/>
                </p:nvSpPr>
                <p:spPr>
                  <a:xfrm>
                    <a:off x="795750" y="4931021"/>
                    <a:ext cx="685800" cy="31906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>
                      <a:lnSpc>
                        <a:spcPct val="120000"/>
                      </a:lnSpc>
                    </a:pPr>
                    <a:r>
                      <a:rPr lang="en-US" dirty="0">
                        <a:solidFill>
                          <a:srgbClr val="444444"/>
                        </a:solidFill>
                        <a:latin typeface="Trebuchet MS"/>
                        <a:cs typeface="Trebuchet MS"/>
                      </a:rPr>
                      <a:t>Dude</a:t>
                    </a:r>
                  </a:p>
                </p:txBody>
              </p:sp>
              <p:sp>
                <p:nvSpPr>
                  <p:cNvPr id="11" name="TextBox 10"/>
                  <p:cNvSpPr txBox="1"/>
                  <p:nvPr/>
                </p:nvSpPr>
                <p:spPr>
                  <a:xfrm>
                    <a:off x="5624686" y="4967645"/>
                    <a:ext cx="1750219" cy="3416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>
                      <a:lnSpc>
                        <a:spcPct val="120000"/>
                      </a:lnSpc>
                    </a:pPr>
                    <a:r>
                      <a:rPr lang="en-US" dirty="0">
                        <a:solidFill>
                          <a:srgbClr val="444444"/>
                        </a:solidFill>
                        <a:latin typeface="Trebuchet MS"/>
                        <a:cs typeface="Trebuchet MS"/>
                      </a:rPr>
                      <a:t>Single Application</a:t>
                    </a:r>
                  </a:p>
                </p:txBody>
              </p:sp>
            </p:grpSp>
          </p:grpSp>
          <p:cxnSp>
            <p:nvCxnSpPr>
              <p:cNvPr id="53" name="Пряма зі стрілкою 52"/>
              <p:cNvCxnSpPr/>
              <p:nvPr/>
            </p:nvCxnSpPr>
            <p:spPr>
              <a:xfrm>
                <a:off x="3429000" y="4051273"/>
                <a:ext cx="1524000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3"/>
              </a:lnRef>
              <a:fillRef idx="0">
                <a:schemeClr val="accent3"/>
              </a:fillRef>
              <a:effectRef idx="1">
                <a:schemeClr val="accent3"/>
              </a:effectRef>
              <a:fontRef idx="minor">
                <a:schemeClr val="tx1"/>
              </a:fontRef>
            </p:style>
          </p:cxnSp>
        </p:grpSp>
        <p:pic>
          <p:nvPicPr>
            <p:cNvPr id="6" name="Рисунок 5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87497" y="3247448"/>
              <a:ext cx="1482581" cy="1482581"/>
            </a:xfrm>
            <a:prstGeom prst="rect">
              <a:avLst/>
            </a:prstGeom>
          </p:spPr>
        </p:pic>
        <p:pic>
          <p:nvPicPr>
            <p:cNvPr id="8" name="Рисунок 7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54596" y="3019498"/>
              <a:ext cx="1692658" cy="1692658"/>
            </a:xfrm>
            <a:prstGeom prst="rect">
              <a:avLst/>
            </a:prstGeom>
          </p:spPr>
        </p:pic>
      </p:grpSp>
      <p:grpSp>
        <p:nvGrpSpPr>
          <p:cNvPr id="19" name="Групувати 18"/>
          <p:cNvGrpSpPr/>
          <p:nvPr/>
        </p:nvGrpSpPr>
        <p:grpSpPr>
          <a:xfrm>
            <a:off x="9144000" y="1818832"/>
            <a:ext cx="9144000" cy="4267200"/>
            <a:chOff x="9144000" y="1818832"/>
            <a:chExt cx="9144000" cy="4267200"/>
          </a:xfrm>
        </p:grpSpPr>
        <p:grpSp>
          <p:nvGrpSpPr>
            <p:cNvPr id="59" name="Групувати 58"/>
            <p:cNvGrpSpPr/>
            <p:nvPr/>
          </p:nvGrpSpPr>
          <p:grpSpPr>
            <a:xfrm>
              <a:off x="9144000" y="1818832"/>
              <a:ext cx="9144000" cy="4267200"/>
              <a:chOff x="9396213" y="1835354"/>
              <a:chExt cx="9144000" cy="4267200"/>
            </a:xfrm>
          </p:grpSpPr>
          <p:grpSp>
            <p:nvGrpSpPr>
              <p:cNvPr id="58" name="Групувати 57"/>
              <p:cNvGrpSpPr/>
              <p:nvPr/>
            </p:nvGrpSpPr>
            <p:grpSpPr>
              <a:xfrm>
                <a:off x="9396213" y="1835354"/>
                <a:ext cx="9144000" cy="4267200"/>
                <a:chOff x="9144000" y="1835354"/>
                <a:chExt cx="9144000" cy="4267200"/>
              </a:xfrm>
            </p:grpSpPr>
            <p:sp>
              <p:nvSpPr>
                <p:cNvPr id="22" name="Прямокутник 21"/>
                <p:cNvSpPr/>
                <p:nvPr/>
              </p:nvSpPr>
              <p:spPr>
                <a:xfrm>
                  <a:off x="9144000" y="1835354"/>
                  <a:ext cx="9144000" cy="42672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23" name="Групувати 22"/>
                <p:cNvGrpSpPr/>
                <p:nvPr/>
              </p:nvGrpSpPr>
              <p:grpSpPr>
                <a:xfrm>
                  <a:off x="11037236" y="2057357"/>
                  <a:ext cx="4705095" cy="3664935"/>
                  <a:chOff x="1281255" y="1893641"/>
                  <a:chExt cx="4705095" cy="3664935"/>
                </a:xfrm>
              </p:grpSpPr>
              <p:sp>
                <p:nvSpPr>
                  <p:cNvPr id="25" name="TextBox 24"/>
                  <p:cNvSpPr txBox="1"/>
                  <p:nvPr/>
                </p:nvSpPr>
                <p:spPr>
                  <a:xfrm>
                    <a:off x="1281255" y="1893641"/>
                    <a:ext cx="2426796" cy="387798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>
                      <a:lnSpc>
                        <a:spcPct val="120000"/>
                      </a:lnSpc>
                    </a:pPr>
                    <a:r>
                      <a:rPr lang="en-US" sz="1600" b="1" dirty="0">
                        <a:solidFill>
                          <a:srgbClr val="444444"/>
                        </a:solidFill>
                        <a:latin typeface="Trebuchet MS"/>
                        <a:cs typeface="Trebuchet MS"/>
                      </a:rPr>
                      <a:t>Distributed Computing</a:t>
                    </a:r>
                  </a:p>
                </p:txBody>
              </p:sp>
              <p:sp>
                <p:nvSpPr>
                  <p:cNvPr id="26" name="TextBox 25"/>
                  <p:cNvSpPr txBox="1"/>
                  <p:nvPr/>
                </p:nvSpPr>
                <p:spPr>
                  <a:xfrm>
                    <a:off x="1420572" y="4908451"/>
                    <a:ext cx="841806" cy="3416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>
                      <a:lnSpc>
                        <a:spcPct val="120000"/>
                      </a:lnSpc>
                    </a:pPr>
                    <a:r>
                      <a:rPr lang="en-US" dirty="0">
                        <a:solidFill>
                          <a:srgbClr val="444444"/>
                        </a:solidFill>
                        <a:cs typeface="Trebuchet MS"/>
                      </a:rPr>
                      <a:t>Dude</a:t>
                    </a:r>
                    <a:endParaRPr lang="en-US" dirty="0">
                      <a:solidFill>
                        <a:srgbClr val="444444"/>
                      </a:solidFill>
                      <a:latin typeface="Trebuchet MS"/>
                      <a:cs typeface="Trebuchet MS"/>
                    </a:endParaRPr>
                  </a:p>
                </p:txBody>
              </p:sp>
              <p:sp>
                <p:nvSpPr>
                  <p:cNvPr id="27" name="TextBox 26"/>
                  <p:cNvSpPr txBox="1"/>
                  <p:nvPr/>
                </p:nvSpPr>
                <p:spPr>
                  <a:xfrm>
                    <a:off x="4035630" y="4967645"/>
                    <a:ext cx="1950720" cy="59093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>
                      <a:lnSpc>
                        <a:spcPct val="120000"/>
                      </a:lnSpc>
                    </a:pPr>
                    <a:r>
                      <a:rPr lang="en-US" dirty="0">
                        <a:solidFill>
                          <a:srgbClr val="444444"/>
                        </a:solidFill>
                        <a:latin typeface="Trebuchet MS"/>
                        <a:cs typeface="Trebuchet MS"/>
                      </a:rPr>
                      <a:t>Separated Applications but same platform</a:t>
                    </a:r>
                  </a:p>
                </p:txBody>
              </p:sp>
            </p:grpSp>
          </p:grpSp>
          <p:cxnSp>
            <p:nvCxnSpPr>
              <p:cNvPr id="44" name="Пряма зі стрілкою 43"/>
              <p:cNvCxnSpPr/>
              <p:nvPr/>
            </p:nvCxnSpPr>
            <p:spPr>
              <a:xfrm flipV="1">
                <a:off x="15026344" y="2889162"/>
                <a:ext cx="1037524" cy="374808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3"/>
              </a:lnRef>
              <a:fillRef idx="0">
                <a:schemeClr val="accent3"/>
              </a:fillRef>
              <a:effectRef idx="1">
                <a:schemeClr val="accent3"/>
              </a:effectRef>
              <a:fontRef idx="minor">
                <a:schemeClr val="tx1"/>
              </a:fontRef>
            </p:style>
          </p:cxnSp>
          <p:cxnSp>
            <p:nvCxnSpPr>
              <p:cNvPr id="46" name="Пряма зі стрілкою 45"/>
              <p:cNvCxnSpPr/>
              <p:nvPr/>
            </p:nvCxnSpPr>
            <p:spPr>
              <a:xfrm>
                <a:off x="16482813" y="3601114"/>
                <a:ext cx="0" cy="59173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3"/>
              </a:lnRef>
              <a:fillRef idx="0">
                <a:schemeClr val="accent3"/>
              </a:fillRef>
              <a:effectRef idx="1">
                <a:schemeClr val="accent3"/>
              </a:effectRef>
              <a:fontRef idx="minor">
                <a:schemeClr val="tx1"/>
              </a:fontRef>
            </p:style>
          </p:cxnSp>
          <p:cxnSp>
            <p:nvCxnSpPr>
              <p:cNvPr id="48" name="Пряма зі стрілкою 47"/>
              <p:cNvCxnSpPr/>
              <p:nvPr/>
            </p:nvCxnSpPr>
            <p:spPr>
              <a:xfrm flipH="1" flipV="1">
                <a:off x="14938488" y="4612595"/>
                <a:ext cx="990601" cy="38100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3"/>
              </a:lnRef>
              <a:fillRef idx="0">
                <a:schemeClr val="accent3"/>
              </a:fillRef>
              <a:effectRef idx="1">
                <a:schemeClr val="accent3"/>
              </a:effectRef>
              <a:fontRef idx="minor">
                <a:schemeClr val="tx1"/>
              </a:fontRef>
            </p:style>
          </p:cxnSp>
          <p:sp>
            <p:nvSpPr>
              <p:cNvPr id="57" name="TextBox 56"/>
              <p:cNvSpPr txBox="1"/>
              <p:nvPr/>
            </p:nvSpPr>
            <p:spPr>
              <a:xfrm>
                <a:off x="15312686" y="3896979"/>
                <a:ext cx="923208" cy="3416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US" dirty="0">
                    <a:solidFill>
                      <a:srgbClr val="444444"/>
                    </a:solidFill>
                    <a:latin typeface="Trebuchet MS"/>
                    <a:cs typeface="Trebuchet MS"/>
                  </a:rPr>
                  <a:t>EJB(RMI)</a:t>
                </a:r>
              </a:p>
            </p:txBody>
          </p:sp>
          <p:cxnSp>
            <p:nvCxnSpPr>
              <p:cNvPr id="51" name="Пряма зі стрілкою 50"/>
              <p:cNvCxnSpPr/>
              <p:nvPr/>
            </p:nvCxnSpPr>
            <p:spPr>
              <a:xfrm>
                <a:off x="12459169" y="3968954"/>
                <a:ext cx="1257076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3"/>
              </a:lnRef>
              <a:fillRef idx="0">
                <a:schemeClr val="accent3"/>
              </a:fillRef>
              <a:effectRef idx="1">
                <a:schemeClr val="accent3"/>
              </a:effectRef>
              <a:fontRef idx="minor">
                <a:schemeClr val="tx1"/>
              </a:fontRef>
            </p:style>
          </p:cxnSp>
        </p:grpSp>
        <p:pic>
          <p:nvPicPr>
            <p:cNvPr id="52" name="Рисунок 51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4375" y="3294813"/>
              <a:ext cx="1482581" cy="1482581"/>
            </a:xfrm>
            <a:prstGeom prst="rect">
              <a:avLst/>
            </a:prstGeom>
          </p:spPr>
        </p:pic>
        <p:pic>
          <p:nvPicPr>
            <p:cNvPr id="56" name="Рисунок 55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3660971" y="3313197"/>
              <a:ext cx="1207114" cy="1207114"/>
            </a:xfrm>
            <a:prstGeom prst="rect">
              <a:avLst/>
            </a:prstGeom>
          </p:spPr>
        </p:pic>
        <p:pic>
          <p:nvPicPr>
            <p:cNvPr id="62" name="Рисунок 61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5811655" y="2422234"/>
              <a:ext cx="1207114" cy="1207114"/>
            </a:xfrm>
            <a:prstGeom prst="rect">
              <a:avLst/>
            </a:prstGeom>
          </p:spPr>
        </p:pic>
        <p:pic>
          <p:nvPicPr>
            <p:cNvPr id="63" name="Рисунок 62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5817526" y="4232749"/>
              <a:ext cx="1207114" cy="1207114"/>
            </a:xfrm>
            <a:prstGeom prst="rect">
              <a:avLst/>
            </a:prstGeom>
          </p:spPr>
        </p:pic>
      </p:grpSp>
      <p:grpSp>
        <p:nvGrpSpPr>
          <p:cNvPr id="16" name="Групувати 15"/>
          <p:cNvGrpSpPr/>
          <p:nvPr/>
        </p:nvGrpSpPr>
        <p:grpSpPr>
          <a:xfrm>
            <a:off x="9144000" y="1822771"/>
            <a:ext cx="9144000" cy="4267200"/>
            <a:chOff x="9144000" y="1818832"/>
            <a:chExt cx="9144000" cy="4267200"/>
          </a:xfrm>
        </p:grpSpPr>
        <p:grpSp>
          <p:nvGrpSpPr>
            <p:cNvPr id="60" name="Групувати 59"/>
            <p:cNvGrpSpPr/>
            <p:nvPr/>
          </p:nvGrpSpPr>
          <p:grpSpPr>
            <a:xfrm>
              <a:off x="9144000" y="1818832"/>
              <a:ext cx="9144000" cy="4267200"/>
              <a:chOff x="19144023" y="1818832"/>
              <a:chExt cx="9144000" cy="4267200"/>
            </a:xfrm>
          </p:grpSpPr>
          <p:grpSp>
            <p:nvGrpSpPr>
              <p:cNvPr id="29" name="Групувати 28"/>
              <p:cNvGrpSpPr/>
              <p:nvPr/>
            </p:nvGrpSpPr>
            <p:grpSpPr>
              <a:xfrm>
                <a:off x="19144023" y="1818832"/>
                <a:ext cx="9144000" cy="4267200"/>
                <a:chOff x="0" y="1835354"/>
                <a:chExt cx="9144000" cy="4267200"/>
              </a:xfrm>
            </p:grpSpPr>
            <p:sp>
              <p:nvSpPr>
                <p:cNvPr id="30" name="Прямокутник 29"/>
                <p:cNvSpPr/>
                <p:nvPr/>
              </p:nvSpPr>
              <p:spPr>
                <a:xfrm>
                  <a:off x="0" y="1835354"/>
                  <a:ext cx="9144000" cy="42672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31" name="Групувати 30"/>
                <p:cNvGrpSpPr/>
                <p:nvPr/>
              </p:nvGrpSpPr>
              <p:grpSpPr>
                <a:xfrm>
                  <a:off x="1080209" y="2220934"/>
                  <a:ext cx="7091122" cy="3252059"/>
                  <a:chOff x="468228" y="2057218"/>
                  <a:chExt cx="7091122" cy="3252059"/>
                </a:xfrm>
              </p:grpSpPr>
              <p:sp>
                <p:nvSpPr>
                  <p:cNvPr id="33" name="TextBox 32"/>
                  <p:cNvSpPr txBox="1"/>
                  <p:nvPr/>
                </p:nvSpPr>
                <p:spPr>
                  <a:xfrm>
                    <a:off x="3295153" y="2057218"/>
                    <a:ext cx="1350666" cy="3416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>
                      <a:lnSpc>
                        <a:spcPct val="120000"/>
                      </a:lnSpc>
                    </a:pPr>
                    <a:r>
                      <a:rPr lang="en-US" b="1" dirty="0">
                        <a:solidFill>
                          <a:srgbClr val="444444"/>
                        </a:solidFill>
                        <a:latin typeface="Trebuchet MS"/>
                        <a:cs typeface="Trebuchet MS"/>
                      </a:rPr>
                      <a:t>Web Services</a:t>
                    </a:r>
                  </a:p>
                </p:txBody>
              </p:sp>
              <p:sp>
                <p:nvSpPr>
                  <p:cNvPr id="34" name="TextBox 33"/>
                  <p:cNvSpPr txBox="1"/>
                  <p:nvPr/>
                </p:nvSpPr>
                <p:spPr>
                  <a:xfrm>
                    <a:off x="468228" y="4967645"/>
                    <a:ext cx="1107281" cy="3416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>
                      <a:lnSpc>
                        <a:spcPct val="120000"/>
                      </a:lnSpc>
                    </a:pPr>
                    <a:r>
                      <a:rPr lang="en-US" dirty="0">
                        <a:solidFill>
                          <a:srgbClr val="444444"/>
                        </a:solidFill>
                        <a:latin typeface="Trebuchet MS"/>
                        <a:cs typeface="Trebuchet MS"/>
                      </a:rPr>
                      <a:t>Application</a:t>
                    </a:r>
                  </a:p>
                </p:txBody>
              </p:sp>
              <p:sp>
                <p:nvSpPr>
                  <p:cNvPr id="35" name="TextBox 34"/>
                  <p:cNvSpPr txBox="1"/>
                  <p:nvPr/>
                </p:nvSpPr>
                <p:spPr>
                  <a:xfrm>
                    <a:off x="6111550" y="4973607"/>
                    <a:ext cx="1447800" cy="31906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>
                      <a:lnSpc>
                        <a:spcPct val="120000"/>
                      </a:lnSpc>
                    </a:pPr>
                    <a:r>
                      <a:rPr lang="en-US" dirty="0">
                        <a:solidFill>
                          <a:srgbClr val="444444"/>
                        </a:solidFill>
                        <a:latin typeface="Trebuchet MS"/>
                        <a:cs typeface="Trebuchet MS"/>
                      </a:rPr>
                      <a:t>Application</a:t>
                    </a:r>
                  </a:p>
                </p:txBody>
              </p:sp>
            </p:grpSp>
          </p:grpSp>
          <p:cxnSp>
            <p:nvCxnSpPr>
              <p:cNvPr id="40" name="Пряма зі стрілкою 39"/>
              <p:cNvCxnSpPr/>
              <p:nvPr/>
            </p:nvCxnSpPr>
            <p:spPr>
              <a:xfrm>
                <a:off x="22663861" y="3751674"/>
                <a:ext cx="2158841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3"/>
              </a:lnRef>
              <a:fillRef idx="0">
                <a:schemeClr val="accent3"/>
              </a:fillRef>
              <a:effectRef idx="1">
                <a:schemeClr val="accent3"/>
              </a:effectRef>
              <a:fontRef idx="minor">
                <a:schemeClr val="tx1"/>
              </a:fontRef>
            </p:style>
          </p:cxnSp>
          <p:cxnSp>
            <p:nvCxnSpPr>
              <p:cNvPr id="42" name="Пряма зі стрілкою 41"/>
              <p:cNvCxnSpPr/>
              <p:nvPr/>
            </p:nvCxnSpPr>
            <p:spPr>
              <a:xfrm flipH="1">
                <a:off x="22592767" y="4571724"/>
                <a:ext cx="2135981" cy="1384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3"/>
              </a:lnRef>
              <a:fillRef idx="0">
                <a:schemeClr val="accent3"/>
              </a:fillRef>
              <a:effectRef idx="1">
                <a:schemeClr val="accent3"/>
              </a:effectRef>
              <a:fontRef idx="minor">
                <a:schemeClr val="tx1"/>
              </a:fontRef>
            </p:style>
          </p:cxnSp>
          <p:sp>
            <p:nvSpPr>
              <p:cNvPr id="54" name="TextBox 53"/>
              <p:cNvSpPr txBox="1"/>
              <p:nvPr/>
            </p:nvSpPr>
            <p:spPr>
              <a:xfrm>
                <a:off x="23351791" y="3406054"/>
                <a:ext cx="617934" cy="3416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US" dirty="0">
                    <a:solidFill>
                      <a:srgbClr val="444444"/>
                    </a:solidFill>
                    <a:latin typeface="Trebuchet MS"/>
                    <a:cs typeface="Trebuchet MS"/>
                  </a:rPr>
                  <a:t>XML</a:t>
                </a:r>
              </a:p>
            </p:txBody>
          </p:sp>
          <p:sp>
            <p:nvSpPr>
              <p:cNvPr id="55" name="TextBox 54"/>
              <p:cNvSpPr txBox="1"/>
              <p:nvPr/>
            </p:nvSpPr>
            <p:spPr>
              <a:xfrm>
                <a:off x="23356097" y="4264052"/>
                <a:ext cx="719852" cy="3416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US" dirty="0">
                    <a:solidFill>
                      <a:srgbClr val="444444"/>
                    </a:solidFill>
                    <a:latin typeface="Trebuchet MS"/>
                    <a:cs typeface="Trebuchet MS"/>
                  </a:rPr>
                  <a:t>JSON</a:t>
                </a:r>
              </a:p>
            </p:txBody>
          </p:sp>
        </p:grpSp>
        <p:pic>
          <p:nvPicPr>
            <p:cNvPr id="15" name="Рисунок 14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0004080" y="3326898"/>
              <a:ext cx="1787941" cy="1787941"/>
            </a:xfrm>
            <a:prstGeom prst="rect">
              <a:avLst/>
            </a:prstGeom>
          </p:spPr>
        </p:pic>
        <p:pic>
          <p:nvPicPr>
            <p:cNvPr id="49" name="Рисунок 48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5694496" y="3290274"/>
              <a:ext cx="1787941" cy="178794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06318858"/>
      </p:ext>
    </p:extLst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1.11111E-6 L -0.99167 1.11111E-6 " pathEditMode="relative" rAng="0" ptsTypes="AA">
                                      <p:cBhvr>
                                        <p:cTn id="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9583" y="0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1.11111E-6 L -1 -4.81481E-6 " pathEditMode="relative" rAng="0" ptsTypes="AA">
                                      <p:cBhvr>
                                        <p:cTn id="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9601" y="46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9"/>
                                            </p:cond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1.11111E-6 L -1 1.11111E-6 " pathEditMode="relative" rAng="0" ptsTypes="AA">
                                      <p:cBhvr>
                                        <p:cTn id="1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0000" y="0"/>
                                    </p:animMotion>
                                  </p:childTnLst>
                                </p:cTn>
                              </p:par>
                              <p:par>
                                <p:cTn id="19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 -3.33333E-6 L -2 -0.00417 " pathEditMode="relative" rAng="0" ptsTypes="AA">
                                      <p:cBhvr>
                                        <p:cTn id="20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0000" y="69"/>
                                    </p:animMotion>
                                  </p:childTnLst>
                                </p:cTn>
                              </p:par>
                              <p:par>
                                <p:cTn id="2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6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6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 animBg="1"/>
      <p:bldP spid="47" grpId="0" animBg="1"/>
      <p:bldP spid="47" grpId="1" animBg="1"/>
      <p:bldP spid="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-7513" y="152400"/>
            <a:ext cx="9144000" cy="5905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txBody>
          <a:bodyPr/>
          <a:lstStyle/>
          <a:p>
            <a:pPr algn="ctr"/>
            <a:r>
              <a:rPr lang="en-US" dirty="0">
                <a:solidFill>
                  <a:srgbClr val="FFFFFF"/>
                </a:solidFill>
              </a:rPr>
              <a:t>Choose your path Neo!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025" y="914400"/>
            <a:ext cx="7219950" cy="555470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15000" y="3886200"/>
            <a:ext cx="1828800" cy="1089529"/>
          </a:xfrm>
          <a:prstGeom prst="rect">
            <a:avLst/>
          </a:prstGeom>
          <a:noFill/>
          <a:effectLst>
            <a:outerShdw blurRad="50800" dist="50800" dir="5400000" algn="ctr" rotWithShape="0">
              <a:srgbClr val="5885D6">
                <a:alpha val="50000"/>
              </a:srgbClr>
            </a:outerShdw>
          </a:effectLst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5400" b="1" dirty="0">
                <a:solidFill>
                  <a:schemeClr val="bg1"/>
                </a:solidFill>
                <a:latin typeface="Trebuchet MS"/>
                <a:cs typeface="Trebuchet MS"/>
              </a:rPr>
              <a:t>REST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3886200"/>
            <a:ext cx="1905000" cy="1089529"/>
          </a:xfrm>
          <a:prstGeom prst="rect">
            <a:avLst/>
          </a:prstGeom>
          <a:noFill/>
          <a:effectLst>
            <a:outerShdw blurRad="50800" dist="38100" dir="5400000" algn="t" rotWithShape="0">
              <a:srgbClr val="FF0000">
                <a:alpha val="50000"/>
              </a:srgbClr>
            </a:outerShdw>
          </a:effectLst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5400" b="1" dirty="0">
                <a:solidFill>
                  <a:schemeClr val="bg1"/>
                </a:solidFill>
                <a:latin typeface="Trebuchet MS"/>
                <a:cs typeface="Trebuchet MS"/>
              </a:rPr>
              <a:t>SOAP</a:t>
            </a:r>
          </a:p>
        </p:txBody>
      </p:sp>
      <p:sp>
        <p:nvSpPr>
          <p:cNvPr id="8" name="Прямокутник 7"/>
          <p:cNvSpPr/>
          <p:nvPr/>
        </p:nvSpPr>
        <p:spPr>
          <a:xfrm>
            <a:off x="0" y="6553200"/>
            <a:ext cx="9151513" cy="3048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24488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62828"/>
                                      </p:to>
                                    </p:animClr>
                                    <p:animClr clrSpc="rgb" dir="cw">
                                      <p:cBhvr>
                                        <p:cTn id="7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62828"/>
                                      </p:to>
                                    </p:animClr>
                                    <p:set>
                                      <p:cBhvr>
                                        <p:cTn id="8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0" y="0"/>
            <a:ext cx="9144000" cy="590550"/>
          </a:xfrm>
          <a:prstGeom prst="rect">
            <a:avLst/>
          </a:prstGeom>
          <a:solidFill>
            <a:srgbClr val="464547"/>
          </a:solidFill>
          <a:ln>
            <a:noFill/>
          </a:ln>
          <a:effectLst>
            <a:outerShdw blurRad="38100" dist="25400" dir="5400000" algn="t" rotWithShape="0">
              <a:schemeClr val="tx1">
                <a:lumMod val="50000"/>
                <a:alpha val="70000"/>
              </a:schemeClr>
            </a:outerShdw>
          </a:effectLst>
        </p:spPr>
        <p:txBody>
          <a:bodyPr/>
          <a:lstStyle/>
          <a:p>
            <a:r>
              <a:rPr lang="en-US" dirty="0">
                <a:solidFill>
                  <a:srgbClr val="39C2D7"/>
                </a:solidFill>
                <a:effectLst>
                  <a:outerShdw blurRad="50800" dist="38100" dir="5400000" algn="ctr" rotWithShape="0">
                    <a:schemeClr val="tx1">
                      <a:lumMod val="75000"/>
                    </a:schemeClr>
                  </a:outerShdw>
                </a:effectLst>
              </a:rPr>
              <a:t>SOAP - Simple Object Access Protocol</a:t>
            </a:r>
          </a:p>
        </p:txBody>
      </p:sp>
      <p:grpSp>
        <p:nvGrpSpPr>
          <p:cNvPr id="12" name="Групувати 11"/>
          <p:cNvGrpSpPr/>
          <p:nvPr/>
        </p:nvGrpSpPr>
        <p:grpSpPr>
          <a:xfrm>
            <a:off x="598550" y="1492890"/>
            <a:ext cx="7946900" cy="3840725"/>
            <a:chOff x="598550" y="1583069"/>
            <a:chExt cx="7946900" cy="3840725"/>
          </a:xfrm>
        </p:grpSpPr>
        <p:grpSp>
          <p:nvGrpSpPr>
            <p:cNvPr id="24" name="Групувати 23"/>
            <p:cNvGrpSpPr/>
            <p:nvPr/>
          </p:nvGrpSpPr>
          <p:grpSpPr>
            <a:xfrm>
              <a:off x="598550" y="3276600"/>
              <a:ext cx="7946900" cy="2147194"/>
              <a:chOff x="609600" y="1517019"/>
              <a:chExt cx="7946900" cy="2147194"/>
            </a:xfrm>
          </p:grpSpPr>
          <p:grpSp>
            <p:nvGrpSpPr>
              <p:cNvPr id="14" name="Групувати 13"/>
              <p:cNvGrpSpPr/>
              <p:nvPr/>
            </p:nvGrpSpPr>
            <p:grpSpPr>
              <a:xfrm>
                <a:off x="609600" y="1517019"/>
                <a:ext cx="7850191" cy="768400"/>
                <a:chOff x="577247" y="3255352"/>
                <a:chExt cx="7687258" cy="768400"/>
              </a:xfrm>
            </p:grpSpPr>
            <p:grpSp>
              <p:nvGrpSpPr>
                <p:cNvPr id="8" name="Групувати 7"/>
                <p:cNvGrpSpPr/>
                <p:nvPr/>
              </p:nvGrpSpPr>
              <p:grpSpPr>
                <a:xfrm>
                  <a:off x="577247" y="3255352"/>
                  <a:ext cx="7687258" cy="768400"/>
                  <a:chOff x="655828" y="3194693"/>
                  <a:chExt cx="7687258" cy="768400"/>
                </a:xfrm>
              </p:grpSpPr>
              <p:sp>
                <p:nvSpPr>
                  <p:cNvPr id="3" name="Прямокутник 2"/>
                  <p:cNvSpPr/>
                  <p:nvPr/>
                </p:nvSpPr>
                <p:spPr>
                  <a:xfrm>
                    <a:off x="655828" y="3194693"/>
                    <a:ext cx="2247901" cy="768400"/>
                  </a:xfrm>
                  <a:prstGeom prst="rect">
                    <a:avLst/>
                  </a:prstGeom>
                  <a:solidFill>
                    <a:srgbClr val="A3C745"/>
                  </a:solidFill>
                  <a:ln>
                    <a:noFill/>
                  </a:ln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6" name="Прямокутник 5"/>
                  <p:cNvSpPr/>
                  <p:nvPr/>
                </p:nvSpPr>
                <p:spPr>
                  <a:xfrm>
                    <a:off x="3371848" y="3194693"/>
                    <a:ext cx="2247901" cy="762000"/>
                  </a:xfrm>
                  <a:prstGeom prst="rect">
                    <a:avLst/>
                  </a:prstGeom>
                  <a:solidFill>
                    <a:srgbClr val="39C2D7"/>
                  </a:solidFill>
                  <a:ln w="3175">
                    <a:noFill/>
                  </a:ln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7" name="Прямокутник 6"/>
                  <p:cNvSpPr/>
                  <p:nvPr/>
                </p:nvSpPr>
                <p:spPr>
                  <a:xfrm>
                    <a:off x="6099449" y="3201093"/>
                    <a:ext cx="2243637" cy="762000"/>
                  </a:xfrm>
                  <a:prstGeom prst="rect">
                    <a:avLst/>
                  </a:prstGeom>
                  <a:solidFill>
                    <a:schemeClr val="bg2">
                      <a:lumMod val="60000"/>
                      <a:lumOff val="4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sp>
              <p:nvSpPr>
                <p:cNvPr id="9" name="TextBox 8"/>
                <p:cNvSpPr txBox="1"/>
                <p:nvPr/>
              </p:nvSpPr>
              <p:spPr>
                <a:xfrm>
                  <a:off x="873323" y="3401216"/>
                  <a:ext cx="1752600" cy="42825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lang="en-US" sz="2000" b="1" dirty="0">
                      <a:solidFill>
                        <a:srgbClr val="464547"/>
                      </a:solidFill>
                    </a:rPr>
                    <a:t>Extensibility</a:t>
                  </a:r>
                </a:p>
              </p:txBody>
            </p:sp>
            <p:sp>
              <p:nvSpPr>
                <p:cNvPr id="10" name="TextBox 9"/>
                <p:cNvSpPr txBox="1"/>
                <p:nvPr/>
              </p:nvSpPr>
              <p:spPr>
                <a:xfrm>
                  <a:off x="3707549" y="3401216"/>
                  <a:ext cx="1412082" cy="42825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lang="en-US" sz="2000" b="1" dirty="0">
                      <a:solidFill>
                        <a:srgbClr val="464547"/>
                      </a:solidFill>
                    </a:rPr>
                    <a:t>Neutrality</a:t>
                  </a:r>
                </a:p>
              </p:txBody>
            </p:sp>
            <p:sp>
              <p:nvSpPr>
                <p:cNvPr id="11" name="TextBox 10"/>
                <p:cNvSpPr txBox="1"/>
                <p:nvPr/>
              </p:nvSpPr>
              <p:spPr>
                <a:xfrm>
                  <a:off x="6190186" y="3405088"/>
                  <a:ext cx="1905000" cy="42825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lang="en-US" sz="2000" b="1" dirty="0">
                      <a:solidFill>
                        <a:srgbClr val="464547"/>
                      </a:solidFill>
                    </a:rPr>
                    <a:t>Independence</a:t>
                  </a:r>
                </a:p>
              </p:txBody>
            </p:sp>
          </p:grpSp>
          <p:sp>
            <p:nvSpPr>
              <p:cNvPr id="21" name="TextBox 20"/>
              <p:cNvSpPr txBox="1"/>
              <p:nvPr/>
            </p:nvSpPr>
            <p:spPr>
              <a:xfrm>
                <a:off x="609600" y="2574684"/>
                <a:ext cx="2295546" cy="8402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lang="en-US" dirty="0" err="1">
                    <a:solidFill>
                      <a:srgbClr val="444444"/>
                    </a:solidFill>
                    <a:cs typeface="Trebuchet MS"/>
                  </a:rPr>
                  <a:t>Standart</a:t>
                </a:r>
                <a:r>
                  <a:rPr lang="en-US" dirty="0">
                    <a:solidFill>
                      <a:srgbClr val="444444"/>
                    </a:solidFill>
                    <a:cs typeface="Trebuchet MS"/>
                  </a:rPr>
                  <a:t> XML format</a:t>
                </a:r>
                <a:br>
                  <a:rPr lang="en-US" dirty="0">
                    <a:solidFill>
                      <a:srgbClr val="444444"/>
                    </a:solidFill>
                    <a:cs typeface="Trebuchet MS"/>
                  </a:rPr>
                </a:br>
                <a:r>
                  <a:rPr lang="en-US" dirty="0">
                    <a:solidFill>
                      <a:srgbClr val="444444"/>
                    </a:solidFill>
                    <a:cs typeface="Trebuchet MS"/>
                  </a:rPr>
                  <a:t>easily extendable and well supported</a:t>
                </a:r>
              </a:p>
            </p:txBody>
          </p:sp>
          <p:sp>
            <p:nvSpPr>
              <p:cNvPr id="22" name="TextBox 21"/>
              <p:cNvSpPr txBox="1"/>
              <p:nvPr/>
            </p:nvSpPr>
            <p:spPr>
              <a:xfrm>
                <a:off x="3383187" y="2574684"/>
                <a:ext cx="2566951" cy="10895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rgbClr val="444444"/>
                    </a:solidFill>
                    <a:latin typeface="Trebuchet MS"/>
                    <a:cs typeface="Trebuchet MS"/>
                  </a:rPr>
                  <a:t>Protocols support</a:t>
                </a:r>
                <a:br>
                  <a:rPr lang="en-US" dirty="0">
                    <a:solidFill>
                      <a:srgbClr val="444444"/>
                    </a:solidFill>
                    <a:latin typeface="Trebuchet MS"/>
                    <a:cs typeface="Trebuchet MS"/>
                  </a:rPr>
                </a:br>
                <a:r>
                  <a:rPr lang="en-US" dirty="0">
                    <a:solidFill>
                      <a:srgbClr val="444444"/>
                    </a:solidFill>
                    <a:cs typeface="Trebuchet MS"/>
                  </a:rPr>
                  <a:t>HTTP, HTTPS, SMTP, </a:t>
                </a:r>
                <a:br>
                  <a:rPr lang="en-US" dirty="0">
                    <a:solidFill>
                      <a:srgbClr val="444444"/>
                    </a:solidFill>
                    <a:cs typeface="Trebuchet MS"/>
                  </a:rPr>
                </a:br>
                <a:r>
                  <a:rPr lang="en-US" dirty="0">
                    <a:solidFill>
                      <a:srgbClr val="444444"/>
                    </a:solidFill>
                    <a:cs typeface="Trebuchet MS"/>
                  </a:rPr>
                  <a:t>TCP, UDP, JMS</a:t>
                </a:r>
              </a:p>
              <a:p>
                <a:pPr>
                  <a:lnSpc>
                    <a:spcPct val="120000"/>
                  </a:lnSpc>
                </a:pPr>
                <a:endParaRPr lang="en-US" dirty="0">
                  <a:solidFill>
                    <a:srgbClr val="444444"/>
                  </a:solidFill>
                  <a:latin typeface="Trebuchet MS"/>
                  <a:cs typeface="Trebuchet MS"/>
                </a:endParaRPr>
              </a:p>
            </p:txBody>
          </p:sp>
          <p:sp>
            <p:nvSpPr>
              <p:cNvPr id="23" name="TextBox 22"/>
              <p:cNvSpPr txBox="1"/>
              <p:nvPr/>
            </p:nvSpPr>
            <p:spPr>
              <a:xfrm>
                <a:off x="6168600" y="2574683"/>
                <a:ext cx="2387900" cy="10895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rgbClr val="444444"/>
                    </a:solidFill>
                    <a:cs typeface="Trebuchet MS"/>
                  </a:rPr>
                  <a:t>Protocol, Language</a:t>
                </a:r>
                <a:br>
                  <a:rPr lang="en-US" dirty="0">
                    <a:solidFill>
                      <a:srgbClr val="444444"/>
                    </a:solidFill>
                    <a:cs typeface="Trebuchet MS"/>
                  </a:rPr>
                </a:br>
                <a:r>
                  <a:rPr lang="en-US" dirty="0">
                    <a:solidFill>
                      <a:srgbClr val="444444"/>
                    </a:solidFill>
                    <a:cs typeface="Trebuchet MS"/>
                  </a:rPr>
                  <a:t>Platform and OS independence </a:t>
                </a:r>
              </a:p>
              <a:p>
                <a:pPr marL="285750" indent="-285750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endParaRPr lang="en-US" dirty="0">
                  <a:solidFill>
                    <a:srgbClr val="444444"/>
                  </a:solidFill>
                  <a:latin typeface="Trebuchet MS"/>
                  <a:cs typeface="Trebuchet MS"/>
                </a:endParaRPr>
              </a:p>
            </p:txBody>
          </p:sp>
        </p:grpSp>
        <p:sp>
          <p:nvSpPr>
            <p:cNvPr id="5" name="TextBox 4"/>
            <p:cNvSpPr txBox="1"/>
            <p:nvPr/>
          </p:nvSpPr>
          <p:spPr>
            <a:xfrm>
              <a:off x="1340912" y="1583069"/>
              <a:ext cx="6629400" cy="79759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sz="2000" dirty="0">
                  <a:solidFill>
                    <a:srgbClr val="444444"/>
                  </a:solidFill>
                  <a:cs typeface="Trebuchet MS"/>
                </a:rPr>
                <a:t>Protocol specification for exchanging structured information in the implementation of web services</a:t>
              </a:r>
              <a:endParaRPr lang="en-US" sz="2000" dirty="0">
                <a:solidFill>
                  <a:srgbClr val="444444"/>
                </a:solidFill>
                <a:latin typeface="Trebuchet MS"/>
                <a:cs typeface="Trebuchet M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29260413"/>
      </p:ext>
    </p:extLst>
  </p:cSld>
  <p:clrMapOvr>
    <a:masterClrMapping/>
  </p:clrMapOvr>
  <p:transition spd="med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33400" y="806819"/>
            <a:ext cx="8301038" cy="57015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n-NO" dirty="0"/>
              <a:t>&lt;?xml version="1.0"?&gt;</a:t>
            </a:r>
          </a:p>
          <a:p>
            <a:endParaRPr lang="nn-NO" dirty="0"/>
          </a:p>
          <a:p>
            <a:br>
              <a:rPr lang="nn-NO" dirty="0"/>
            </a:br>
            <a:r>
              <a:rPr lang="nn-NO" dirty="0"/>
              <a:t>&lt;soap:Envelope</a:t>
            </a:r>
          </a:p>
          <a:p>
            <a:r>
              <a:rPr lang="nn-NO" dirty="0"/>
              <a:t>xmlns:soap="http://www.w3.org/2003/05/soap-envelope/"</a:t>
            </a:r>
          </a:p>
          <a:p>
            <a:r>
              <a:rPr lang="nn-NO" dirty="0"/>
              <a:t>soap:encodingStyle="http://www.w3.org/2003/05/soap-encoding"&gt;</a:t>
            </a:r>
          </a:p>
          <a:p>
            <a:pPr lvl="1"/>
            <a:br>
              <a:rPr lang="nn-NO" dirty="0"/>
            </a:br>
            <a:r>
              <a:rPr lang="nn-NO" dirty="0"/>
              <a:t>&lt;soap:Header&gt;</a:t>
            </a:r>
          </a:p>
          <a:p>
            <a:pPr lvl="2"/>
            <a:r>
              <a:rPr lang="nn-NO" dirty="0"/>
              <a:t> &lt;m:Trans xmlns:m="http://www.w3schools.com/transaction/"</a:t>
            </a:r>
          </a:p>
          <a:p>
            <a:pPr lvl="2"/>
            <a:r>
              <a:rPr lang="nn-NO" dirty="0"/>
              <a:t> soap:mustUnderstand="1"&gt;234</a:t>
            </a:r>
          </a:p>
          <a:p>
            <a:pPr lvl="2"/>
            <a:r>
              <a:rPr lang="nn-NO" dirty="0"/>
              <a:t> &lt;/m:Trans&gt;</a:t>
            </a:r>
          </a:p>
          <a:p>
            <a:pPr lvl="1"/>
            <a:r>
              <a:rPr lang="nn-NO" dirty="0"/>
              <a:t>&lt;/soap:Header&gt;</a:t>
            </a:r>
          </a:p>
          <a:p>
            <a:pPr lvl="1"/>
            <a:br>
              <a:rPr lang="nn-NO" dirty="0"/>
            </a:br>
            <a:br>
              <a:rPr lang="nn-NO" dirty="0"/>
            </a:br>
            <a:r>
              <a:rPr lang="nn-NO" dirty="0"/>
              <a:t>&lt;soap:Body&gt;</a:t>
            </a:r>
          </a:p>
          <a:p>
            <a:pPr lvl="2"/>
            <a:r>
              <a:rPr lang="nn-NO" dirty="0"/>
              <a:t> &lt;m:GetPrice xmlns:m="http://www.w3schools.com/prices"&gt;</a:t>
            </a:r>
          </a:p>
          <a:p>
            <a:pPr lvl="2"/>
            <a:r>
              <a:rPr lang="nn-NO" dirty="0"/>
              <a:t>   &lt;m:Item&gt;Apples&lt;/m:Item&gt;</a:t>
            </a:r>
          </a:p>
          <a:p>
            <a:pPr lvl="2"/>
            <a:r>
              <a:rPr lang="nn-NO" dirty="0"/>
              <a:t> &lt;/m:GetPrice&gt;</a:t>
            </a:r>
          </a:p>
          <a:p>
            <a:pPr lvl="2"/>
            <a:br>
              <a:rPr lang="nn-NO" dirty="0"/>
            </a:br>
            <a:r>
              <a:rPr lang="nn-NO" dirty="0"/>
              <a:t> &lt;soap:Fault&gt;</a:t>
            </a:r>
          </a:p>
          <a:p>
            <a:pPr lvl="2"/>
            <a:r>
              <a:rPr lang="nn-NO" dirty="0"/>
              <a:t> ...</a:t>
            </a:r>
          </a:p>
          <a:p>
            <a:pPr lvl="2"/>
            <a:r>
              <a:rPr lang="nn-NO" dirty="0"/>
              <a:t> &lt;/soap:Fault&gt;</a:t>
            </a:r>
          </a:p>
          <a:p>
            <a:pPr lvl="1"/>
            <a:r>
              <a:rPr lang="nn-NO" dirty="0"/>
              <a:t>&lt;/soap:Body&gt;</a:t>
            </a:r>
          </a:p>
          <a:p>
            <a:br>
              <a:rPr lang="nn-NO" dirty="0"/>
            </a:br>
            <a:r>
              <a:rPr lang="nn-NO" dirty="0"/>
              <a:t>&lt;/soap:Envelope&gt;</a:t>
            </a:r>
          </a:p>
          <a:p>
            <a:br>
              <a:rPr lang="nn-NO" dirty="0"/>
            </a:br>
            <a:endParaRPr lang="en-US" dirty="0" err="1">
              <a:solidFill>
                <a:srgbClr val="444444"/>
              </a:solidFill>
              <a:latin typeface="Trebuchet MS"/>
              <a:cs typeface="Trebuchet MS"/>
            </a:endParaRPr>
          </a:p>
        </p:txBody>
      </p:sp>
      <p:sp>
        <p:nvSpPr>
          <p:cNvPr id="5" name="Прямокутник 4"/>
          <p:cNvSpPr/>
          <p:nvPr/>
        </p:nvSpPr>
        <p:spPr>
          <a:xfrm>
            <a:off x="381000" y="1295400"/>
            <a:ext cx="8301038" cy="4953000"/>
          </a:xfrm>
          <a:prstGeom prst="rect">
            <a:avLst/>
          </a:prstGeom>
          <a:solidFill>
            <a:srgbClr val="66FFFF">
              <a:alpha val="5098"/>
            </a:srgbClr>
          </a:solidFill>
          <a:ln w="28575">
            <a:solidFill>
              <a:srgbClr val="39C2D7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Прямокутник 11"/>
          <p:cNvSpPr/>
          <p:nvPr/>
        </p:nvSpPr>
        <p:spPr>
          <a:xfrm>
            <a:off x="609600" y="2209800"/>
            <a:ext cx="7848600" cy="1219200"/>
          </a:xfrm>
          <a:prstGeom prst="rect">
            <a:avLst/>
          </a:prstGeom>
          <a:solidFill>
            <a:srgbClr val="A3C745">
              <a:alpha val="5098"/>
            </a:srgbClr>
          </a:solidFill>
          <a:ln w="28575">
            <a:solidFill>
              <a:schemeClr val="accent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Прямокутник 14"/>
          <p:cNvSpPr/>
          <p:nvPr/>
        </p:nvSpPr>
        <p:spPr>
          <a:xfrm>
            <a:off x="609600" y="3657600"/>
            <a:ext cx="7848600" cy="2057400"/>
          </a:xfrm>
          <a:prstGeom prst="rect">
            <a:avLst/>
          </a:prstGeom>
          <a:solidFill>
            <a:srgbClr val="B22746">
              <a:alpha val="5098"/>
            </a:srgbClr>
          </a:solidFill>
          <a:ln w="28575">
            <a:solidFill>
              <a:srgbClr val="B2274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7654137" y="1295400"/>
            <a:ext cx="1027901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b="1" dirty="0">
                <a:solidFill>
                  <a:srgbClr val="39C2D7"/>
                </a:solidFill>
                <a:latin typeface="Trebuchet MS"/>
                <a:cs typeface="Trebuchet MS"/>
              </a:rPr>
              <a:t>ENVELOPE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20000" y="2209800"/>
            <a:ext cx="838200" cy="3190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b="1" dirty="0">
                <a:solidFill>
                  <a:srgbClr val="A3C745"/>
                </a:solidFill>
                <a:latin typeface="Trebuchet MS"/>
                <a:cs typeface="Trebuchet MS"/>
              </a:rPr>
              <a:t>HEADER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910" y="3657600"/>
            <a:ext cx="655427" cy="3190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b="1" dirty="0">
                <a:solidFill>
                  <a:srgbClr val="B22746"/>
                </a:solidFill>
                <a:latin typeface="Trebuchet MS"/>
                <a:cs typeface="Trebuchet MS"/>
              </a:rPr>
              <a:t>BODY</a:t>
            </a:r>
          </a:p>
        </p:txBody>
      </p:sp>
      <p:grpSp>
        <p:nvGrpSpPr>
          <p:cNvPr id="10" name="Групувати 9"/>
          <p:cNvGrpSpPr/>
          <p:nvPr/>
        </p:nvGrpSpPr>
        <p:grpSpPr>
          <a:xfrm>
            <a:off x="533400" y="6927850"/>
            <a:ext cx="8001000" cy="2374531"/>
            <a:chOff x="531019" y="3645269"/>
            <a:chExt cx="8001000" cy="2374531"/>
          </a:xfrm>
        </p:grpSpPr>
        <p:sp>
          <p:nvSpPr>
            <p:cNvPr id="3" name="Прямокутник 2"/>
            <p:cNvSpPr/>
            <p:nvPr/>
          </p:nvSpPr>
          <p:spPr>
            <a:xfrm>
              <a:off x="531019" y="3645269"/>
              <a:ext cx="8001000" cy="2374531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A3C74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838200" y="3771900"/>
              <a:ext cx="7326423" cy="13388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dirty="0" err="1">
                  <a:solidFill>
                    <a:srgbClr val="444444"/>
                  </a:solidFill>
                  <a:cs typeface="Trebuchet MS"/>
                </a:rPr>
                <a:t>soap:actor</a:t>
              </a:r>
              <a:r>
                <a:rPr lang="en-US" dirty="0">
                  <a:solidFill>
                    <a:srgbClr val="444444"/>
                  </a:solidFill>
                  <a:cs typeface="Trebuchet MS"/>
                </a:rPr>
                <a:t>="URI“ / </a:t>
              </a:r>
              <a:r>
                <a:rPr lang="en-US" dirty="0" err="1">
                  <a:solidFill>
                    <a:srgbClr val="444444"/>
                  </a:solidFill>
                  <a:cs typeface="Trebuchet MS"/>
                </a:rPr>
                <a:t>soap:role</a:t>
              </a:r>
              <a:r>
                <a:rPr lang="en-US" dirty="0">
                  <a:solidFill>
                    <a:srgbClr val="444444"/>
                  </a:solidFill>
                  <a:cs typeface="Trebuchet MS"/>
                </a:rPr>
                <a:t>="URI“</a:t>
              </a:r>
            </a:p>
            <a:p>
              <a:pPr>
                <a:lnSpc>
                  <a:spcPct val="120000"/>
                </a:lnSpc>
              </a:pPr>
              <a:r>
                <a:rPr lang="en-US" dirty="0">
                  <a:solidFill>
                    <a:srgbClr val="444444"/>
                  </a:solidFill>
                  <a:cs typeface="Trebuchet MS"/>
                </a:rPr>
                <a:t> </a:t>
              </a:r>
            </a:p>
            <a:p>
              <a:pPr>
                <a:lnSpc>
                  <a:spcPct val="120000"/>
                </a:lnSpc>
              </a:pPr>
              <a:r>
                <a:rPr lang="en-US" dirty="0" err="1">
                  <a:solidFill>
                    <a:srgbClr val="444444"/>
                  </a:solidFill>
                  <a:cs typeface="Trebuchet MS"/>
                </a:rPr>
                <a:t>soap:mustUnderstand</a:t>
              </a:r>
              <a:r>
                <a:rPr lang="en-US" dirty="0">
                  <a:solidFill>
                    <a:srgbClr val="444444"/>
                  </a:solidFill>
                  <a:cs typeface="Trebuchet MS"/>
                </a:rPr>
                <a:t>="</a:t>
              </a:r>
              <a:r>
                <a:rPr lang="en-US" dirty="0" err="1">
                  <a:solidFill>
                    <a:srgbClr val="444444"/>
                  </a:solidFill>
                  <a:cs typeface="Trebuchet MS"/>
                </a:rPr>
                <a:t>boolean</a:t>
              </a:r>
              <a:r>
                <a:rPr lang="en-US" dirty="0">
                  <a:solidFill>
                    <a:srgbClr val="444444"/>
                  </a:solidFill>
                  <a:cs typeface="Trebuchet MS"/>
                </a:rPr>
                <a:t>“</a:t>
              </a:r>
            </a:p>
            <a:p>
              <a:pPr>
                <a:lnSpc>
                  <a:spcPct val="120000"/>
                </a:lnSpc>
              </a:pPr>
              <a:endParaRPr lang="en-US" dirty="0">
                <a:solidFill>
                  <a:srgbClr val="444444"/>
                </a:solidFill>
                <a:latin typeface="Trebuchet MS"/>
                <a:cs typeface="Trebuchet MS"/>
              </a:endParaRPr>
            </a:p>
            <a:p>
              <a:pPr>
                <a:lnSpc>
                  <a:spcPct val="120000"/>
                </a:lnSpc>
              </a:pPr>
              <a:r>
                <a:rPr lang="en-US" dirty="0" err="1">
                  <a:solidFill>
                    <a:srgbClr val="444444"/>
                  </a:solidFill>
                  <a:cs typeface="Trebuchet MS"/>
                </a:rPr>
                <a:t>soap:relay</a:t>
              </a:r>
              <a:r>
                <a:rPr lang="en-US" dirty="0">
                  <a:solidFill>
                    <a:srgbClr val="444444"/>
                  </a:solidFill>
                  <a:cs typeface="Trebuchet MS"/>
                </a:rPr>
                <a:t>="</a:t>
              </a:r>
              <a:r>
                <a:rPr lang="en-US" dirty="0" err="1">
                  <a:solidFill>
                    <a:srgbClr val="444444"/>
                  </a:solidFill>
                  <a:cs typeface="Trebuchet MS"/>
                </a:rPr>
                <a:t>boolean</a:t>
              </a:r>
              <a:r>
                <a:rPr lang="en-US" dirty="0">
                  <a:solidFill>
                    <a:srgbClr val="444444"/>
                  </a:solidFill>
                  <a:cs typeface="Trebuchet MS"/>
                </a:rPr>
                <a:t>"</a:t>
              </a:r>
              <a:endParaRPr lang="en-US" dirty="0">
                <a:solidFill>
                  <a:srgbClr val="444444"/>
                </a:solidFill>
                <a:latin typeface="Trebuchet MS"/>
                <a:cs typeface="Trebuchet MS"/>
              </a:endParaRPr>
            </a:p>
          </p:txBody>
        </p:sp>
      </p:grpSp>
      <p:grpSp>
        <p:nvGrpSpPr>
          <p:cNvPr id="17" name="Групувати 16"/>
          <p:cNvGrpSpPr/>
          <p:nvPr/>
        </p:nvGrpSpPr>
        <p:grpSpPr>
          <a:xfrm>
            <a:off x="533400" y="-2913524"/>
            <a:ext cx="8001000" cy="2803556"/>
            <a:chOff x="531019" y="3645269"/>
            <a:chExt cx="8001000" cy="2503542"/>
          </a:xfrm>
        </p:grpSpPr>
        <p:sp>
          <p:nvSpPr>
            <p:cNvPr id="18" name="Прямокутник 17"/>
            <p:cNvSpPr/>
            <p:nvPr/>
          </p:nvSpPr>
          <p:spPr>
            <a:xfrm>
              <a:off x="531019" y="3645269"/>
              <a:ext cx="8001000" cy="2503542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B2274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838200" y="3771899"/>
              <a:ext cx="7516019" cy="2308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b="1" dirty="0">
                  <a:solidFill>
                    <a:srgbClr val="444444"/>
                  </a:solidFill>
                  <a:cs typeface="Trebuchet MS"/>
                </a:rPr>
                <a:t>Client</a:t>
              </a:r>
              <a:r>
                <a:rPr lang="en-US" dirty="0">
                  <a:solidFill>
                    <a:srgbClr val="444444"/>
                  </a:solidFill>
                  <a:cs typeface="Trebuchet MS"/>
                </a:rPr>
                <a:t>  -  The message was incorrectly formed or contained incorrect information</a:t>
              </a:r>
            </a:p>
            <a:p>
              <a:pPr>
                <a:lnSpc>
                  <a:spcPct val="120000"/>
                </a:lnSpc>
              </a:pPr>
              <a:r>
                <a:rPr lang="en-US" b="1" dirty="0">
                  <a:solidFill>
                    <a:srgbClr val="444444"/>
                  </a:solidFill>
                  <a:cs typeface="Trebuchet MS"/>
                </a:rPr>
                <a:t>Server</a:t>
              </a:r>
              <a:r>
                <a:rPr lang="en-US" dirty="0">
                  <a:solidFill>
                    <a:srgbClr val="444444"/>
                  </a:solidFill>
                  <a:cs typeface="Trebuchet MS"/>
                </a:rPr>
                <a:t>  -  There was a problem with the server so the message could not proceed</a:t>
              </a:r>
            </a:p>
            <a:p>
              <a:pPr>
                <a:lnSpc>
                  <a:spcPct val="120000"/>
                </a:lnSpc>
              </a:pPr>
              <a:r>
                <a:rPr lang="en-US" b="1" dirty="0" err="1">
                  <a:solidFill>
                    <a:srgbClr val="444444"/>
                  </a:solidFill>
                  <a:cs typeface="Trebuchet MS"/>
                </a:rPr>
                <a:t>VersionMismatch</a:t>
              </a:r>
              <a:r>
                <a:rPr lang="en-US" dirty="0">
                  <a:solidFill>
                    <a:srgbClr val="444444"/>
                  </a:solidFill>
                  <a:cs typeface="Trebuchet MS"/>
                </a:rPr>
                <a:t>	-  Found an invalid namespace for the SOAP Envelope element</a:t>
              </a:r>
            </a:p>
            <a:p>
              <a:pPr>
                <a:lnSpc>
                  <a:spcPct val="120000"/>
                </a:lnSpc>
              </a:pPr>
              <a:r>
                <a:rPr lang="en-US" b="1" dirty="0" err="1">
                  <a:solidFill>
                    <a:srgbClr val="444444"/>
                  </a:solidFill>
                  <a:cs typeface="Trebuchet MS"/>
                </a:rPr>
                <a:t>MustUnderstand</a:t>
              </a:r>
              <a:r>
                <a:rPr lang="en-US" dirty="0">
                  <a:solidFill>
                    <a:srgbClr val="444444"/>
                  </a:solidFill>
                  <a:cs typeface="Trebuchet MS"/>
                </a:rPr>
                <a:t>	-  An immediate child element of the Header element, with the</a:t>
              </a:r>
            </a:p>
            <a:p>
              <a:pPr>
                <a:lnSpc>
                  <a:spcPct val="120000"/>
                </a:lnSpc>
              </a:pPr>
              <a:r>
                <a:rPr lang="en-US" dirty="0">
                  <a:solidFill>
                    <a:srgbClr val="444444"/>
                  </a:solidFill>
                  <a:cs typeface="Trebuchet MS"/>
                </a:rPr>
                <a:t>		   </a:t>
              </a:r>
              <a:r>
                <a:rPr lang="en-US" dirty="0" err="1">
                  <a:solidFill>
                    <a:srgbClr val="444444"/>
                  </a:solidFill>
                  <a:cs typeface="Trebuchet MS"/>
                </a:rPr>
                <a:t>mustUnderstand</a:t>
              </a:r>
              <a:r>
                <a:rPr lang="en-US" dirty="0">
                  <a:solidFill>
                    <a:srgbClr val="444444"/>
                  </a:solidFill>
                  <a:cs typeface="Trebuchet MS"/>
                </a:rPr>
                <a:t> attribute set to "1", was not understood</a:t>
              </a:r>
            </a:p>
            <a:p>
              <a:pPr>
                <a:lnSpc>
                  <a:spcPct val="120000"/>
                </a:lnSpc>
              </a:pPr>
              <a:endParaRPr lang="en-US" dirty="0">
                <a:solidFill>
                  <a:srgbClr val="444444"/>
                </a:solidFill>
                <a:cs typeface="Trebuchet MS"/>
              </a:endParaRPr>
            </a:p>
            <a:p>
              <a:pPr>
                <a:lnSpc>
                  <a:spcPct val="120000"/>
                </a:lnSpc>
              </a:pPr>
              <a:r>
                <a:rPr lang="en-US" dirty="0">
                  <a:solidFill>
                    <a:srgbClr val="444444"/>
                  </a:solidFill>
                  <a:cs typeface="Trebuchet MS"/>
                </a:rPr>
                <a:t>&lt;</a:t>
              </a:r>
              <a:r>
                <a:rPr lang="en-US" dirty="0" err="1">
                  <a:solidFill>
                    <a:srgbClr val="444444"/>
                  </a:solidFill>
                  <a:cs typeface="Trebuchet MS"/>
                </a:rPr>
                <a:t>faultcode</a:t>
              </a:r>
              <a:r>
                <a:rPr lang="en-US" dirty="0">
                  <a:solidFill>
                    <a:srgbClr val="444444"/>
                  </a:solidFill>
                  <a:cs typeface="Trebuchet MS"/>
                </a:rPr>
                <a:t> </a:t>
              </a:r>
              <a:r>
                <a:rPr lang="en-US" dirty="0" err="1">
                  <a:solidFill>
                    <a:srgbClr val="444444"/>
                  </a:solidFill>
                  <a:cs typeface="Trebuchet MS"/>
                </a:rPr>
                <a:t>xsi:type</a:t>
              </a:r>
              <a:r>
                <a:rPr lang="en-US" dirty="0">
                  <a:solidFill>
                    <a:srgbClr val="444444"/>
                  </a:solidFill>
                  <a:cs typeface="Trebuchet MS"/>
                </a:rPr>
                <a:t>="</a:t>
              </a:r>
              <a:r>
                <a:rPr lang="en-US" dirty="0" err="1">
                  <a:solidFill>
                    <a:srgbClr val="444444"/>
                  </a:solidFill>
                  <a:cs typeface="Trebuchet MS"/>
                </a:rPr>
                <a:t>xsd:string</a:t>
              </a:r>
              <a:r>
                <a:rPr lang="en-US" dirty="0">
                  <a:solidFill>
                    <a:srgbClr val="444444"/>
                  </a:solidFill>
                  <a:cs typeface="Trebuchet MS"/>
                </a:rPr>
                <a:t>"&gt;</a:t>
              </a:r>
              <a:r>
                <a:rPr lang="en-US" dirty="0" err="1">
                  <a:solidFill>
                    <a:srgbClr val="444444"/>
                  </a:solidFill>
                  <a:cs typeface="Trebuchet MS"/>
                </a:rPr>
                <a:t>SOAP-ENV:Client</a:t>
              </a:r>
              <a:r>
                <a:rPr lang="en-US" dirty="0">
                  <a:solidFill>
                    <a:srgbClr val="444444"/>
                  </a:solidFill>
                  <a:cs typeface="Trebuchet MS"/>
                </a:rPr>
                <a:t>&lt;/</a:t>
              </a:r>
              <a:r>
                <a:rPr lang="en-US" dirty="0" err="1">
                  <a:solidFill>
                    <a:srgbClr val="444444"/>
                  </a:solidFill>
                  <a:cs typeface="Trebuchet MS"/>
                </a:rPr>
                <a:t>faultcode</a:t>
              </a:r>
              <a:r>
                <a:rPr lang="en-US" dirty="0">
                  <a:solidFill>
                    <a:srgbClr val="444444"/>
                  </a:solidFill>
                  <a:cs typeface="Trebuchet MS"/>
                </a:rPr>
                <a:t>&gt;</a:t>
              </a:r>
            </a:p>
            <a:p>
              <a:pPr>
                <a:lnSpc>
                  <a:spcPct val="120000"/>
                </a:lnSpc>
              </a:pPr>
              <a:r>
                <a:rPr lang="en-US" dirty="0">
                  <a:solidFill>
                    <a:srgbClr val="444444"/>
                  </a:solidFill>
                  <a:cs typeface="Trebuchet MS"/>
                </a:rPr>
                <a:t>&lt;</a:t>
              </a:r>
              <a:r>
                <a:rPr lang="en-US" dirty="0" err="1">
                  <a:solidFill>
                    <a:srgbClr val="444444"/>
                  </a:solidFill>
                  <a:cs typeface="Trebuchet MS"/>
                </a:rPr>
                <a:t>faultstring</a:t>
              </a:r>
              <a:r>
                <a:rPr lang="en-US" dirty="0">
                  <a:solidFill>
                    <a:srgbClr val="444444"/>
                  </a:solidFill>
                  <a:cs typeface="Trebuchet MS"/>
                </a:rPr>
                <a:t> </a:t>
              </a:r>
              <a:r>
                <a:rPr lang="en-US" dirty="0" err="1">
                  <a:solidFill>
                    <a:srgbClr val="444444"/>
                  </a:solidFill>
                  <a:cs typeface="Trebuchet MS"/>
                </a:rPr>
                <a:t>xsi:type</a:t>
              </a:r>
              <a:r>
                <a:rPr lang="en-US" dirty="0">
                  <a:solidFill>
                    <a:srgbClr val="444444"/>
                  </a:solidFill>
                  <a:cs typeface="Trebuchet MS"/>
                </a:rPr>
                <a:t>="</a:t>
              </a:r>
              <a:r>
                <a:rPr lang="en-US" dirty="0" err="1">
                  <a:solidFill>
                    <a:srgbClr val="444444"/>
                  </a:solidFill>
                  <a:cs typeface="Trebuchet MS"/>
                </a:rPr>
                <a:t>xsd:string</a:t>
              </a:r>
              <a:r>
                <a:rPr lang="en-US" dirty="0">
                  <a:solidFill>
                    <a:srgbClr val="444444"/>
                  </a:solidFill>
                  <a:cs typeface="Trebuchet MS"/>
                </a:rPr>
                <a:t>"&gt;</a:t>
              </a:r>
            </a:p>
            <a:p>
              <a:pPr>
                <a:lnSpc>
                  <a:spcPct val="120000"/>
                </a:lnSpc>
              </a:pPr>
              <a:r>
                <a:rPr lang="en-US" dirty="0">
                  <a:solidFill>
                    <a:srgbClr val="444444"/>
                  </a:solidFill>
                  <a:cs typeface="Trebuchet MS"/>
                </a:rPr>
                <a:t>	Failed to locate method (</a:t>
              </a:r>
              <a:r>
                <a:rPr lang="en-US" dirty="0" err="1">
                  <a:solidFill>
                    <a:srgbClr val="444444"/>
                  </a:solidFill>
                  <a:cs typeface="Trebuchet MS"/>
                </a:rPr>
                <a:t>ValidateCreditCard</a:t>
              </a:r>
              <a:r>
                <a:rPr lang="en-US" dirty="0">
                  <a:solidFill>
                    <a:srgbClr val="444444"/>
                  </a:solidFill>
                  <a:cs typeface="Trebuchet MS"/>
                </a:rPr>
                <a:t>) in class (</a:t>
              </a:r>
              <a:r>
                <a:rPr lang="en-US" dirty="0" err="1">
                  <a:solidFill>
                    <a:srgbClr val="444444"/>
                  </a:solidFill>
                  <a:cs typeface="Trebuchet MS"/>
                </a:rPr>
                <a:t>examplesCreditCard</a:t>
              </a:r>
              <a:r>
                <a:rPr lang="en-US" dirty="0">
                  <a:solidFill>
                    <a:srgbClr val="444444"/>
                  </a:solidFill>
                  <a:cs typeface="Trebuchet MS"/>
                </a:rPr>
                <a:t>) at...</a:t>
              </a:r>
            </a:p>
            <a:p>
              <a:pPr>
                <a:lnSpc>
                  <a:spcPct val="120000"/>
                </a:lnSpc>
              </a:pPr>
              <a:r>
                <a:rPr lang="en-US" dirty="0">
                  <a:solidFill>
                    <a:srgbClr val="444444"/>
                  </a:solidFill>
                  <a:cs typeface="Trebuchet MS"/>
                </a:rPr>
                <a:t>&lt;/</a:t>
              </a:r>
              <a:r>
                <a:rPr lang="en-US" dirty="0" err="1">
                  <a:solidFill>
                    <a:srgbClr val="444444"/>
                  </a:solidFill>
                  <a:cs typeface="Trebuchet MS"/>
                </a:rPr>
                <a:t>faultstring</a:t>
              </a:r>
              <a:r>
                <a:rPr lang="en-US" dirty="0">
                  <a:solidFill>
                    <a:srgbClr val="444444"/>
                  </a:solidFill>
                  <a:cs typeface="Trebuchet MS"/>
                </a:rPr>
                <a:t>&gt;</a:t>
              </a:r>
              <a:endParaRPr lang="en-US" dirty="0">
                <a:solidFill>
                  <a:srgbClr val="444444"/>
                </a:solidFill>
                <a:latin typeface="Trebuchet MS"/>
                <a:cs typeface="Trebuchet MS"/>
              </a:endParaRPr>
            </a:p>
          </p:txBody>
        </p:sp>
      </p:grpSp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0" y="0"/>
            <a:ext cx="9144000" cy="590550"/>
          </a:xfrm>
          <a:prstGeom prst="rect">
            <a:avLst/>
          </a:prstGeom>
          <a:solidFill>
            <a:srgbClr val="464547"/>
          </a:solidFill>
          <a:ln>
            <a:noFill/>
          </a:ln>
          <a:effectLst>
            <a:outerShdw blurRad="38100" dist="25400" dir="5400000" algn="t" rotWithShape="0">
              <a:schemeClr val="tx1">
                <a:lumMod val="50000"/>
                <a:alpha val="70000"/>
              </a:schemeClr>
            </a:outerShdw>
          </a:effectLst>
        </p:spPr>
        <p:txBody>
          <a:bodyPr/>
          <a:lstStyle/>
          <a:p>
            <a:r>
              <a:rPr lang="en-US" dirty="0">
                <a:solidFill>
                  <a:srgbClr val="39C2D7"/>
                </a:solidFill>
                <a:effectLst>
                  <a:outerShdw blurRad="50800" dist="38100" dir="5400000" algn="ctr" rotWithShape="0">
                    <a:schemeClr val="tx1">
                      <a:lumMod val="75000"/>
                    </a:schemeClr>
                  </a:outerShdw>
                </a:effectLst>
              </a:rPr>
              <a:t>SOAP - Request</a:t>
            </a:r>
          </a:p>
        </p:txBody>
      </p:sp>
    </p:spTree>
    <p:extLst>
      <p:ext uri="{BB962C8B-B14F-4D97-AF65-F5344CB8AC3E}">
        <p14:creationId xmlns:p14="http://schemas.microsoft.com/office/powerpoint/2010/main" val="2491731842"/>
      </p:ext>
    </p:extLst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-3.33333E-6 L 0.00695 -0.48333 " pathEditMode="relative" rAng="0" ptsTypes="AA">
                                      <p:cBhvr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47" y="-2416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695 -0.48333 L -3.33333E-6 -3.33333E-6 " pathEditMode="relative" rAng="0" ptsTypes="AA">
                                      <p:cBhvr>
                                        <p:cTn id="21" dur="8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47" y="2416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3.7037E-7 L -0.00382 0.52546 " pathEditMode="relative" rAng="0" ptsTypes="AA">
                                      <p:cBhvr>
                                        <p:cTn id="2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91" y="2627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2" grpId="0" animBg="1"/>
      <p:bldP spid="1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0" y="0"/>
            <a:ext cx="9144000" cy="590550"/>
          </a:xfrm>
          <a:prstGeom prst="rect">
            <a:avLst/>
          </a:prstGeom>
          <a:solidFill>
            <a:srgbClr val="464547"/>
          </a:solidFill>
          <a:ln>
            <a:noFill/>
          </a:ln>
          <a:effectLst>
            <a:outerShdw blurRad="38100" dist="25400" dir="5400000" algn="t" rotWithShape="0">
              <a:schemeClr val="tx1">
                <a:lumMod val="50000"/>
                <a:alpha val="70000"/>
              </a:schemeClr>
            </a:outerShdw>
          </a:effectLst>
        </p:spPr>
        <p:txBody>
          <a:bodyPr/>
          <a:lstStyle/>
          <a:p>
            <a:r>
              <a:rPr lang="en-US" dirty="0">
                <a:solidFill>
                  <a:srgbClr val="39C2D7"/>
                </a:solidFill>
                <a:effectLst>
                  <a:outerShdw blurRad="50800" dist="38100" dir="5400000" algn="ctr" rotWithShape="0">
                    <a:schemeClr val="tx1">
                      <a:lumMod val="75000"/>
                    </a:schemeClr>
                  </a:outerShdw>
                </a:effectLst>
              </a:rPr>
              <a:t>WSDL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2000" y="1905000"/>
            <a:ext cx="7772400" cy="3906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20000"/>
              </a:lnSpc>
              <a:buClr>
                <a:srgbClr val="A3C745"/>
              </a:buClr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rgbClr val="444444"/>
                </a:solidFill>
                <a:cs typeface="Trebuchet MS"/>
              </a:rPr>
              <a:t>XML-based protocol for information exchange </a:t>
            </a:r>
            <a:br>
              <a:rPr lang="en-US" sz="1600" dirty="0">
                <a:solidFill>
                  <a:srgbClr val="444444"/>
                </a:solidFill>
                <a:cs typeface="Trebuchet MS"/>
              </a:rPr>
            </a:br>
            <a:r>
              <a:rPr lang="en-US" sz="1600" dirty="0">
                <a:solidFill>
                  <a:srgbClr val="444444"/>
                </a:solidFill>
                <a:cs typeface="Trebuchet MS"/>
              </a:rPr>
              <a:t>in decentralized and distributed environments.</a:t>
            </a:r>
            <a:br>
              <a:rPr lang="en-US" sz="1600" dirty="0">
                <a:solidFill>
                  <a:srgbClr val="444444"/>
                </a:solidFill>
                <a:cs typeface="Trebuchet MS"/>
              </a:rPr>
            </a:br>
            <a:endParaRPr lang="en-US" sz="1600" dirty="0">
              <a:solidFill>
                <a:srgbClr val="444444"/>
              </a:solidFill>
              <a:cs typeface="Trebuchet MS"/>
            </a:endParaRPr>
          </a:p>
          <a:p>
            <a:pPr marL="285750" indent="-285750">
              <a:lnSpc>
                <a:spcPct val="120000"/>
              </a:lnSpc>
              <a:buClr>
                <a:srgbClr val="A3C745"/>
              </a:buClr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rgbClr val="444444"/>
                </a:solidFill>
                <a:cs typeface="Trebuchet MS"/>
              </a:rPr>
              <a:t>Details a standard way to describe a SOAP-based web service</a:t>
            </a:r>
            <a:br>
              <a:rPr lang="en-US" sz="1600" dirty="0">
                <a:solidFill>
                  <a:srgbClr val="444444"/>
                </a:solidFill>
                <a:cs typeface="Trebuchet MS"/>
              </a:rPr>
            </a:br>
            <a:endParaRPr lang="en-US" sz="1600" dirty="0">
              <a:solidFill>
                <a:srgbClr val="444444"/>
              </a:solidFill>
              <a:cs typeface="Trebuchet MS"/>
            </a:endParaRPr>
          </a:p>
          <a:p>
            <a:pPr marL="285750" indent="-285750">
              <a:lnSpc>
                <a:spcPct val="120000"/>
              </a:lnSpc>
              <a:buClr>
                <a:srgbClr val="A3C745"/>
              </a:buClr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rgbClr val="444444"/>
                </a:solidFill>
                <a:cs typeface="Trebuchet MS"/>
              </a:rPr>
              <a:t>Describe how to access a web service </a:t>
            </a:r>
            <a:br>
              <a:rPr lang="en-US" sz="1600" dirty="0">
                <a:solidFill>
                  <a:srgbClr val="444444"/>
                </a:solidFill>
                <a:cs typeface="Trebuchet MS"/>
              </a:rPr>
            </a:br>
            <a:r>
              <a:rPr lang="en-US" sz="1600" dirty="0">
                <a:solidFill>
                  <a:srgbClr val="444444"/>
                </a:solidFill>
                <a:cs typeface="Trebuchet MS"/>
              </a:rPr>
              <a:t>and what operations it will perform.</a:t>
            </a:r>
            <a:br>
              <a:rPr lang="en-US" sz="1600" dirty="0">
                <a:solidFill>
                  <a:srgbClr val="444444"/>
                </a:solidFill>
                <a:cs typeface="Trebuchet MS"/>
              </a:rPr>
            </a:br>
            <a:endParaRPr lang="en-US" sz="1600" dirty="0">
              <a:solidFill>
                <a:srgbClr val="444444"/>
              </a:solidFill>
              <a:cs typeface="Trebuchet MS"/>
            </a:endParaRPr>
          </a:p>
          <a:p>
            <a:pPr marL="285750" indent="-285750">
              <a:lnSpc>
                <a:spcPct val="120000"/>
              </a:lnSpc>
              <a:buClr>
                <a:srgbClr val="A3C745"/>
              </a:buClr>
              <a:buFont typeface="Wingdings" panose="05000000000000000000" pitchFamily="2" charset="2"/>
              <a:buChar char="§"/>
            </a:pPr>
            <a:r>
              <a:rPr lang="en-US" sz="1600" dirty="0"/>
              <a:t>Language for describing how to interface with </a:t>
            </a:r>
            <a:br>
              <a:rPr lang="en-US" sz="1600" dirty="0"/>
            </a:br>
            <a:r>
              <a:rPr lang="en-US" sz="1600" dirty="0"/>
              <a:t>XML-based services.</a:t>
            </a:r>
            <a:br>
              <a:rPr lang="en-US" sz="1600" dirty="0"/>
            </a:br>
            <a:endParaRPr lang="en-US" sz="1600" dirty="0"/>
          </a:p>
          <a:p>
            <a:pPr marL="285750" indent="-285750">
              <a:lnSpc>
                <a:spcPct val="120000"/>
              </a:lnSpc>
              <a:buClr>
                <a:srgbClr val="A3C745"/>
              </a:buClr>
              <a:buFont typeface="Wingdings" panose="05000000000000000000" pitchFamily="2" charset="2"/>
              <a:buChar char="§"/>
            </a:pPr>
            <a:r>
              <a:rPr lang="en-US" sz="1600" dirty="0"/>
              <a:t>Integral part of Universal Description, Discovery </a:t>
            </a:r>
            <a:br>
              <a:rPr lang="en-US" sz="1600" dirty="0"/>
            </a:br>
            <a:r>
              <a:rPr lang="en-US" sz="1600" dirty="0"/>
              <a:t>and Integration (UDDI)</a:t>
            </a:r>
            <a:endParaRPr lang="en-US" sz="1600" dirty="0">
              <a:solidFill>
                <a:srgbClr val="444444"/>
              </a:solidFill>
              <a:latin typeface="Trebuchet MS"/>
              <a:cs typeface="Trebuchet M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57200" y="1000079"/>
            <a:ext cx="7010400" cy="4953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2400" b="1" dirty="0">
                <a:solidFill>
                  <a:srgbClr val="444444"/>
                </a:solidFill>
                <a:cs typeface="Trebuchet MS"/>
              </a:rPr>
              <a:t>Web Services Description Language </a:t>
            </a:r>
            <a:endParaRPr lang="en-US" sz="2400" b="1" dirty="0">
              <a:solidFill>
                <a:srgbClr val="444444"/>
              </a:solidFill>
              <a:latin typeface="Trebuchet MS"/>
              <a:cs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291069792"/>
      </p:ext>
    </p:extLst>
  </p:cSld>
  <p:clrMapOvr>
    <a:masterClrMapping/>
  </p:clrMapOvr>
  <p:transition spd="med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0" y="0"/>
            <a:ext cx="9144000" cy="590550"/>
          </a:xfrm>
          <a:prstGeom prst="rect">
            <a:avLst/>
          </a:prstGeom>
          <a:solidFill>
            <a:srgbClr val="464547"/>
          </a:solidFill>
          <a:ln>
            <a:noFill/>
          </a:ln>
          <a:effectLst>
            <a:outerShdw blurRad="38100" dist="25400" dir="5400000" algn="t" rotWithShape="0">
              <a:schemeClr val="tx1">
                <a:lumMod val="50000"/>
                <a:alpha val="70000"/>
              </a:schemeClr>
            </a:outerShdw>
          </a:effectLst>
        </p:spPr>
        <p:txBody>
          <a:bodyPr/>
          <a:lstStyle/>
          <a:p>
            <a:r>
              <a:rPr lang="en-US" dirty="0">
                <a:solidFill>
                  <a:srgbClr val="39C2D7"/>
                </a:solidFill>
                <a:effectLst>
                  <a:outerShdw blurRad="50800" dist="38100" dir="5400000" algn="ctr" rotWithShape="0">
                    <a:schemeClr val="tx1">
                      <a:lumMod val="75000"/>
                    </a:schemeClr>
                  </a:outerShdw>
                </a:effectLst>
              </a:rPr>
              <a:t>WSDL - Web Services Description Language </a:t>
            </a:r>
          </a:p>
        </p:txBody>
      </p:sp>
      <p:sp>
        <p:nvSpPr>
          <p:cNvPr id="15" name="Прямокутник 14"/>
          <p:cNvSpPr/>
          <p:nvPr/>
        </p:nvSpPr>
        <p:spPr>
          <a:xfrm>
            <a:off x="393700" y="1066800"/>
            <a:ext cx="3505200" cy="5016758"/>
          </a:xfrm>
          <a:prstGeom prst="rect">
            <a:avLst/>
          </a:prstGeom>
          <a:solidFill>
            <a:srgbClr val="464547"/>
          </a:solidFill>
        </p:spPr>
        <p:txBody>
          <a:bodyPr wrap="square">
            <a:spAutoFit/>
          </a:bodyPr>
          <a:lstStyle/>
          <a:p>
            <a:endParaRPr lang="en-US" sz="1100" dirty="0">
              <a:solidFill>
                <a:schemeClr val="bg1"/>
              </a:solidFill>
            </a:endParaRPr>
          </a:p>
          <a:p>
            <a:endParaRPr lang="en-US" sz="1100" dirty="0">
              <a:solidFill>
                <a:schemeClr val="bg1"/>
              </a:solidFill>
            </a:endParaRPr>
          </a:p>
          <a:p>
            <a:pPr lvl="1"/>
            <a:r>
              <a:rPr lang="en-US" sz="1200" dirty="0">
                <a:solidFill>
                  <a:schemeClr val="bg1"/>
                </a:solidFill>
              </a:rPr>
              <a:t>&lt;definitions&gt;</a:t>
            </a:r>
          </a:p>
          <a:p>
            <a:pPr lvl="1"/>
            <a:r>
              <a:rPr lang="en-US" sz="1200" dirty="0">
                <a:solidFill>
                  <a:schemeClr val="bg1"/>
                </a:solidFill>
              </a:rPr>
              <a:t>	&lt;types&gt;</a:t>
            </a:r>
          </a:p>
          <a:p>
            <a:pPr lvl="1"/>
            <a:r>
              <a:rPr lang="en-US" sz="1200" i="1" dirty="0">
                <a:solidFill>
                  <a:srgbClr val="39C2D7"/>
                </a:solidFill>
              </a:rPr>
              <a:t>	    definition of types</a:t>
            </a:r>
            <a:r>
              <a:rPr lang="en-US" sz="1200" dirty="0">
                <a:solidFill>
                  <a:srgbClr val="39C2D7"/>
                </a:solidFill>
              </a:rPr>
              <a:t>...</a:t>
            </a:r>
          </a:p>
          <a:p>
            <a:pPr lvl="1"/>
            <a:r>
              <a:rPr lang="en-US" sz="1200" dirty="0">
                <a:solidFill>
                  <a:schemeClr val="bg1"/>
                </a:solidFill>
              </a:rPr>
              <a:t>   	&lt;/types&gt;</a:t>
            </a:r>
          </a:p>
          <a:p>
            <a:pPr lvl="1"/>
            <a:endParaRPr lang="en-US" sz="1200" dirty="0">
              <a:solidFill>
                <a:schemeClr val="bg1"/>
              </a:solidFill>
            </a:endParaRPr>
          </a:p>
          <a:p>
            <a:pPr lvl="1"/>
            <a:r>
              <a:rPr lang="en-US" sz="1200" dirty="0">
                <a:solidFill>
                  <a:schemeClr val="bg1"/>
                </a:solidFill>
              </a:rPr>
              <a:t>   	&lt;message&gt;</a:t>
            </a:r>
          </a:p>
          <a:p>
            <a:pPr lvl="1"/>
            <a:r>
              <a:rPr lang="en-US" sz="1200" i="1" dirty="0">
                <a:solidFill>
                  <a:schemeClr val="bg1"/>
                </a:solidFill>
              </a:rPr>
              <a:t>     	    </a:t>
            </a:r>
            <a:r>
              <a:rPr lang="en-US" sz="1200" i="1" dirty="0">
                <a:solidFill>
                  <a:srgbClr val="39C2D7"/>
                </a:solidFill>
              </a:rPr>
              <a:t>definition of a message</a:t>
            </a:r>
            <a:r>
              <a:rPr lang="en-US" sz="1200" dirty="0">
                <a:solidFill>
                  <a:srgbClr val="39C2D7"/>
                </a:solidFill>
              </a:rPr>
              <a:t>...</a:t>
            </a:r>
          </a:p>
          <a:p>
            <a:pPr lvl="1"/>
            <a:r>
              <a:rPr lang="en-US" sz="1200" dirty="0">
                <a:solidFill>
                  <a:schemeClr val="bg1"/>
                </a:solidFill>
              </a:rPr>
              <a:t>   	&lt;/message&gt;</a:t>
            </a:r>
          </a:p>
          <a:p>
            <a:pPr lvl="1"/>
            <a:endParaRPr lang="en-US" sz="1200" dirty="0">
              <a:solidFill>
                <a:schemeClr val="bg1"/>
              </a:solidFill>
            </a:endParaRPr>
          </a:p>
          <a:p>
            <a:pPr lvl="1"/>
            <a:r>
              <a:rPr lang="en-US" sz="1200" dirty="0">
                <a:solidFill>
                  <a:schemeClr val="bg1"/>
                </a:solidFill>
              </a:rPr>
              <a:t>   	&lt;</a:t>
            </a:r>
            <a:r>
              <a:rPr lang="en-US" sz="1200" dirty="0" err="1">
                <a:solidFill>
                  <a:schemeClr val="bg1"/>
                </a:solidFill>
              </a:rPr>
              <a:t>portType</a:t>
            </a:r>
            <a:r>
              <a:rPr lang="en-US" sz="1200" dirty="0">
                <a:solidFill>
                  <a:schemeClr val="bg1"/>
                </a:solidFill>
              </a:rPr>
              <a:t>&gt;</a:t>
            </a:r>
          </a:p>
          <a:p>
            <a:pPr lvl="1"/>
            <a:r>
              <a:rPr lang="en-US" sz="1200" dirty="0">
                <a:solidFill>
                  <a:schemeClr val="bg1"/>
                </a:solidFill>
              </a:rPr>
              <a:t>      	       &lt;operation&gt;</a:t>
            </a:r>
          </a:p>
          <a:p>
            <a:pPr lvl="1"/>
            <a:r>
              <a:rPr lang="en-US" sz="1200" dirty="0">
                <a:solidFill>
                  <a:schemeClr val="bg1"/>
                </a:solidFill>
              </a:rPr>
              <a:t>                   </a:t>
            </a:r>
            <a:r>
              <a:rPr lang="en-US" sz="1200" i="1" dirty="0">
                <a:solidFill>
                  <a:srgbClr val="39C2D7"/>
                </a:solidFill>
              </a:rPr>
              <a:t>definition of a operation</a:t>
            </a:r>
            <a:r>
              <a:rPr lang="en-US" sz="1200" dirty="0">
                <a:solidFill>
                  <a:srgbClr val="39C2D7"/>
                </a:solidFill>
              </a:rPr>
              <a:t>...  </a:t>
            </a:r>
          </a:p>
          <a:p>
            <a:pPr lvl="1"/>
            <a:r>
              <a:rPr lang="en-US" sz="1200" dirty="0">
                <a:solidFill>
                  <a:schemeClr val="bg1"/>
                </a:solidFill>
              </a:rPr>
              <a:t>      	       &lt;/operation&gt;</a:t>
            </a:r>
          </a:p>
          <a:p>
            <a:pPr lvl="1"/>
            <a:r>
              <a:rPr lang="en-US" sz="1200" dirty="0">
                <a:solidFill>
                  <a:schemeClr val="bg1"/>
                </a:solidFill>
              </a:rPr>
              <a:t>   	&lt;/</a:t>
            </a:r>
            <a:r>
              <a:rPr lang="en-US" sz="1200" dirty="0" err="1">
                <a:solidFill>
                  <a:schemeClr val="bg1"/>
                </a:solidFill>
              </a:rPr>
              <a:t>portType</a:t>
            </a:r>
            <a:r>
              <a:rPr lang="en-US" sz="1200" dirty="0">
                <a:solidFill>
                  <a:schemeClr val="bg1"/>
                </a:solidFill>
              </a:rPr>
              <a:t>&gt;</a:t>
            </a:r>
          </a:p>
          <a:p>
            <a:pPr lvl="1"/>
            <a:endParaRPr lang="en-US" sz="1200" dirty="0">
              <a:solidFill>
                <a:schemeClr val="bg1"/>
              </a:solidFill>
            </a:endParaRPr>
          </a:p>
          <a:p>
            <a:pPr lvl="1"/>
            <a:r>
              <a:rPr lang="en-US" sz="1200" dirty="0">
                <a:solidFill>
                  <a:schemeClr val="bg1"/>
                </a:solidFill>
              </a:rPr>
              <a:t>  	&lt;binding&gt;</a:t>
            </a:r>
          </a:p>
          <a:p>
            <a:pPr lvl="1"/>
            <a:r>
              <a:rPr lang="en-US" sz="1200" i="1" dirty="0">
                <a:solidFill>
                  <a:schemeClr val="bg1"/>
                </a:solidFill>
              </a:rPr>
              <a:t>            </a:t>
            </a:r>
            <a:r>
              <a:rPr lang="en-US" sz="1200" i="1" dirty="0">
                <a:solidFill>
                  <a:srgbClr val="39C2D7"/>
                </a:solidFill>
              </a:rPr>
              <a:t>definition of a binding...</a:t>
            </a:r>
          </a:p>
          <a:p>
            <a:pPr lvl="1"/>
            <a:r>
              <a:rPr lang="en-US" sz="1200" dirty="0">
                <a:solidFill>
                  <a:schemeClr val="bg1"/>
                </a:solidFill>
              </a:rPr>
              <a:t>   	&lt;/binding&gt;</a:t>
            </a:r>
          </a:p>
          <a:p>
            <a:pPr lvl="1"/>
            <a:endParaRPr lang="en-US" sz="1200" dirty="0">
              <a:solidFill>
                <a:schemeClr val="bg1"/>
              </a:solidFill>
            </a:endParaRPr>
          </a:p>
          <a:p>
            <a:pPr lvl="1"/>
            <a:r>
              <a:rPr lang="en-US" sz="1200" dirty="0">
                <a:solidFill>
                  <a:schemeClr val="bg1"/>
                </a:solidFill>
              </a:rPr>
              <a:t>   	&lt;service&gt;</a:t>
            </a:r>
          </a:p>
          <a:p>
            <a:pPr lvl="1"/>
            <a:r>
              <a:rPr lang="en-US" sz="1200" dirty="0">
                <a:solidFill>
                  <a:schemeClr val="bg1"/>
                </a:solidFill>
              </a:rPr>
              <a:t>      	    </a:t>
            </a:r>
            <a:r>
              <a:rPr lang="en-US" sz="1200" i="1" dirty="0">
                <a:solidFill>
                  <a:srgbClr val="39C2D7"/>
                </a:solidFill>
              </a:rPr>
              <a:t>definition of a service...</a:t>
            </a:r>
          </a:p>
          <a:p>
            <a:pPr lvl="1"/>
            <a:r>
              <a:rPr lang="en-US" sz="1200" dirty="0">
                <a:solidFill>
                  <a:schemeClr val="bg1"/>
                </a:solidFill>
              </a:rPr>
              <a:t>  	&lt;/service&gt;</a:t>
            </a:r>
          </a:p>
          <a:p>
            <a:pPr lvl="1"/>
            <a:r>
              <a:rPr lang="en-US" sz="1200" dirty="0">
                <a:solidFill>
                  <a:schemeClr val="bg1"/>
                </a:solidFill>
              </a:rPr>
              <a:t>&lt;/definitions&gt;</a:t>
            </a:r>
            <a:br>
              <a:rPr lang="en-US" sz="1100" dirty="0">
                <a:solidFill>
                  <a:schemeClr val="bg1"/>
                </a:solidFill>
              </a:rPr>
            </a:br>
            <a:endParaRPr lang="en-US" sz="1100" dirty="0">
              <a:solidFill>
                <a:schemeClr val="bg1"/>
              </a:solidFill>
            </a:endParaRPr>
          </a:p>
          <a:p>
            <a:pPr lvl="1"/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267200" y="1128355"/>
            <a:ext cx="4495800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20000"/>
              </a:lnSpc>
              <a:buClr>
                <a:srgbClr val="A3C745"/>
              </a:buClr>
              <a:buFont typeface="Wingdings" panose="05000000000000000000" pitchFamily="2" charset="2"/>
              <a:buChar char="§"/>
            </a:pPr>
            <a:r>
              <a:rPr lang="en-US" sz="1400" b="1" dirty="0">
                <a:solidFill>
                  <a:srgbClr val="444444"/>
                </a:solidFill>
                <a:cs typeface="Trebuchet MS"/>
              </a:rPr>
              <a:t>Types</a:t>
            </a:r>
          </a:p>
          <a:p>
            <a:pPr marL="628650" lvl="1" indent="-285750">
              <a:lnSpc>
                <a:spcPct val="120000"/>
              </a:lnSpc>
              <a:buClr>
                <a:srgbClr val="A3C745"/>
              </a:buClr>
              <a:buFont typeface="Courier New" panose="02070309020205020404" pitchFamily="49" charset="0"/>
              <a:buChar char="o"/>
            </a:pPr>
            <a:r>
              <a:rPr lang="en-US" sz="1200" dirty="0">
                <a:solidFill>
                  <a:srgbClr val="444444"/>
                </a:solidFill>
                <a:cs typeface="Trebuchet MS"/>
              </a:rPr>
              <a:t>Used to define custom message types</a:t>
            </a:r>
            <a:br>
              <a:rPr lang="en-US" sz="1200" dirty="0">
                <a:solidFill>
                  <a:srgbClr val="444444"/>
                </a:solidFill>
                <a:cs typeface="Trebuchet MS"/>
              </a:rPr>
            </a:br>
            <a:endParaRPr lang="en-US" sz="1200" dirty="0">
              <a:solidFill>
                <a:srgbClr val="444444"/>
              </a:solidFill>
              <a:cs typeface="Trebuchet MS"/>
            </a:endParaRPr>
          </a:p>
          <a:p>
            <a:pPr marL="285750" indent="-285750">
              <a:lnSpc>
                <a:spcPct val="120000"/>
              </a:lnSpc>
              <a:buClr>
                <a:srgbClr val="A3C745"/>
              </a:buClr>
              <a:buFont typeface="Wingdings" panose="05000000000000000000" pitchFamily="2" charset="2"/>
              <a:buChar char="§"/>
            </a:pPr>
            <a:r>
              <a:rPr lang="en-US" sz="1400" b="1" dirty="0">
                <a:solidFill>
                  <a:srgbClr val="444444"/>
                </a:solidFill>
                <a:cs typeface="Trebuchet MS"/>
              </a:rPr>
              <a:t>Messages</a:t>
            </a:r>
          </a:p>
          <a:p>
            <a:pPr marL="628650" lvl="1" indent="-285750">
              <a:lnSpc>
                <a:spcPct val="120000"/>
              </a:lnSpc>
              <a:buClr>
                <a:srgbClr val="A3C745"/>
              </a:buClr>
              <a:buFont typeface="Courier New" panose="02070309020205020404" pitchFamily="49" charset="0"/>
              <a:buChar char="o"/>
            </a:pPr>
            <a:r>
              <a:rPr lang="en-US" sz="1200" dirty="0">
                <a:solidFill>
                  <a:srgbClr val="444444"/>
                </a:solidFill>
                <a:cs typeface="Trebuchet MS"/>
              </a:rPr>
              <a:t>Abstraction of request and response messages that my client and service need to communicate.</a:t>
            </a:r>
            <a:br>
              <a:rPr lang="en-US" sz="1200" dirty="0">
                <a:solidFill>
                  <a:srgbClr val="444444"/>
                </a:solidFill>
                <a:cs typeface="Trebuchet MS"/>
              </a:rPr>
            </a:br>
            <a:endParaRPr lang="en-US" sz="1200" dirty="0">
              <a:solidFill>
                <a:srgbClr val="444444"/>
              </a:solidFill>
              <a:cs typeface="Trebuchet MS"/>
            </a:endParaRPr>
          </a:p>
          <a:p>
            <a:pPr marL="285750" indent="-285750">
              <a:lnSpc>
                <a:spcPct val="120000"/>
              </a:lnSpc>
              <a:buClr>
                <a:srgbClr val="A3C745"/>
              </a:buClr>
              <a:buFont typeface="Wingdings" panose="05000000000000000000" pitchFamily="2" charset="2"/>
              <a:buChar char="§"/>
            </a:pPr>
            <a:r>
              <a:rPr lang="en-US" sz="1400" b="1" dirty="0" err="1">
                <a:solidFill>
                  <a:srgbClr val="444444"/>
                </a:solidFill>
                <a:cs typeface="Trebuchet MS"/>
              </a:rPr>
              <a:t>PortTypes</a:t>
            </a:r>
            <a:endParaRPr lang="en-US" sz="1400" b="1" dirty="0">
              <a:solidFill>
                <a:srgbClr val="444444"/>
              </a:solidFill>
              <a:cs typeface="Trebuchet MS"/>
            </a:endParaRPr>
          </a:p>
          <a:p>
            <a:pPr marL="628650" lvl="1" indent="-285750">
              <a:lnSpc>
                <a:spcPct val="120000"/>
              </a:lnSpc>
              <a:buClr>
                <a:srgbClr val="A3C745"/>
              </a:buClr>
              <a:buFont typeface="Courier New" panose="02070309020205020404" pitchFamily="49" charset="0"/>
              <a:buChar char="o"/>
            </a:pPr>
            <a:r>
              <a:rPr lang="en-US" sz="1200" dirty="0">
                <a:solidFill>
                  <a:srgbClr val="444444"/>
                </a:solidFill>
                <a:cs typeface="Trebuchet MS"/>
              </a:rPr>
              <a:t>Contains a set of operations.</a:t>
            </a:r>
          </a:p>
          <a:p>
            <a:pPr marL="628650" lvl="1" indent="-285750">
              <a:lnSpc>
                <a:spcPct val="120000"/>
              </a:lnSpc>
              <a:buClr>
                <a:srgbClr val="A3C745"/>
              </a:buClr>
              <a:buFont typeface="Courier New" panose="02070309020205020404" pitchFamily="49" charset="0"/>
              <a:buChar char="o"/>
            </a:pPr>
            <a:r>
              <a:rPr lang="en-US" sz="1200" dirty="0">
                <a:solidFill>
                  <a:srgbClr val="444444"/>
                </a:solidFill>
                <a:cs typeface="Trebuchet MS"/>
              </a:rPr>
              <a:t>Operations organize WSDL messages.</a:t>
            </a:r>
          </a:p>
          <a:p>
            <a:pPr marL="628650" lvl="1" indent="-285750">
              <a:lnSpc>
                <a:spcPct val="120000"/>
              </a:lnSpc>
              <a:buClr>
                <a:srgbClr val="A3C745"/>
              </a:buClr>
              <a:buFont typeface="Courier New" panose="02070309020205020404" pitchFamily="49" charset="0"/>
              <a:buChar char="o"/>
            </a:pPr>
            <a:r>
              <a:rPr lang="en-US" sz="1200" dirty="0">
                <a:solidFill>
                  <a:srgbClr val="444444"/>
                </a:solidFill>
                <a:cs typeface="Trebuchet MS"/>
              </a:rPr>
              <a:t>Operation-&gt;method name, </a:t>
            </a:r>
            <a:r>
              <a:rPr lang="en-US" sz="1200" dirty="0" err="1">
                <a:solidFill>
                  <a:srgbClr val="444444"/>
                </a:solidFill>
                <a:cs typeface="Trebuchet MS"/>
              </a:rPr>
              <a:t>portType</a:t>
            </a:r>
            <a:r>
              <a:rPr lang="en-US" sz="1200" dirty="0">
                <a:solidFill>
                  <a:srgbClr val="444444"/>
                </a:solidFill>
                <a:cs typeface="Trebuchet MS"/>
              </a:rPr>
              <a:t>-&gt;java interface</a:t>
            </a:r>
            <a:br>
              <a:rPr lang="en-US" sz="1200" dirty="0">
                <a:solidFill>
                  <a:srgbClr val="444444"/>
                </a:solidFill>
                <a:cs typeface="Trebuchet MS"/>
              </a:rPr>
            </a:br>
            <a:endParaRPr lang="en-US" sz="1200" dirty="0">
              <a:solidFill>
                <a:srgbClr val="444444"/>
              </a:solidFill>
              <a:cs typeface="Trebuchet MS"/>
            </a:endParaRPr>
          </a:p>
          <a:p>
            <a:pPr marL="285750" indent="-285750">
              <a:lnSpc>
                <a:spcPct val="120000"/>
              </a:lnSpc>
              <a:buClr>
                <a:srgbClr val="A3C745"/>
              </a:buClr>
              <a:buFont typeface="Wingdings" panose="05000000000000000000" pitchFamily="2" charset="2"/>
              <a:buChar char="§"/>
            </a:pPr>
            <a:r>
              <a:rPr lang="en-US" sz="1400" b="1" dirty="0">
                <a:solidFill>
                  <a:srgbClr val="444444"/>
                </a:solidFill>
                <a:cs typeface="Trebuchet MS"/>
              </a:rPr>
              <a:t>Bindings</a:t>
            </a:r>
          </a:p>
          <a:p>
            <a:pPr marL="628650" lvl="1" indent="-285750">
              <a:lnSpc>
                <a:spcPct val="120000"/>
              </a:lnSpc>
              <a:buClr>
                <a:srgbClr val="A3C745"/>
              </a:buClr>
              <a:buFont typeface="Courier New" panose="02070309020205020404" pitchFamily="49" charset="0"/>
              <a:buChar char="o"/>
            </a:pPr>
            <a:r>
              <a:rPr lang="en-US" sz="1200" dirty="0">
                <a:solidFill>
                  <a:srgbClr val="444444"/>
                </a:solidFill>
                <a:cs typeface="Trebuchet MS"/>
              </a:rPr>
              <a:t>Binds the </a:t>
            </a:r>
            <a:r>
              <a:rPr lang="en-US" sz="1200" dirty="0" err="1">
                <a:solidFill>
                  <a:srgbClr val="444444"/>
                </a:solidFill>
                <a:cs typeface="Trebuchet MS"/>
              </a:rPr>
              <a:t>portType</a:t>
            </a:r>
            <a:r>
              <a:rPr lang="en-US" sz="1200" dirty="0">
                <a:solidFill>
                  <a:srgbClr val="444444"/>
                </a:solidFill>
                <a:cs typeface="Trebuchet MS"/>
              </a:rPr>
              <a:t> to a specific protocol (typically SOAP over http).</a:t>
            </a:r>
          </a:p>
          <a:p>
            <a:pPr marL="628650" lvl="1" indent="-285750">
              <a:lnSpc>
                <a:spcPct val="120000"/>
              </a:lnSpc>
              <a:buClr>
                <a:srgbClr val="A3C745"/>
              </a:buClr>
              <a:buFont typeface="Courier New" panose="02070309020205020404" pitchFamily="49" charset="0"/>
              <a:buChar char="o"/>
            </a:pPr>
            <a:r>
              <a:rPr lang="en-US" sz="1200" dirty="0">
                <a:solidFill>
                  <a:srgbClr val="444444"/>
                </a:solidFill>
                <a:cs typeface="Trebuchet MS"/>
              </a:rPr>
              <a:t>You can bind one </a:t>
            </a:r>
            <a:r>
              <a:rPr lang="en-US" sz="1200" dirty="0" err="1">
                <a:solidFill>
                  <a:srgbClr val="444444"/>
                </a:solidFill>
                <a:cs typeface="Trebuchet MS"/>
              </a:rPr>
              <a:t>portType</a:t>
            </a:r>
            <a:r>
              <a:rPr lang="en-US" sz="1200" dirty="0">
                <a:solidFill>
                  <a:srgbClr val="444444"/>
                </a:solidFill>
                <a:cs typeface="Trebuchet MS"/>
              </a:rPr>
              <a:t> to several different protocols by using more than one port.</a:t>
            </a:r>
            <a:br>
              <a:rPr lang="en-US" sz="1200" dirty="0">
                <a:solidFill>
                  <a:srgbClr val="444444"/>
                </a:solidFill>
                <a:cs typeface="Trebuchet MS"/>
              </a:rPr>
            </a:br>
            <a:endParaRPr lang="en-US" sz="1200" dirty="0">
              <a:solidFill>
                <a:srgbClr val="444444"/>
              </a:solidFill>
              <a:cs typeface="Trebuchet MS"/>
            </a:endParaRPr>
          </a:p>
          <a:p>
            <a:pPr marL="285750" indent="-285750">
              <a:lnSpc>
                <a:spcPct val="120000"/>
              </a:lnSpc>
              <a:buClr>
                <a:srgbClr val="A3C745"/>
              </a:buClr>
              <a:buFont typeface="Wingdings" panose="05000000000000000000" pitchFamily="2" charset="2"/>
              <a:buChar char="§"/>
            </a:pPr>
            <a:r>
              <a:rPr lang="en-US" sz="1400" b="1" dirty="0">
                <a:solidFill>
                  <a:srgbClr val="444444"/>
                </a:solidFill>
                <a:cs typeface="Trebuchet MS"/>
              </a:rPr>
              <a:t>Services</a:t>
            </a:r>
          </a:p>
          <a:p>
            <a:pPr marL="628650" lvl="1" indent="-285750">
              <a:lnSpc>
                <a:spcPct val="120000"/>
              </a:lnSpc>
              <a:buClr>
                <a:srgbClr val="A3C745"/>
              </a:buClr>
              <a:buFont typeface="Courier New" panose="02070309020205020404" pitchFamily="49" charset="0"/>
              <a:buChar char="o"/>
            </a:pPr>
            <a:r>
              <a:rPr lang="en-US" sz="1200" dirty="0">
                <a:solidFill>
                  <a:srgbClr val="444444"/>
                </a:solidFill>
                <a:cs typeface="Trebuchet MS"/>
              </a:rPr>
              <a:t>Gives you one or more URLs for the service.</a:t>
            </a:r>
          </a:p>
        </p:txBody>
      </p:sp>
    </p:spTree>
    <p:extLst>
      <p:ext uri="{BB962C8B-B14F-4D97-AF65-F5344CB8AC3E}">
        <p14:creationId xmlns:p14="http://schemas.microsoft.com/office/powerpoint/2010/main" val="3665510513"/>
      </p:ext>
    </p:extLst>
  </p:cSld>
  <p:clrMapOvr>
    <a:masterClrMapping/>
  </p:clrMapOvr>
  <p:transition spd="med">
    <p:push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0" y="0"/>
            <a:ext cx="9144000" cy="590550"/>
          </a:xfrm>
          <a:prstGeom prst="rect">
            <a:avLst/>
          </a:prstGeom>
          <a:solidFill>
            <a:srgbClr val="464547"/>
          </a:solidFill>
          <a:ln>
            <a:noFill/>
          </a:ln>
          <a:effectLst>
            <a:outerShdw blurRad="38100" dist="25400" dir="5400000" algn="t" rotWithShape="0">
              <a:schemeClr val="tx1">
                <a:lumMod val="50000"/>
                <a:alpha val="70000"/>
              </a:schemeClr>
            </a:outerShdw>
          </a:effectLst>
        </p:spPr>
        <p:txBody>
          <a:bodyPr/>
          <a:lstStyle/>
          <a:p>
            <a:r>
              <a:rPr lang="en-US" dirty="0">
                <a:solidFill>
                  <a:srgbClr val="39C2D7"/>
                </a:solidFill>
                <a:effectLst>
                  <a:outerShdw blurRad="50800" dist="38100" dir="5400000" algn="ctr" rotWithShape="0">
                    <a:schemeClr val="tx1">
                      <a:lumMod val="75000"/>
                    </a:schemeClr>
                  </a:outerShdw>
                </a:effectLst>
              </a:rPr>
              <a:t>XSD - XML Schema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57899" y="1029491"/>
            <a:ext cx="2667001" cy="2160591"/>
          </a:xfrm>
          <a:prstGeom prst="rect">
            <a:avLst/>
          </a:prstGeom>
          <a:solidFill>
            <a:srgbClr val="A3C745"/>
          </a:solidFill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2400" b="1" cap="all" dirty="0">
                <a:solidFill>
                  <a:schemeClr val="bg1"/>
                </a:solidFill>
              </a:rPr>
              <a:t> Data contract</a:t>
            </a:r>
          </a:p>
          <a:p>
            <a:pPr>
              <a:lnSpc>
                <a:spcPct val="120000"/>
              </a:lnSpc>
            </a:pPr>
            <a:r>
              <a:rPr lang="en-US" sz="2400" b="1" cap="all" dirty="0">
                <a:solidFill>
                  <a:schemeClr val="bg1"/>
                </a:solidFill>
              </a:rPr>
              <a:t> that defines </a:t>
            </a:r>
          </a:p>
          <a:p>
            <a:pPr>
              <a:lnSpc>
                <a:spcPct val="120000"/>
              </a:lnSpc>
            </a:pPr>
            <a:r>
              <a:rPr lang="en-US" sz="2400" b="1" cap="all" dirty="0">
                <a:solidFill>
                  <a:schemeClr val="bg1"/>
                </a:solidFill>
              </a:rPr>
              <a:t> message </a:t>
            </a:r>
          </a:p>
          <a:p>
            <a:pPr>
              <a:lnSpc>
                <a:spcPct val="120000"/>
              </a:lnSpc>
            </a:pPr>
            <a:r>
              <a:rPr lang="en-US" sz="2400" b="1" cap="all" dirty="0">
                <a:solidFill>
                  <a:schemeClr val="bg1"/>
                </a:solidFill>
              </a:rPr>
              <a:t> format</a:t>
            </a:r>
          </a:p>
          <a:p>
            <a:pPr>
              <a:lnSpc>
                <a:spcPct val="120000"/>
              </a:lnSpc>
            </a:pPr>
            <a:endParaRPr lang="en-US" sz="1600" b="1" cap="all" dirty="0">
              <a:solidFill>
                <a:schemeClr val="bg1"/>
              </a:solidFill>
            </a:endParaRPr>
          </a:p>
        </p:txBody>
      </p:sp>
      <p:sp>
        <p:nvSpPr>
          <p:cNvPr id="4" name="Прямокутник 3"/>
          <p:cNvSpPr/>
          <p:nvPr/>
        </p:nvSpPr>
        <p:spPr>
          <a:xfrm>
            <a:off x="762000" y="808330"/>
            <a:ext cx="4572000" cy="26314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/>
              <a:t>&lt;</a:t>
            </a:r>
            <a:r>
              <a:rPr lang="en-US" sz="1100" b="1" dirty="0" err="1"/>
              <a:t>messageList</a:t>
            </a:r>
            <a:r>
              <a:rPr lang="en-US" sz="1100" dirty="0"/>
              <a:t>&gt;</a:t>
            </a:r>
          </a:p>
          <a:p>
            <a:r>
              <a:rPr lang="en-US" sz="1100" dirty="0"/>
              <a:t>	&lt;</a:t>
            </a:r>
            <a:r>
              <a:rPr lang="en-US" sz="1100" b="1" dirty="0"/>
              <a:t>message</a:t>
            </a:r>
            <a:r>
              <a:rPr lang="en-US" sz="1100" dirty="0"/>
              <a:t>&gt;</a:t>
            </a:r>
          </a:p>
          <a:p>
            <a:r>
              <a:rPr lang="en-US" sz="1100" dirty="0"/>
              <a:t>		&lt;</a:t>
            </a:r>
            <a:r>
              <a:rPr lang="en-US" sz="1100" b="1" dirty="0"/>
              <a:t>phone</a:t>
            </a:r>
            <a:r>
              <a:rPr lang="en-US" sz="1100" dirty="0"/>
              <a:t>&gt; 096123666 &lt;/</a:t>
            </a:r>
            <a:r>
              <a:rPr lang="en-US" sz="1100" b="1" dirty="0"/>
              <a:t>phone</a:t>
            </a:r>
            <a:r>
              <a:rPr lang="en-US" sz="1100" dirty="0"/>
              <a:t>&gt;</a:t>
            </a:r>
          </a:p>
          <a:p>
            <a:r>
              <a:rPr lang="en-US" sz="1100" dirty="0"/>
              <a:t>		&lt;</a:t>
            </a:r>
            <a:r>
              <a:rPr lang="en-US" sz="1100" b="1" dirty="0"/>
              <a:t>text</a:t>
            </a:r>
            <a:r>
              <a:rPr lang="en-US" sz="1100" dirty="0"/>
              <a:t>&gt; test message</a:t>
            </a:r>
            <a:r>
              <a:rPr lang="ru-RU" sz="1100" dirty="0"/>
              <a:t>&lt;/</a:t>
            </a:r>
            <a:r>
              <a:rPr lang="en-US" sz="1100" b="1" dirty="0"/>
              <a:t>text</a:t>
            </a:r>
            <a:r>
              <a:rPr lang="en-US" sz="1100" dirty="0"/>
              <a:t>&gt;</a:t>
            </a:r>
          </a:p>
          <a:p>
            <a:r>
              <a:rPr lang="en-US" sz="1100" dirty="0"/>
              <a:t>		&lt;</a:t>
            </a:r>
            <a:r>
              <a:rPr lang="en-US" sz="1100" b="1" dirty="0"/>
              <a:t>date</a:t>
            </a:r>
            <a:r>
              <a:rPr lang="en-US" sz="1100" dirty="0"/>
              <a:t>&gt; 2013-07-20T12:00:00 &lt;/</a:t>
            </a:r>
            <a:r>
              <a:rPr lang="en-US" sz="1100" b="1" dirty="0"/>
              <a:t>date</a:t>
            </a:r>
            <a:r>
              <a:rPr lang="en-US" sz="1100" dirty="0"/>
              <a:t>&gt;</a:t>
            </a:r>
          </a:p>
          <a:p>
            <a:r>
              <a:rPr lang="en-US" sz="1100" dirty="0"/>
              <a:t>		&lt;</a:t>
            </a:r>
            <a:r>
              <a:rPr lang="en-US" sz="1100" b="1" dirty="0"/>
              <a:t>type</a:t>
            </a:r>
            <a:r>
              <a:rPr lang="en-US" sz="1100" dirty="0"/>
              <a:t>&gt; 12 &lt;/type&gt;</a:t>
            </a:r>
          </a:p>
          <a:p>
            <a:r>
              <a:rPr lang="en-US" sz="1100" dirty="0"/>
              <a:t>	&lt;/</a:t>
            </a:r>
            <a:r>
              <a:rPr lang="en-US" sz="1100" b="1" dirty="0"/>
              <a:t>message</a:t>
            </a:r>
            <a:r>
              <a:rPr lang="en-US" sz="1100" dirty="0"/>
              <a:t>&gt;</a:t>
            </a:r>
          </a:p>
          <a:p>
            <a:r>
              <a:rPr lang="en-US" sz="1100" dirty="0"/>
              <a:t>	 ... </a:t>
            </a:r>
          </a:p>
          <a:p>
            <a:r>
              <a:rPr lang="en-US" sz="1100" dirty="0"/>
              <a:t>	&lt;</a:t>
            </a:r>
            <a:r>
              <a:rPr lang="en-US" sz="1100" b="1" dirty="0"/>
              <a:t>message</a:t>
            </a:r>
            <a:r>
              <a:rPr lang="en-US" sz="1100" dirty="0"/>
              <a:t>&gt;</a:t>
            </a:r>
          </a:p>
          <a:p>
            <a:r>
              <a:rPr lang="en-US" sz="1100" dirty="0"/>
              <a:t>		&lt;</a:t>
            </a:r>
            <a:r>
              <a:rPr lang="en-US" sz="1100" b="1" dirty="0"/>
              <a:t>phone</a:t>
            </a:r>
            <a:r>
              <a:rPr lang="en-US" sz="1100" dirty="0"/>
              <a:t>&gt; 096123666 &lt;/</a:t>
            </a:r>
            <a:r>
              <a:rPr lang="en-US" sz="1100" b="1" dirty="0"/>
              <a:t>phone</a:t>
            </a:r>
            <a:r>
              <a:rPr lang="en-US" sz="1100" dirty="0"/>
              <a:t>&gt;</a:t>
            </a:r>
          </a:p>
          <a:p>
            <a:r>
              <a:rPr lang="en-US" sz="1100" dirty="0"/>
              <a:t>		&lt;</a:t>
            </a:r>
            <a:r>
              <a:rPr lang="en-US" sz="1100" b="1" dirty="0"/>
              <a:t>text</a:t>
            </a:r>
            <a:r>
              <a:rPr lang="en-US" sz="1100" dirty="0"/>
              <a:t>&gt;test message N&lt;/</a:t>
            </a:r>
            <a:r>
              <a:rPr lang="en-US" sz="1100" b="1" dirty="0"/>
              <a:t>text</a:t>
            </a:r>
            <a:r>
              <a:rPr lang="en-US" sz="1100" dirty="0"/>
              <a:t>&gt;</a:t>
            </a:r>
          </a:p>
          <a:p>
            <a:r>
              <a:rPr lang="en-US" sz="1100" dirty="0"/>
              <a:t>		&lt;</a:t>
            </a:r>
            <a:r>
              <a:rPr lang="en-US" sz="1100" b="1" dirty="0"/>
              <a:t>date</a:t>
            </a:r>
            <a:r>
              <a:rPr lang="en-US" sz="1100" dirty="0"/>
              <a:t>&gt;2013-07-20T12:00:00&lt;/</a:t>
            </a:r>
            <a:r>
              <a:rPr lang="en-US" sz="1100" b="1" dirty="0"/>
              <a:t>date</a:t>
            </a:r>
            <a:r>
              <a:rPr lang="en-US" sz="1100" dirty="0"/>
              <a:t>&gt;</a:t>
            </a:r>
          </a:p>
          <a:p>
            <a:r>
              <a:rPr lang="en-US" sz="1100" dirty="0"/>
              <a:t>		&lt;</a:t>
            </a:r>
            <a:r>
              <a:rPr lang="en-US" sz="1100" b="1" dirty="0"/>
              <a:t>type</a:t>
            </a:r>
            <a:r>
              <a:rPr lang="en-US" sz="1100" dirty="0"/>
              <a:t>&gt;12&lt;/</a:t>
            </a:r>
            <a:r>
              <a:rPr lang="en-US" sz="1100" b="1" dirty="0"/>
              <a:t>type</a:t>
            </a:r>
            <a:r>
              <a:rPr lang="en-US" sz="1100" dirty="0"/>
              <a:t>&gt;</a:t>
            </a:r>
          </a:p>
          <a:p>
            <a:r>
              <a:rPr lang="en-US" sz="1100" dirty="0"/>
              <a:t>	&lt;/</a:t>
            </a:r>
            <a:r>
              <a:rPr lang="en-US" sz="1100" b="1" dirty="0"/>
              <a:t>message</a:t>
            </a:r>
            <a:r>
              <a:rPr lang="en-US" sz="1100" dirty="0"/>
              <a:t>&gt;</a:t>
            </a:r>
          </a:p>
          <a:p>
            <a:r>
              <a:rPr lang="en-US" sz="1100" dirty="0"/>
              <a:t>&lt;/</a:t>
            </a:r>
            <a:r>
              <a:rPr lang="en-US" sz="1100" b="1" dirty="0" err="1"/>
              <a:t>messageList</a:t>
            </a:r>
            <a:r>
              <a:rPr lang="en-US" sz="1100" dirty="0"/>
              <a:t>&gt;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7" name="Прямокутник 6"/>
          <p:cNvSpPr/>
          <p:nvPr/>
        </p:nvSpPr>
        <p:spPr>
          <a:xfrm>
            <a:off x="381000" y="3629024"/>
            <a:ext cx="8382000" cy="2631490"/>
          </a:xfrm>
          <a:prstGeom prst="rect">
            <a:avLst/>
          </a:prstGeom>
          <a:solidFill>
            <a:srgbClr val="464547"/>
          </a:solidFill>
        </p:spPr>
        <p:txBody>
          <a:bodyPr wrap="square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</a:rPr>
              <a:t>&lt;</a:t>
            </a:r>
            <a:r>
              <a:rPr lang="en-US" sz="1100" dirty="0" err="1">
                <a:solidFill>
                  <a:srgbClr val="39C2D7"/>
                </a:solidFill>
              </a:rPr>
              <a:t>complexType</a:t>
            </a:r>
            <a:r>
              <a:rPr lang="en-US" sz="1100" dirty="0">
                <a:solidFill>
                  <a:schemeClr val="bg1"/>
                </a:solidFill>
              </a:rPr>
              <a:t>  </a:t>
            </a:r>
            <a:r>
              <a:rPr lang="en-US" sz="1100" dirty="0">
                <a:solidFill>
                  <a:srgbClr val="A3C745"/>
                </a:solidFill>
              </a:rPr>
              <a:t>name</a:t>
            </a:r>
            <a:r>
              <a:rPr lang="en-US" sz="1100" dirty="0">
                <a:solidFill>
                  <a:schemeClr val="bg1"/>
                </a:solidFill>
              </a:rPr>
              <a:t>="Message"&gt;</a:t>
            </a:r>
          </a:p>
          <a:p>
            <a:r>
              <a:rPr lang="en-US" sz="1100" dirty="0">
                <a:solidFill>
                  <a:schemeClr val="bg1"/>
                </a:solidFill>
              </a:rPr>
              <a:t>	&lt;</a:t>
            </a:r>
            <a:r>
              <a:rPr lang="en-US" sz="1100" dirty="0">
                <a:solidFill>
                  <a:srgbClr val="39C2D7"/>
                </a:solidFill>
              </a:rPr>
              <a:t>sequence</a:t>
            </a:r>
            <a:r>
              <a:rPr lang="en-US" sz="1100" dirty="0">
                <a:solidFill>
                  <a:schemeClr val="bg1"/>
                </a:solidFill>
              </a:rPr>
              <a:t>&gt;</a:t>
            </a:r>
          </a:p>
          <a:p>
            <a:r>
              <a:rPr lang="en-US" sz="1100" dirty="0">
                <a:solidFill>
                  <a:schemeClr val="bg1"/>
                </a:solidFill>
              </a:rPr>
              <a:t>		&lt;</a:t>
            </a:r>
            <a:r>
              <a:rPr lang="en-US" sz="1100" dirty="0">
                <a:solidFill>
                  <a:srgbClr val="39C2D7"/>
                </a:solidFill>
              </a:rPr>
              <a:t>element </a:t>
            </a:r>
            <a:r>
              <a:rPr lang="en-US" sz="1100" dirty="0">
                <a:solidFill>
                  <a:schemeClr val="bg1"/>
                </a:solidFill>
              </a:rPr>
              <a:t> </a:t>
            </a:r>
            <a:r>
              <a:rPr lang="en-US" sz="1100" dirty="0">
                <a:solidFill>
                  <a:srgbClr val="A3C745"/>
                </a:solidFill>
              </a:rPr>
              <a:t>name</a:t>
            </a:r>
            <a:r>
              <a:rPr lang="en-US" sz="1100" dirty="0">
                <a:solidFill>
                  <a:schemeClr val="bg1"/>
                </a:solidFill>
              </a:rPr>
              <a:t>="phone"  </a:t>
            </a:r>
            <a:r>
              <a:rPr lang="en-US" sz="1100" dirty="0">
                <a:solidFill>
                  <a:srgbClr val="A3C745"/>
                </a:solidFill>
              </a:rPr>
              <a:t>type</a:t>
            </a:r>
            <a:r>
              <a:rPr lang="en-US" sz="1100" dirty="0">
                <a:solidFill>
                  <a:schemeClr val="bg1"/>
                </a:solidFill>
              </a:rPr>
              <a:t>="string“  </a:t>
            </a:r>
            <a:r>
              <a:rPr lang="en-US" sz="1100" dirty="0">
                <a:solidFill>
                  <a:srgbClr val="A3C745"/>
                </a:solidFill>
              </a:rPr>
              <a:t>minOccurs</a:t>
            </a:r>
            <a:r>
              <a:rPr lang="en-US" sz="1100" dirty="0">
                <a:solidFill>
                  <a:schemeClr val="bg1"/>
                </a:solidFill>
              </a:rPr>
              <a:t>="1“  </a:t>
            </a:r>
            <a:r>
              <a:rPr lang="en-US" sz="1100" dirty="0" err="1">
                <a:solidFill>
                  <a:srgbClr val="A3C745"/>
                </a:solidFill>
              </a:rPr>
              <a:t>maxOccurs</a:t>
            </a:r>
            <a:r>
              <a:rPr lang="en-US" sz="1100" dirty="0">
                <a:solidFill>
                  <a:schemeClr val="bg1"/>
                </a:solidFill>
              </a:rPr>
              <a:t>="1" /&gt;</a:t>
            </a:r>
          </a:p>
          <a:p>
            <a:r>
              <a:rPr lang="en-US" sz="1100" dirty="0">
                <a:solidFill>
                  <a:schemeClr val="bg1"/>
                </a:solidFill>
              </a:rPr>
              <a:t>		&lt;</a:t>
            </a:r>
            <a:r>
              <a:rPr lang="en-US" sz="1100" dirty="0">
                <a:solidFill>
                  <a:srgbClr val="39C2D7"/>
                </a:solidFill>
              </a:rPr>
              <a:t>element </a:t>
            </a:r>
            <a:r>
              <a:rPr lang="en-US" sz="1100" dirty="0">
                <a:solidFill>
                  <a:schemeClr val="bg1"/>
                </a:solidFill>
              </a:rPr>
              <a:t> </a:t>
            </a:r>
            <a:r>
              <a:rPr lang="en-US" sz="1100" dirty="0">
                <a:solidFill>
                  <a:srgbClr val="A3C745"/>
                </a:solidFill>
              </a:rPr>
              <a:t>name</a:t>
            </a:r>
            <a:r>
              <a:rPr lang="en-US" sz="1100" dirty="0">
                <a:solidFill>
                  <a:schemeClr val="bg1"/>
                </a:solidFill>
              </a:rPr>
              <a:t>="text"  </a:t>
            </a:r>
            <a:r>
              <a:rPr lang="en-US" sz="1100" dirty="0">
                <a:solidFill>
                  <a:srgbClr val="A3C745"/>
                </a:solidFill>
              </a:rPr>
              <a:t>type</a:t>
            </a:r>
            <a:r>
              <a:rPr lang="en-US" sz="1100" dirty="0">
                <a:solidFill>
                  <a:schemeClr val="bg1"/>
                </a:solidFill>
              </a:rPr>
              <a:t>="string“  </a:t>
            </a:r>
            <a:r>
              <a:rPr lang="en-US" sz="1100" dirty="0">
                <a:solidFill>
                  <a:srgbClr val="A3C745"/>
                </a:solidFill>
              </a:rPr>
              <a:t>minOccurs</a:t>
            </a:r>
            <a:r>
              <a:rPr lang="en-US" sz="1100" dirty="0">
                <a:solidFill>
                  <a:schemeClr val="bg1"/>
                </a:solidFill>
              </a:rPr>
              <a:t>="1"  </a:t>
            </a:r>
            <a:r>
              <a:rPr lang="en-US" sz="1100" dirty="0" err="1">
                <a:solidFill>
                  <a:srgbClr val="A3C745"/>
                </a:solidFill>
              </a:rPr>
              <a:t>maxOccurs</a:t>
            </a:r>
            <a:r>
              <a:rPr lang="en-US" sz="1100" dirty="0">
                <a:solidFill>
                  <a:schemeClr val="bg1"/>
                </a:solidFill>
              </a:rPr>
              <a:t>="1" /&gt;</a:t>
            </a:r>
          </a:p>
          <a:p>
            <a:r>
              <a:rPr lang="en-US" sz="1100" dirty="0">
                <a:solidFill>
                  <a:schemeClr val="bg1"/>
                </a:solidFill>
              </a:rPr>
              <a:t>		&lt;</a:t>
            </a:r>
            <a:r>
              <a:rPr lang="en-US" sz="1100" dirty="0">
                <a:solidFill>
                  <a:srgbClr val="39C2D7"/>
                </a:solidFill>
              </a:rPr>
              <a:t>element</a:t>
            </a:r>
            <a:r>
              <a:rPr lang="en-US" sz="1100" dirty="0">
                <a:solidFill>
                  <a:schemeClr val="bg1"/>
                </a:solidFill>
              </a:rPr>
              <a:t>  </a:t>
            </a:r>
            <a:r>
              <a:rPr lang="en-US" sz="1100" dirty="0">
                <a:solidFill>
                  <a:srgbClr val="A3C745"/>
                </a:solidFill>
              </a:rPr>
              <a:t>name</a:t>
            </a:r>
            <a:r>
              <a:rPr lang="en-US" sz="1100" dirty="0">
                <a:solidFill>
                  <a:schemeClr val="bg1"/>
                </a:solidFill>
              </a:rPr>
              <a:t>="date“  </a:t>
            </a:r>
            <a:r>
              <a:rPr lang="en-US" sz="1100" dirty="0">
                <a:solidFill>
                  <a:srgbClr val="A3C745"/>
                </a:solidFill>
              </a:rPr>
              <a:t>type</a:t>
            </a:r>
            <a:r>
              <a:rPr lang="en-US" sz="1100" dirty="0">
                <a:solidFill>
                  <a:schemeClr val="bg1"/>
                </a:solidFill>
              </a:rPr>
              <a:t>="</a:t>
            </a:r>
            <a:r>
              <a:rPr lang="en-US" sz="1100" dirty="0" err="1">
                <a:solidFill>
                  <a:schemeClr val="bg1"/>
                </a:solidFill>
              </a:rPr>
              <a:t>dateTime</a:t>
            </a:r>
            <a:r>
              <a:rPr lang="en-US" sz="1100" dirty="0">
                <a:solidFill>
                  <a:schemeClr val="bg1"/>
                </a:solidFill>
              </a:rPr>
              <a:t>"  </a:t>
            </a:r>
            <a:r>
              <a:rPr lang="en-US" sz="1100" dirty="0">
                <a:solidFill>
                  <a:srgbClr val="A3C745"/>
                </a:solidFill>
              </a:rPr>
              <a:t>minOccurs</a:t>
            </a:r>
            <a:r>
              <a:rPr lang="en-US" sz="1100" dirty="0">
                <a:solidFill>
                  <a:schemeClr val="bg1"/>
                </a:solidFill>
              </a:rPr>
              <a:t>="1“  </a:t>
            </a:r>
            <a:r>
              <a:rPr lang="en-US" sz="1100" dirty="0" err="1">
                <a:solidFill>
                  <a:srgbClr val="A3C745"/>
                </a:solidFill>
              </a:rPr>
              <a:t>maxOccurs</a:t>
            </a:r>
            <a:r>
              <a:rPr lang="en-US" sz="1100" dirty="0">
                <a:solidFill>
                  <a:schemeClr val="bg1"/>
                </a:solidFill>
              </a:rPr>
              <a:t>="1" /&gt;</a:t>
            </a:r>
          </a:p>
          <a:p>
            <a:r>
              <a:rPr lang="en-US" sz="1100" dirty="0">
                <a:solidFill>
                  <a:schemeClr val="bg1"/>
                </a:solidFill>
              </a:rPr>
              <a:t>		&lt;</a:t>
            </a:r>
            <a:r>
              <a:rPr lang="en-US" sz="1100" dirty="0">
                <a:solidFill>
                  <a:srgbClr val="39C2D7"/>
                </a:solidFill>
              </a:rPr>
              <a:t>element</a:t>
            </a:r>
            <a:r>
              <a:rPr lang="en-US" sz="1100" dirty="0">
                <a:solidFill>
                  <a:schemeClr val="bg1"/>
                </a:solidFill>
              </a:rPr>
              <a:t>  </a:t>
            </a:r>
            <a:r>
              <a:rPr lang="en-US" sz="1100" dirty="0">
                <a:solidFill>
                  <a:srgbClr val="A3C745"/>
                </a:solidFill>
              </a:rPr>
              <a:t>name</a:t>
            </a:r>
            <a:r>
              <a:rPr lang="en-US" sz="1100" dirty="0">
                <a:solidFill>
                  <a:schemeClr val="bg1"/>
                </a:solidFill>
              </a:rPr>
              <a:t>="type"  </a:t>
            </a:r>
            <a:r>
              <a:rPr lang="en-US" sz="1100" dirty="0">
                <a:solidFill>
                  <a:srgbClr val="A3C745"/>
                </a:solidFill>
              </a:rPr>
              <a:t>type</a:t>
            </a:r>
            <a:r>
              <a:rPr lang="en-US" sz="1100" dirty="0">
                <a:solidFill>
                  <a:schemeClr val="bg1"/>
                </a:solidFill>
              </a:rPr>
              <a:t>="decimal“  </a:t>
            </a:r>
            <a:r>
              <a:rPr lang="en-US" sz="1100" dirty="0">
                <a:solidFill>
                  <a:srgbClr val="A3C745"/>
                </a:solidFill>
              </a:rPr>
              <a:t>minOccurs</a:t>
            </a:r>
            <a:r>
              <a:rPr lang="en-US" sz="1100" dirty="0">
                <a:solidFill>
                  <a:schemeClr val="bg1"/>
                </a:solidFill>
              </a:rPr>
              <a:t>="1"  </a:t>
            </a:r>
            <a:r>
              <a:rPr lang="en-US" sz="1100" dirty="0" err="1">
                <a:solidFill>
                  <a:srgbClr val="A3C745"/>
                </a:solidFill>
              </a:rPr>
              <a:t>maxOccurs</a:t>
            </a:r>
            <a:r>
              <a:rPr lang="en-US" sz="1100" dirty="0">
                <a:solidFill>
                  <a:schemeClr val="bg1"/>
                </a:solidFill>
              </a:rPr>
              <a:t>="1" /&gt;</a:t>
            </a:r>
          </a:p>
          <a:p>
            <a:r>
              <a:rPr lang="en-US" sz="1100" dirty="0">
                <a:solidFill>
                  <a:schemeClr val="bg1"/>
                </a:solidFill>
              </a:rPr>
              <a:t>	&lt;/</a:t>
            </a:r>
            <a:r>
              <a:rPr lang="en-US" sz="1100" dirty="0">
                <a:solidFill>
                  <a:srgbClr val="39C2D7"/>
                </a:solidFill>
              </a:rPr>
              <a:t>sequence</a:t>
            </a:r>
            <a:r>
              <a:rPr lang="en-US" sz="1100" dirty="0">
                <a:solidFill>
                  <a:schemeClr val="bg1"/>
                </a:solidFill>
              </a:rPr>
              <a:t>&gt;</a:t>
            </a:r>
          </a:p>
          <a:p>
            <a:r>
              <a:rPr lang="en-US" sz="1100" dirty="0">
                <a:solidFill>
                  <a:schemeClr val="bg1"/>
                </a:solidFill>
              </a:rPr>
              <a:t>&lt;/</a:t>
            </a:r>
            <a:r>
              <a:rPr lang="en-US" sz="1100" dirty="0" err="1">
                <a:solidFill>
                  <a:srgbClr val="39C2D7"/>
                </a:solidFill>
              </a:rPr>
              <a:t>complexType</a:t>
            </a:r>
            <a:r>
              <a:rPr lang="en-US" sz="1100" dirty="0">
                <a:solidFill>
                  <a:schemeClr val="bg1"/>
                </a:solidFill>
              </a:rPr>
              <a:t>&gt;</a:t>
            </a:r>
          </a:p>
          <a:p>
            <a:endParaRPr lang="en-US" sz="1100" dirty="0">
              <a:solidFill>
                <a:schemeClr val="bg1"/>
              </a:solidFill>
            </a:endParaRPr>
          </a:p>
          <a:p>
            <a:r>
              <a:rPr lang="en-US" sz="1100" dirty="0">
                <a:solidFill>
                  <a:schemeClr val="bg1"/>
                </a:solidFill>
              </a:rPr>
              <a:t>&lt;</a:t>
            </a:r>
            <a:r>
              <a:rPr lang="en-US" sz="1100" dirty="0">
                <a:solidFill>
                  <a:srgbClr val="39C2D7"/>
                </a:solidFill>
              </a:rPr>
              <a:t>element</a:t>
            </a:r>
            <a:r>
              <a:rPr lang="en-US" sz="1100" dirty="0">
                <a:solidFill>
                  <a:schemeClr val="bg1"/>
                </a:solidFill>
              </a:rPr>
              <a:t>  </a:t>
            </a:r>
            <a:r>
              <a:rPr lang="en-US" sz="1100" dirty="0">
                <a:solidFill>
                  <a:srgbClr val="A3C745"/>
                </a:solidFill>
              </a:rPr>
              <a:t>name</a:t>
            </a:r>
            <a:r>
              <a:rPr lang="en-US" sz="1100" dirty="0">
                <a:solidFill>
                  <a:schemeClr val="bg1"/>
                </a:solidFill>
              </a:rPr>
              <a:t>="</a:t>
            </a:r>
            <a:r>
              <a:rPr lang="en-US" sz="1100" dirty="0" err="1">
                <a:solidFill>
                  <a:schemeClr val="bg1"/>
                </a:solidFill>
              </a:rPr>
              <a:t>messageList</a:t>
            </a:r>
            <a:r>
              <a:rPr lang="en-US" sz="1100" dirty="0">
                <a:solidFill>
                  <a:schemeClr val="bg1"/>
                </a:solidFill>
              </a:rPr>
              <a:t>“  </a:t>
            </a:r>
            <a:r>
              <a:rPr lang="en-US" sz="1100" dirty="0">
                <a:solidFill>
                  <a:srgbClr val="A3C745"/>
                </a:solidFill>
              </a:rPr>
              <a:t>type</a:t>
            </a:r>
            <a:r>
              <a:rPr lang="en-US" sz="1100" dirty="0">
                <a:solidFill>
                  <a:schemeClr val="bg1"/>
                </a:solidFill>
              </a:rPr>
              <a:t>="</a:t>
            </a:r>
            <a:r>
              <a:rPr lang="en-US" sz="1100" dirty="0" err="1">
                <a:solidFill>
                  <a:schemeClr val="bg1"/>
                </a:solidFill>
              </a:rPr>
              <a:t>MessageList</a:t>
            </a:r>
            <a:r>
              <a:rPr lang="en-US" sz="1100" dirty="0">
                <a:solidFill>
                  <a:schemeClr val="bg1"/>
                </a:solidFill>
              </a:rPr>
              <a:t>" /&gt;</a:t>
            </a:r>
          </a:p>
          <a:p>
            <a:r>
              <a:rPr lang="en-US" sz="1100" dirty="0">
                <a:solidFill>
                  <a:schemeClr val="bg1"/>
                </a:solidFill>
              </a:rPr>
              <a:t>&lt;</a:t>
            </a:r>
            <a:r>
              <a:rPr lang="en-US" sz="1100" dirty="0" err="1">
                <a:solidFill>
                  <a:srgbClr val="39C2D7"/>
                </a:solidFill>
              </a:rPr>
              <a:t>complexType</a:t>
            </a:r>
            <a:r>
              <a:rPr lang="en-US" sz="1100" dirty="0">
                <a:solidFill>
                  <a:srgbClr val="39C2D7"/>
                </a:solidFill>
              </a:rPr>
              <a:t> </a:t>
            </a:r>
            <a:r>
              <a:rPr lang="en-US" sz="1100" dirty="0">
                <a:solidFill>
                  <a:schemeClr val="bg1"/>
                </a:solidFill>
              </a:rPr>
              <a:t> </a:t>
            </a:r>
            <a:r>
              <a:rPr lang="en-US" sz="1100" dirty="0">
                <a:solidFill>
                  <a:srgbClr val="A3C745"/>
                </a:solidFill>
              </a:rPr>
              <a:t>name</a:t>
            </a:r>
            <a:r>
              <a:rPr lang="en-US" sz="1100" dirty="0">
                <a:solidFill>
                  <a:schemeClr val="bg1"/>
                </a:solidFill>
              </a:rPr>
              <a:t>="</a:t>
            </a:r>
            <a:r>
              <a:rPr lang="en-US" sz="1100" dirty="0" err="1">
                <a:solidFill>
                  <a:schemeClr val="bg1"/>
                </a:solidFill>
              </a:rPr>
              <a:t>MessageList</a:t>
            </a:r>
            <a:r>
              <a:rPr lang="en-US" sz="1100" dirty="0">
                <a:solidFill>
                  <a:schemeClr val="bg1"/>
                </a:solidFill>
              </a:rPr>
              <a:t>"&gt;</a:t>
            </a:r>
          </a:p>
          <a:p>
            <a:r>
              <a:rPr lang="en-US" sz="1100" dirty="0">
                <a:solidFill>
                  <a:schemeClr val="bg1"/>
                </a:solidFill>
              </a:rPr>
              <a:t>	&lt;</a:t>
            </a:r>
            <a:r>
              <a:rPr lang="en-US" sz="1100" dirty="0">
                <a:solidFill>
                  <a:srgbClr val="39C2D7"/>
                </a:solidFill>
              </a:rPr>
              <a:t>sequence</a:t>
            </a:r>
            <a:r>
              <a:rPr lang="en-US" sz="1100" dirty="0">
                <a:solidFill>
                  <a:schemeClr val="bg1"/>
                </a:solidFill>
              </a:rPr>
              <a:t>&gt;</a:t>
            </a:r>
          </a:p>
          <a:p>
            <a:r>
              <a:rPr lang="en-US" sz="1100" dirty="0">
                <a:solidFill>
                  <a:schemeClr val="bg1"/>
                </a:solidFill>
              </a:rPr>
              <a:t>		&lt;</a:t>
            </a:r>
            <a:r>
              <a:rPr lang="en-US" sz="1100" dirty="0">
                <a:solidFill>
                  <a:srgbClr val="39C2D7"/>
                </a:solidFill>
              </a:rPr>
              <a:t>element</a:t>
            </a:r>
            <a:r>
              <a:rPr lang="en-US" sz="1100" dirty="0">
                <a:solidFill>
                  <a:schemeClr val="bg1"/>
                </a:solidFill>
              </a:rPr>
              <a:t>  </a:t>
            </a:r>
            <a:r>
              <a:rPr lang="en-US" sz="1100" dirty="0">
                <a:solidFill>
                  <a:srgbClr val="A3C745"/>
                </a:solidFill>
              </a:rPr>
              <a:t>minOccurs</a:t>
            </a:r>
            <a:r>
              <a:rPr lang="en-US" sz="1100" dirty="0">
                <a:solidFill>
                  <a:schemeClr val="bg1"/>
                </a:solidFill>
              </a:rPr>
              <a:t>="1"  </a:t>
            </a:r>
            <a:r>
              <a:rPr lang="en-US" sz="1100" dirty="0" err="1">
                <a:solidFill>
                  <a:srgbClr val="A3C745"/>
                </a:solidFill>
              </a:rPr>
              <a:t>maxOccurs</a:t>
            </a:r>
            <a:r>
              <a:rPr lang="en-US" sz="1100" dirty="0">
                <a:solidFill>
                  <a:schemeClr val="bg1"/>
                </a:solidFill>
              </a:rPr>
              <a:t>="unbounded“  </a:t>
            </a:r>
            <a:r>
              <a:rPr lang="en-US" sz="1100" dirty="0">
                <a:solidFill>
                  <a:srgbClr val="A3C745"/>
                </a:solidFill>
              </a:rPr>
              <a:t>name</a:t>
            </a:r>
            <a:r>
              <a:rPr lang="en-US" sz="1100" dirty="0">
                <a:solidFill>
                  <a:schemeClr val="bg1"/>
                </a:solidFill>
              </a:rPr>
              <a:t>="message“  </a:t>
            </a:r>
            <a:r>
              <a:rPr lang="en-US" sz="1100" dirty="0">
                <a:solidFill>
                  <a:srgbClr val="A3C745"/>
                </a:solidFill>
              </a:rPr>
              <a:t>type</a:t>
            </a:r>
            <a:r>
              <a:rPr lang="en-US" sz="1100" dirty="0">
                <a:solidFill>
                  <a:schemeClr val="bg1"/>
                </a:solidFill>
              </a:rPr>
              <a:t>="Message"/&gt;</a:t>
            </a:r>
          </a:p>
          <a:p>
            <a:r>
              <a:rPr lang="en-US" sz="1100" dirty="0">
                <a:solidFill>
                  <a:schemeClr val="bg1"/>
                </a:solidFill>
              </a:rPr>
              <a:t>	&lt;/</a:t>
            </a:r>
            <a:r>
              <a:rPr lang="en-US" sz="1100" dirty="0">
                <a:solidFill>
                  <a:srgbClr val="39C2D7"/>
                </a:solidFill>
              </a:rPr>
              <a:t>sequence</a:t>
            </a:r>
            <a:r>
              <a:rPr lang="en-US" sz="1100" dirty="0">
                <a:solidFill>
                  <a:schemeClr val="bg1"/>
                </a:solidFill>
              </a:rPr>
              <a:t>&gt;</a:t>
            </a:r>
          </a:p>
          <a:p>
            <a:r>
              <a:rPr lang="en-US" sz="1100" dirty="0">
                <a:solidFill>
                  <a:schemeClr val="bg1"/>
                </a:solidFill>
              </a:rPr>
              <a:t>&lt;/</a:t>
            </a:r>
            <a:r>
              <a:rPr lang="en-US" sz="1100" dirty="0" err="1">
                <a:solidFill>
                  <a:srgbClr val="39C2D7"/>
                </a:solidFill>
              </a:rPr>
              <a:t>complexType</a:t>
            </a:r>
            <a:r>
              <a:rPr lang="en-US" sz="1100" dirty="0">
                <a:solidFill>
                  <a:schemeClr val="bg1"/>
                </a:solidFill>
              </a:rPr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2555787397"/>
      </p:ext>
    </p:extLst>
  </p:cSld>
  <p:clrMapOvr>
    <a:masterClrMapping/>
  </p:clrMapOvr>
  <p:transition spd="med">
    <p:push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00034" y="2514599"/>
            <a:ext cx="3360260" cy="38318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b="1" dirty="0">
                <a:solidFill>
                  <a:srgbClr val="444444"/>
                </a:solidFill>
                <a:latin typeface="Trebuchet MS"/>
                <a:cs typeface="Trebuchet MS"/>
              </a:rPr>
              <a:t> [ </a:t>
            </a:r>
            <a:r>
              <a:rPr lang="en-US" b="1" cap="all" dirty="0">
                <a:solidFill>
                  <a:srgbClr val="A3C745"/>
                </a:solidFill>
                <a:latin typeface="Trebuchet MS"/>
                <a:cs typeface="Trebuchet MS"/>
              </a:rPr>
              <a:t>Profs </a:t>
            </a:r>
            <a:r>
              <a:rPr lang="en-US" b="1" cap="all" dirty="0">
                <a:solidFill>
                  <a:schemeClr val="tx1">
                    <a:lumMod val="50000"/>
                  </a:schemeClr>
                </a:solidFill>
                <a:latin typeface="Trebuchet MS"/>
                <a:cs typeface="Trebuchet MS"/>
              </a:rPr>
              <a:t>]</a:t>
            </a:r>
          </a:p>
          <a:p>
            <a:pPr algn="ctr">
              <a:lnSpc>
                <a:spcPct val="120000"/>
              </a:lnSpc>
            </a:pPr>
            <a:endParaRPr lang="en-US" b="1" cap="all" dirty="0">
              <a:solidFill>
                <a:schemeClr val="tx1">
                  <a:lumMod val="50000"/>
                </a:schemeClr>
              </a:solidFill>
              <a:latin typeface="Trebuchet MS"/>
              <a:cs typeface="Trebuchet MS"/>
            </a:endParaRPr>
          </a:p>
          <a:p>
            <a:pPr algn="ctr">
              <a:lnSpc>
                <a:spcPct val="120000"/>
              </a:lnSpc>
            </a:pPr>
            <a:r>
              <a:rPr lang="en-US" dirty="0">
                <a:solidFill>
                  <a:srgbClr val="444444"/>
                </a:solidFill>
                <a:cs typeface="Trebuchet MS"/>
              </a:rPr>
              <a:t>Clients are decoupled from </a:t>
            </a:r>
          </a:p>
          <a:p>
            <a:pPr algn="ctr">
              <a:lnSpc>
                <a:spcPct val="120000"/>
              </a:lnSpc>
            </a:pPr>
            <a:r>
              <a:rPr lang="en-US" dirty="0">
                <a:solidFill>
                  <a:srgbClr val="444444"/>
                </a:solidFill>
                <a:cs typeface="Trebuchet MS"/>
              </a:rPr>
              <a:t>any logic on the server</a:t>
            </a:r>
          </a:p>
          <a:p>
            <a:pPr algn="ctr">
              <a:lnSpc>
                <a:spcPct val="120000"/>
              </a:lnSpc>
            </a:pPr>
            <a:endParaRPr lang="en-US" dirty="0">
              <a:solidFill>
                <a:srgbClr val="444444"/>
              </a:solidFill>
              <a:cs typeface="Trebuchet MS"/>
            </a:endParaRPr>
          </a:p>
          <a:p>
            <a:pPr algn="ctr">
              <a:lnSpc>
                <a:spcPct val="120000"/>
              </a:lnSpc>
            </a:pPr>
            <a:r>
              <a:rPr lang="en-US" dirty="0">
                <a:solidFill>
                  <a:srgbClr val="444444"/>
                </a:solidFill>
                <a:latin typeface="Trebuchet MS"/>
                <a:cs typeface="Trebuchet MS"/>
              </a:rPr>
              <a:t>You can define exact </a:t>
            </a:r>
            <a:r>
              <a:rPr lang="en-US" dirty="0"/>
              <a:t>structure for</a:t>
            </a:r>
            <a:r>
              <a:rPr lang="en-US" dirty="0">
                <a:solidFill>
                  <a:srgbClr val="444444"/>
                </a:solidFill>
                <a:latin typeface="Trebuchet MS"/>
                <a:cs typeface="Trebuchet MS"/>
              </a:rPr>
              <a:t> </a:t>
            </a:r>
            <a:r>
              <a:rPr lang="en-US" dirty="0"/>
              <a:t>WSDL  and request/response messages</a:t>
            </a:r>
          </a:p>
          <a:p>
            <a:pPr algn="ctr">
              <a:lnSpc>
                <a:spcPct val="120000"/>
              </a:lnSpc>
            </a:pPr>
            <a:endParaRPr lang="en-US" dirty="0">
              <a:solidFill>
                <a:srgbClr val="444444"/>
              </a:solidFill>
              <a:latin typeface="Trebuchet MS"/>
              <a:cs typeface="Trebuchet MS"/>
            </a:endParaRPr>
          </a:p>
          <a:p>
            <a:pPr algn="ctr">
              <a:lnSpc>
                <a:spcPct val="120000"/>
              </a:lnSpc>
            </a:pPr>
            <a:endParaRPr lang="en-US" dirty="0">
              <a:solidFill>
                <a:srgbClr val="444444"/>
              </a:solidFill>
              <a:latin typeface="Trebuchet MS"/>
              <a:cs typeface="Trebuchet MS"/>
            </a:endParaRPr>
          </a:p>
          <a:p>
            <a:pPr algn="ctr">
              <a:lnSpc>
                <a:spcPct val="120000"/>
              </a:lnSpc>
            </a:pPr>
            <a:r>
              <a:rPr lang="en-US" b="1" dirty="0">
                <a:solidFill>
                  <a:srgbClr val="444444"/>
                </a:solidFill>
                <a:latin typeface="Trebuchet MS"/>
                <a:cs typeface="Trebuchet MS"/>
              </a:rPr>
              <a:t> [ </a:t>
            </a:r>
            <a:r>
              <a:rPr lang="en-US" b="1" cap="all" dirty="0">
                <a:solidFill>
                  <a:srgbClr val="B22746"/>
                </a:solidFill>
                <a:latin typeface="Trebuchet MS"/>
                <a:cs typeface="Trebuchet MS"/>
              </a:rPr>
              <a:t>Cons </a:t>
            </a:r>
            <a:r>
              <a:rPr lang="en-US" b="1" cap="all" dirty="0">
                <a:solidFill>
                  <a:schemeClr val="tx1">
                    <a:lumMod val="50000"/>
                  </a:schemeClr>
                </a:solidFill>
                <a:latin typeface="Trebuchet MS"/>
                <a:cs typeface="Trebuchet MS"/>
              </a:rPr>
              <a:t>]</a:t>
            </a:r>
          </a:p>
          <a:p>
            <a:pPr algn="ctr">
              <a:lnSpc>
                <a:spcPct val="120000"/>
              </a:lnSpc>
            </a:pPr>
            <a:endParaRPr lang="en-US" b="1" cap="all" dirty="0">
              <a:solidFill>
                <a:schemeClr val="tx1">
                  <a:lumMod val="50000"/>
                </a:schemeClr>
              </a:solidFill>
              <a:latin typeface="Trebuchet MS"/>
              <a:cs typeface="Trebuchet MS"/>
            </a:endParaRPr>
          </a:p>
          <a:p>
            <a:pPr algn="ctr">
              <a:lnSpc>
                <a:spcPct val="120000"/>
              </a:lnSpc>
            </a:pPr>
            <a:r>
              <a:rPr lang="en-US" dirty="0">
                <a:solidFill>
                  <a:srgbClr val="444444"/>
                </a:solidFill>
                <a:latin typeface="Trebuchet MS"/>
                <a:cs typeface="Trebuchet MS"/>
              </a:rPr>
              <a:t>You need to wright XSD</a:t>
            </a:r>
          </a:p>
          <a:p>
            <a:pPr algn="ctr">
              <a:lnSpc>
                <a:spcPct val="120000"/>
              </a:lnSpc>
            </a:pPr>
            <a:r>
              <a:rPr lang="en-US" dirty="0">
                <a:solidFill>
                  <a:srgbClr val="444444"/>
                </a:solidFill>
                <a:latin typeface="Trebuchet MS"/>
                <a:cs typeface="Trebuchet MS"/>
              </a:rPr>
              <a:t>and apply additional configurations</a:t>
            </a:r>
          </a:p>
          <a:p>
            <a:pPr algn="ctr">
              <a:lnSpc>
                <a:spcPct val="120000"/>
              </a:lnSpc>
            </a:pPr>
            <a:endParaRPr lang="en-US" dirty="0">
              <a:solidFill>
                <a:srgbClr val="444444"/>
              </a:solidFill>
              <a:latin typeface="Trebuchet MS"/>
              <a:cs typeface="Trebuchet MS"/>
            </a:endParaRPr>
          </a:p>
          <a:p>
            <a:pPr marL="285750" indent="-285750" algn="ctr">
              <a:lnSpc>
                <a:spcPct val="120000"/>
              </a:lnSpc>
              <a:buFontTx/>
              <a:buChar char="-"/>
            </a:pPr>
            <a:endParaRPr lang="en-US" dirty="0">
              <a:solidFill>
                <a:srgbClr val="444444"/>
              </a:solidFill>
              <a:latin typeface="Trebuchet MS"/>
              <a:cs typeface="Trebuchet M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57200" y="983397"/>
            <a:ext cx="3853181" cy="394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1800" b="1" cap="all" dirty="0"/>
              <a:t>Contract - first</a:t>
            </a:r>
            <a:endParaRPr lang="en-US" sz="1800" dirty="0">
              <a:solidFill>
                <a:srgbClr val="444444"/>
              </a:solidFill>
              <a:latin typeface="Trebuchet MS"/>
              <a:cs typeface="Trebuchet M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841079" y="983397"/>
            <a:ext cx="3853181" cy="394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1800" b="1" cap="all" dirty="0"/>
              <a:t>Contract - last</a:t>
            </a:r>
            <a:endParaRPr lang="en-US" sz="1800" dirty="0">
              <a:solidFill>
                <a:srgbClr val="444444"/>
              </a:solidFill>
              <a:latin typeface="Trebuchet MS"/>
              <a:cs typeface="Trebuchet M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087539" y="2514599"/>
            <a:ext cx="3360260" cy="35825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b="1" dirty="0">
                <a:solidFill>
                  <a:srgbClr val="444444"/>
                </a:solidFill>
                <a:latin typeface="Trebuchet MS"/>
                <a:cs typeface="Trebuchet MS"/>
              </a:rPr>
              <a:t> [ </a:t>
            </a:r>
            <a:r>
              <a:rPr lang="en-US" b="1" cap="all" dirty="0">
                <a:solidFill>
                  <a:srgbClr val="A3C745"/>
                </a:solidFill>
                <a:latin typeface="Trebuchet MS"/>
                <a:cs typeface="Trebuchet MS"/>
              </a:rPr>
              <a:t>Profs</a:t>
            </a:r>
            <a:r>
              <a:rPr lang="en-US" b="1" dirty="0">
                <a:solidFill>
                  <a:srgbClr val="A3C745"/>
                </a:solidFill>
                <a:latin typeface="Trebuchet MS"/>
                <a:cs typeface="Trebuchet MS"/>
              </a:rPr>
              <a:t> </a:t>
            </a:r>
            <a:r>
              <a:rPr lang="en-US" b="1" dirty="0">
                <a:solidFill>
                  <a:schemeClr val="tx1">
                    <a:lumMod val="50000"/>
                  </a:schemeClr>
                </a:solidFill>
                <a:latin typeface="Trebuchet MS"/>
                <a:cs typeface="Trebuchet MS"/>
              </a:rPr>
              <a:t>]</a:t>
            </a:r>
          </a:p>
          <a:p>
            <a:pPr algn="ctr">
              <a:lnSpc>
                <a:spcPct val="120000"/>
              </a:lnSpc>
            </a:pPr>
            <a:endParaRPr lang="en-US" b="1" dirty="0">
              <a:solidFill>
                <a:schemeClr val="tx1">
                  <a:lumMod val="50000"/>
                </a:schemeClr>
              </a:solidFill>
              <a:latin typeface="Trebuchet MS"/>
              <a:cs typeface="Trebuchet MS"/>
            </a:endParaRPr>
          </a:p>
          <a:p>
            <a:pPr algn="ctr">
              <a:lnSpc>
                <a:spcPct val="120000"/>
              </a:lnSpc>
            </a:pPr>
            <a:r>
              <a:rPr lang="en-US" dirty="0"/>
              <a:t>You don't need to learn SOAP </a:t>
            </a:r>
          </a:p>
          <a:p>
            <a:pPr algn="ctr">
              <a:lnSpc>
                <a:spcPct val="120000"/>
              </a:lnSpc>
            </a:pPr>
            <a:r>
              <a:rPr lang="en-US" dirty="0"/>
              <a:t>or any XML-related technologies</a:t>
            </a:r>
          </a:p>
          <a:p>
            <a:pPr algn="ctr">
              <a:lnSpc>
                <a:spcPct val="120000"/>
              </a:lnSpc>
            </a:pPr>
            <a:endParaRPr lang="en-US" dirty="0"/>
          </a:p>
          <a:p>
            <a:pPr algn="ctr">
              <a:lnSpc>
                <a:spcPct val="120000"/>
              </a:lnSpc>
            </a:pPr>
            <a:r>
              <a:rPr lang="en-US" dirty="0">
                <a:solidFill>
                  <a:srgbClr val="444444"/>
                </a:solidFill>
                <a:latin typeface="Trebuchet MS"/>
                <a:cs typeface="Trebuchet MS"/>
              </a:rPr>
              <a:t>Potentially faster development</a:t>
            </a:r>
          </a:p>
          <a:p>
            <a:pPr algn="ctr">
              <a:lnSpc>
                <a:spcPct val="120000"/>
              </a:lnSpc>
            </a:pPr>
            <a:endParaRPr lang="en-US" dirty="0">
              <a:solidFill>
                <a:srgbClr val="444444"/>
              </a:solidFill>
              <a:latin typeface="Trebuchet MS"/>
              <a:cs typeface="Trebuchet MS"/>
            </a:endParaRPr>
          </a:p>
          <a:p>
            <a:pPr algn="ctr">
              <a:lnSpc>
                <a:spcPct val="120000"/>
              </a:lnSpc>
            </a:pPr>
            <a:endParaRPr lang="en-US" dirty="0">
              <a:solidFill>
                <a:srgbClr val="444444"/>
              </a:solidFill>
              <a:latin typeface="Trebuchet MS"/>
              <a:cs typeface="Trebuchet MS"/>
            </a:endParaRPr>
          </a:p>
          <a:p>
            <a:pPr algn="ctr">
              <a:lnSpc>
                <a:spcPct val="120000"/>
              </a:lnSpc>
            </a:pPr>
            <a:r>
              <a:rPr lang="en-US" b="1" dirty="0">
                <a:solidFill>
                  <a:srgbClr val="444444"/>
                </a:solidFill>
                <a:latin typeface="Trebuchet MS"/>
                <a:cs typeface="Trebuchet MS"/>
              </a:rPr>
              <a:t>[ </a:t>
            </a:r>
            <a:r>
              <a:rPr lang="en-US" b="1" cap="all" dirty="0">
                <a:solidFill>
                  <a:srgbClr val="B22746"/>
                </a:solidFill>
                <a:latin typeface="Trebuchet MS"/>
                <a:cs typeface="Trebuchet MS"/>
              </a:rPr>
              <a:t>Cons</a:t>
            </a:r>
            <a:r>
              <a:rPr lang="en-US" b="1" dirty="0">
                <a:solidFill>
                  <a:srgbClr val="B22746"/>
                </a:solidFill>
                <a:latin typeface="Trebuchet MS"/>
                <a:cs typeface="Trebuchet MS"/>
              </a:rPr>
              <a:t> </a:t>
            </a:r>
            <a:r>
              <a:rPr lang="en-US" b="1" dirty="0">
                <a:solidFill>
                  <a:schemeClr val="tx1">
                    <a:lumMod val="50000"/>
                  </a:schemeClr>
                </a:solidFill>
                <a:latin typeface="Trebuchet MS"/>
                <a:cs typeface="Trebuchet MS"/>
              </a:rPr>
              <a:t>]</a:t>
            </a:r>
          </a:p>
          <a:p>
            <a:pPr algn="ctr">
              <a:lnSpc>
                <a:spcPct val="120000"/>
              </a:lnSpc>
            </a:pPr>
            <a:endParaRPr lang="en-US" b="1" dirty="0">
              <a:solidFill>
                <a:schemeClr val="tx1">
                  <a:lumMod val="50000"/>
                </a:schemeClr>
              </a:solidFill>
              <a:latin typeface="Trebuchet MS"/>
              <a:cs typeface="Trebuchet MS"/>
            </a:endParaRPr>
          </a:p>
          <a:p>
            <a:pPr algn="ctr">
              <a:lnSpc>
                <a:spcPct val="120000"/>
              </a:lnSpc>
            </a:pPr>
            <a:r>
              <a:rPr lang="en-US" dirty="0">
                <a:solidFill>
                  <a:srgbClr val="444444"/>
                </a:solidFill>
                <a:latin typeface="Trebuchet MS"/>
                <a:cs typeface="Trebuchet MS"/>
              </a:rPr>
              <a:t>No control over WSDL </a:t>
            </a:r>
          </a:p>
          <a:p>
            <a:pPr algn="ctr">
              <a:lnSpc>
                <a:spcPct val="120000"/>
              </a:lnSpc>
            </a:pPr>
            <a:r>
              <a:rPr lang="en-US" dirty="0">
                <a:solidFill>
                  <a:srgbClr val="444444"/>
                </a:solidFill>
                <a:latin typeface="Trebuchet MS"/>
                <a:cs typeface="Trebuchet MS"/>
              </a:rPr>
              <a:t>and XML elements passed in SOAP payload</a:t>
            </a:r>
          </a:p>
          <a:p>
            <a:pPr marL="285750" indent="-285750" algn="ctr">
              <a:lnSpc>
                <a:spcPct val="120000"/>
              </a:lnSpc>
              <a:buFontTx/>
              <a:buChar char="-"/>
            </a:pPr>
            <a:endParaRPr lang="en-US" dirty="0">
              <a:solidFill>
                <a:srgbClr val="444444"/>
              </a:solidFill>
              <a:latin typeface="Trebuchet MS"/>
              <a:cs typeface="Trebuchet MS"/>
            </a:endParaRPr>
          </a:p>
        </p:txBody>
      </p:sp>
      <p:cxnSp>
        <p:nvCxnSpPr>
          <p:cNvPr id="11" name="Пряма сполучна лінія 10"/>
          <p:cNvCxnSpPr/>
          <p:nvPr/>
        </p:nvCxnSpPr>
        <p:spPr>
          <a:xfrm flipV="1">
            <a:off x="4582171" y="609600"/>
            <a:ext cx="0" cy="5943600"/>
          </a:xfrm>
          <a:prstGeom prst="line">
            <a:avLst/>
          </a:prstGeom>
          <a:effectLst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37064" y="1519212"/>
            <a:ext cx="3886200" cy="3190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dirty="0">
                <a:solidFill>
                  <a:srgbClr val="444444"/>
                </a:solidFill>
                <a:latin typeface="Trebuchet MS"/>
                <a:cs typeface="Trebuchet MS"/>
              </a:rPr>
              <a:t>write </a:t>
            </a:r>
            <a:r>
              <a:rPr lang="en-US" b="1" dirty="0">
                <a:solidFill>
                  <a:srgbClr val="444444"/>
                </a:solidFill>
                <a:latin typeface="Trebuchet MS"/>
                <a:cs typeface="Trebuchet MS"/>
              </a:rPr>
              <a:t>WSDL</a:t>
            </a:r>
            <a:r>
              <a:rPr lang="en-US" dirty="0">
                <a:solidFill>
                  <a:srgbClr val="444444"/>
                </a:solidFill>
                <a:latin typeface="Trebuchet MS"/>
                <a:cs typeface="Trebuchet MS"/>
              </a:rPr>
              <a:t> --- generate </a:t>
            </a:r>
            <a:r>
              <a:rPr lang="en-US" b="1" dirty="0">
                <a:solidFill>
                  <a:srgbClr val="444444"/>
                </a:solidFill>
                <a:latin typeface="Trebuchet MS"/>
                <a:cs typeface="Trebuchet MS"/>
              </a:rPr>
              <a:t>CODE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22212" y="1507927"/>
            <a:ext cx="3886200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dirty="0">
                <a:solidFill>
                  <a:srgbClr val="444444"/>
                </a:solidFill>
                <a:latin typeface="Trebuchet MS"/>
                <a:cs typeface="Trebuchet MS"/>
              </a:rPr>
              <a:t>write </a:t>
            </a:r>
            <a:r>
              <a:rPr lang="en-US" b="1" dirty="0">
                <a:solidFill>
                  <a:srgbClr val="444444"/>
                </a:solidFill>
                <a:latin typeface="Trebuchet MS"/>
                <a:cs typeface="Trebuchet MS"/>
              </a:rPr>
              <a:t>CODE</a:t>
            </a:r>
            <a:r>
              <a:rPr lang="en-US" dirty="0">
                <a:solidFill>
                  <a:srgbClr val="444444"/>
                </a:solidFill>
                <a:latin typeface="Trebuchet MS"/>
                <a:cs typeface="Trebuchet MS"/>
              </a:rPr>
              <a:t> --- generate </a:t>
            </a:r>
            <a:r>
              <a:rPr lang="en-US" b="1" dirty="0">
                <a:solidFill>
                  <a:srgbClr val="444444"/>
                </a:solidFill>
                <a:latin typeface="Trebuchet MS"/>
                <a:cs typeface="Trebuchet MS"/>
              </a:rPr>
              <a:t>WSDL</a:t>
            </a:r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-1" y="0"/>
            <a:ext cx="9164345" cy="590550"/>
          </a:xfrm>
          <a:prstGeom prst="rect">
            <a:avLst/>
          </a:prstGeom>
          <a:solidFill>
            <a:srgbClr val="464547"/>
          </a:solidFill>
          <a:ln>
            <a:noFill/>
          </a:ln>
          <a:effectLst>
            <a:outerShdw blurRad="38100" dist="25400" dir="5400000" algn="t" rotWithShape="0">
              <a:schemeClr val="tx1">
                <a:lumMod val="50000"/>
                <a:alpha val="70000"/>
              </a:schemeClr>
            </a:outerShdw>
          </a:effectLst>
        </p:spPr>
        <p:txBody>
          <a:bodyPr/>
          <a:lstStyle/>
          <a:p>
            <a:r>
              <a:rPr lang="en-US" dirty="0">
                <a:solidFill>
                  <a:srgbClr val="39C2D7"/>
                </a:solidFill>
                <a:effectLst>
                  <a:outerShdw blurRad="50800" dist="38100" dir="5400000" algn="ctr" rotWithShape="0">
                    <a:schemeClr val="tx1">
                      <a:lumMod val="75000"/>
                    </a:schemeClr>
                  </a:outerShdw>
                </a:effectLst>
              </a:rPr>
              <a:t>SOAP/ </a:t>
            </a:r>
            <a:r>
              <a:rPr lang="en-US" dirty="0">
                <a:solidFill>
                  <a:srgbClr val="39C2D7"/>
                </a:solidFill>
              </a:rPr>
              <a:t>Development approaches</a:t>
            </a:r>
            <a:endParaRPr lang="en-US" dirty="0">
              <a:solidFill>
                <a:srgbClr val="39C2D7"/>
              </a:solidFill>
              <a:effectLst>
                <a:outerShdw blurRad="50800" dist="38100" dir="5400000" algn="ctr" rotWithShape="0">
                  <a:schemeClr val="tx1">
                    <a:lumMod val="75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899519983"/>
      </p:ext>
    </p:extLst>
  </p:cSld>
  <p:clrMapOvr>
    <a:masterClrMapping/>
  </p:clrMapOvr>
  <p:transition spd="med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0" y="0"/>
            <a:ext cx="9144000" cy="590550"/>
          </a:xfrm>
          <a:prstGeom prst="rect">
            <a:avLst/>
          </a:prstGeom>
          <a:solidFill>
            <a:srgbClr val="464547"/>
          </a:solidFill>
          <a:ln>
            <a:noFill/>
          </a:ln>
          <a:effectLst>
            <a:outerShdw blurRad="38100" dist="25400" dir="5400000" algn="t" rotWithShape="0">
              <a:schemeClr val="tx1">
                <a:lumMod val="50000"/>
                <a:alpha val="70000"/>
              </a:schemeClr>
            </a:outerShdw>
          </a:effectLst>
        </p:spPr>
        <p:txBody>
          <a:bodyPr/>
          <a:lstStyle/>
          <a:p>
            <a:r>
              <a:rPr lang="en-US" dirty="0">
                <a:solidFill>
                  <a:srgbClr val="39C2D7"/>
                </a:solidFill>
                <a:effectLst>
                  <a:outerShdw blurRad="50800" dist="38100" dir="5400000" algn="ctr" rotWithShape="0">
                    <a:schemeClr val="tx1">
                      <a:lumMod val="75000"/>
                    </a:schemeClr>
                  </a:outerShdw>
                </a:effectLst>
              </a:rPr>
              <a:t>SOAP/ Generate it!</a:t>
            </a:r>
          </a:p>
        </p:txBody>
      </p:sp>
      <p:grpSp>
        <p:nvGrpSpPr>
          <p:cNvPr id="3" name="Групувати 2"/>
          <p:cNvGrpSpPr/>
          <p:nvPr/>
        </p:nvGrpSpPr>
        <p:grpSpPr>
          <a:xfrm>
            <a:off x="533400" y="835773"/>
            <a:ext cx="8077200" cy="4962248"/>
            <a:chOff x="533400" y="835773"/>
            <a:chExt cx="8077200" cy="4962248"/>
          </a:xfrm>
        </p:grpSpPr>
        <p:sp>
          <p:nvSpPr>
            <p:cNvPr id="5" name="Прямокутник 4"/>
            <p:cNvSpPr/>
            <p:nvPr/>
          </p:nvSpPr>
          <p:spPr>
            <a:xfrm>
              <a:off x="3276600" y="835773"/>
              <a:ext cx="4800600" cy="138499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285750" indent="-285750">
                <a:buClr>
                  <a:schemeClr val="tx1">
                    <a:lumMod val="50000"/>
                  </a:schemeClr>
                </a:buClr>
                <a:buFont typeface="Wingdings" panose="05000000000000000000" pitchFamily="2" charset="2"/>
                <a:buChar char="§"/>
              </a:pPr>
              <a:r>
                <a:rPr lang="en-US" sz="1200" dirty="0"/>
                <a:t>JAXB generated java classes from schema types</a:t>
              </a:r>
              <a:br>
                <a:rPr lang="en-US" sz="1200" dirty="0"/>
              </a:br>
              <a:endParaRPr lang="en-US" sz="1200" dirty="0"/>
            </a:p>
            <a:p>
              <a:pPr marL="285750" indent="-285750">
                <a:buClr>
                  <a:schemeClr val="tx1">
                    <a:lumMod val="50000"/>
                  </a:schemeClr>
                </a:buClr>
                <a:buFont typeface="Wingdings" panose="05000000000000000000" pitchFamily="2" charset="2"/>
                <a:buChar char="§"/>
              </a:pPr>
              <a:r>
                <a:rPr lang="en-US" sz="1200" dirty="0"/>
                <a:t>Service Endpoint Interface (SEI)</a:t>
              </a:r>
              <a:br>
                <a:rPr lang="en-US" sz="1200" dirty="0"/>
              </a:br>
              <a:endParaRPr lang="en-US" sz="1200" dirty="0"/>
            </a:p>
            <a:p>
              <a:pPr marL="285750" indent="-285750">
                <a:buClr>
                  <a:schemeClr val="tx1">
                    <a:lumMod val="50000"/>
                  </a:schemeClr>
                </a:buClr>
                <a:buFont typeface="Wingdings" panose="05000000000000000000" pitchFamily="2" charset="2"/>
                <a:buChar char="§"/>
              </a:pPr>
              <a:r>
                <a:rPr lang="en-US" sz="1200" dirty="0"/>
                <a:t>Exception class  - mapped from </a:t>
              </a:r>
              <a:r>
                <a:rPr lang="en-US" sz="1200" dirty="0" err="1"/>
                <a:t>wsdl:fault</a:t>
              </a:r>
              <a:br>
                <a:rPr lang="en-US" sz="1200" dirty="0"/>
              </a:br>
              <a:endParaRPr lang="en-US" sz="1200" dirty="0"/>
            </a:p>
            <a:p>
              <a:pPr marL="285750" indent="-285750">
                <a:buClr>
                  <a:schemeClr val="tx1">
                    <a:lumMod val="50000"/>
                  </a:schemeClr>
                </a:buClr>
                <a:buFont typeface="Wingdings" panose="05000000000000000000" pitchFamily="2" charset="2"/>
                <a:buChar char="§"/>
              </a:pPr>
              <a:r>
                <a:rPr lang="en-US" sz="1200" dirty="0" err="1"/>
                <a:t>Async</a:t>
              </a:r>
              <a:r>
                <a:rPr lang="en-US" sz="1200" dirty="0"/>
                <a:t> </a:t>
              </a:r>
              <a:r>
                <a:rPr lang="en-US" sz="1200" dirty="0" err="1"/>
                <a:t>Reponse</a:t>
              </a:r>
              <a:r>
                <a:rPr lang="en-US" sz="1200" dirty="0"/>
                <a:t> Bean  - derived from response </a:t>
              </a:r>
              <a:r>
                <a:rPr lang="en-US" sz="1200" dirty="0" err="1"/>
                <a:t>wsdl:message</a:t>
              </a:r>
              <a:endParaRPr lang="en-US" sz="1200" dirty="0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1371600" y="1295400"/>
              <a:ext cx="1219200" cy="4247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sz="1800" b="1" dirty="0" err="1">
                  <a:solidFill>
                    <a:srgbClr val="444444"/>
                  </a:solidFill>
                  <a:latin typeface="Trebuchet MS"/>
                  <a:cs typeface="Trebuchet MS"/>
                </a:rPr>
                <a:t>wsimport</a:t>
              </a:r>
              <a:endParaRPr lang="en-US" sz="1800" b="1" dirty="0">
                <a:solidFill>
                  <a:srgbClr val="444444"/>
                </a:solidFill>
                <a:latin typeface="Trebuchet MS"/>
                <a:cs typeface="Trebuchet MS"/>
              </a:endParaRP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1371600" y="3973755"/>
              <a:ext cx="1219200" cy="4282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sz="2000" b="1" dirty="0" err="1"/>
                <a:t>wsgen</a:t>
              </a:r>
              <a:endParaRPr lang="en-US" sz="2000" b="1" dirty="0">
                <a:solidFill>
                  <a:srgbClr val="444444"/>
                </a:solidFill>
                <a:latin typeface="Trebuchet MS"/>
                <a:cs typeface="Trebuchet MS"/>
              </a:endParaRPr>
            </a:p>
          </p:txBody>
        </p:sp>
        <p:sp>
          <p:nvSpPr>
            <p:cNvPr id="16" name="Rectangle 2"/>
            <p:cNvSpPr>
              <a:spLocks noChangeArrowheads="1"/>
            </p:cNvSpPr>
            <p:nvPr/>
          </p:nvSpPr>
          <p:spPr bwMode="auto">
            <a:xfrm>
              <a:off x="533400" y="5147873"/>
              <a:ext cx="8077200" cy="650148"/>
            </a:xfrm>
            <a:prstGeom prst="rect">
              <a:avLst/>
            </a:prstGeom>
            <a:solidFill>
              <a:srgbClr val="F7F7F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0" tIns="0" rIns="0" bIns="952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2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	</a:t>
              </a:r>
            </a:p>
            <a:p>
              <a:pPr lvl="0"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	</a:t>
              </a:r>
              <a:r>
                <a:rPr kumimoji="0" lang="en-US" altLang="en-US" sz="12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D:\</a:t>
              </a:r>
              <a:r>
                <a:rPr kumimoji="0" lang="en-US" altLang="en-US" sz="1200" b="0" i="0" u="none" strike="noStrike" cap="none" normalizeH="0" baseline="0" dirty="0">
                  <a:ln>
                    <a:noFill/>
                  </a:ln>
                  <a:solidFill>
                    <a:srgbClr val="A67F59"/>
                  </a:solidFill>
                  <a:effectLst/>
                  <a:latin typeface="Consolas" panose="020B0609020204030204" pitchFamily="49" charset="0"/>
                </a:rPr>
                <a:t>&gt;</a:t>
              </a:r>
              <a:r>
                <a:rPr kumimoji="0" lang="en-US" altLang="en-US" sz="12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wsgen </a:t>
              </a:r>
              <a:r>
                <a:rPr lang="en-US" altLang="en-US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-</a:t>
              </a:r>
              <a:r>
                <a:rPr lang="en-US" altLang="en-US" sz="12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wsdl</a:t>
              </a:r>
              <a:r>
                <a:rPr lang="en-US" altLang="en-US" sz="1200" dirty="0">
                  <a:latin typeface="Consolas" panose="020B0609020204030204" pitchFamily="49" charset="0"/>
                </a:rPr>
                <a:t> </a:t>
              </a:r>
              <a:r>
                <a:rPr lang="en-US" altLang="en-US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–d files –s </a:t>
              </a:r>
              <a:r>
                <a:rPr lang="en-US" altLang="en-US" sz="12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src</a:t>
              </a:r>
              <a:r>
                <a:rPr lang="en-US" altLang="en-US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</a:t>
              </a:r>
              <a:r>
                <a:rPr kumimoji="0" lang="en-US" altLang="en-US" sz="12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-</a:t>
              </a:r>
              <a:r>
                <a:rPr kumimoji="0" lang="en-US" altLang="en-US" sz="1200" b="0" i="0" u="none" strike="noStrike" cap="none" normalizeH="0" baseline="0" dirty="0" err="1">
                  <a:ln>
                    <a:noFill/>
                  </a:ln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cp</a:t>
              </a:r>
              <a:r>
                <a:rPr kumimoji="0" lang="en-US" altLang="en-US" sz="12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kumimoji="0" lang="en-US" altLang="en-US" sz="1200" b="0" i="0" u="none" strike="noStrike" cap="none" normalizeH="0" baseline="0" dirty="0" err="1">
                  <a:ln>
                    <a:noFill/>
                  </a:ln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com.example.ws.WebService</a:t>
              </a:r>
              <a:endPara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endParaRPr>
            </a:p>
          </p:txBody>
        </p:sp>
        <p:sp>
          <p:nvSpPr>
            <p:cNvPr id="17" name="Rectangle 2"/>
            <p:cNvSpPr>
              <a:spLocks noChangeArrowheads="1"/>
            </p:cNvSpPr>
            <p:nvPr/>
          </p:nvSpPr>
          <p:spPr bwMode="auto">
            <a:xfrm>
              <a:off x="533400" y="2458781"/>
              <a:ext cx="8077200" cy="650148"/>
            </a:xfrm>
            <a:prstGeom prst="rect">
              <a:avLst/>
            </a:prstGeom>
            <a:solidFill>
              <a:srgbClr val="F7F7F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0" tIns="0" rIns="0" bIns="952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2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	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en-US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	</a:t>
              </a:r>
              <a:r>
                <a:rPr kumimoji="0" lang="en-US" altLang="en-US" sz="12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D:\</a:t>
              </a:r>
              <a:r>
                <a:rPr kumimoji="0" lang="en-US" altLang="en-US" sz="1200" b="0" i="0" u="none" strike="noStrike" cap="none" normalizeH="0" baseline="0" dirty="0">
                  <a:ln>
                    <a:noFill/>
                  </a:ln>
                  <a:solidFill>
                    <a:srgbClr val="A67F59"/>
                  </a:solidFill>
                  <a:effectLst/>
                  <a:latin typeface="Consolas" panose="020B0609020204030204" pitchFamily="49" charset="0"/>
                </a:rPr>
                <a:t>&gt;</a:t>
              </a:r>
              <a:r>
                <a:rPr kumimoji="0" lang="en-US" altLang="en-US" sz="12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wsimport –d files </a:t>
              </a:r>
              <a:r>
                <a:rPr lang="en-US" altLang="en-US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–s </a:t>
              </a:r>
              <a:r>
                <a:rPr lang="en-US" altLang="en-US" sz="12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src</a:t>
              </a:r>
              <a:r>
                <a:rPr lang="en-US" altLang="en-US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http</a:t>
              </a:r>
              <a:r>
                <a:rPr lang="en-US" altLang="en-US" sz="1200" dirty="0">
                  <a:solidFill>
                    <a:srgbClr val="000000"/>
                  </a:solidFill>
                  <a:latin typeface="Consolas" panose="020B0609020204030204" pitchFamily="49" charset="0"/>
                  <a:sym typeface="Wingdings" panose="05000000000000000000" pitchFamily="2" charset="2"/>
                </a:rPr>
                <a:t>://www.example.com/some.service?WSDL</a:t>
              </a:r>
              <a:br>
                <a:rPr kumimoji="0" lang="en-US" altLang="en-US" sz="12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</a:br>
              <a:endPara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endParaRP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3352800" y="3708286"/>
              <a:ext cx="4419600" cy="73706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sz="1200" dirty="0"/>
                <a:t>Generates JAX-WS portable artifacts used in JAX-WS web services from your web Service Endpoint Implementation class </a:t>
              </a:r>
              <a:endParaRPr lang="en-US" sz="1200" dirty="0">
                <a:solidFill>
                  <a:srgbClr val="444444"/>
                </a:solidFill>
                <a:latin typeface="Trebuchet MS"/>
                <a:cs typeface="Trebuchet M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60896493"/>
      </p:ext>
    </p:extLst>
  </p:cSld>
  <p:clrMapOvr>
    <a:masterClrMapping/>
  </p:clrMapOvr>
  <p:transition spd="med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0" y="0"/>
            <a:ext cx="9144000" cy="590550"/>
          </a:xfrm>
          <a:prstGeom prst="rect">
            <a:avLst/>
          </a:prstGeom>
          <a:solidFill>
            <a:srgbClr val="464547"/>
          </a:solidFill>
          <a:ln>
            <a:noFill/>
          </a:ln>
          <a:effectLst>
            <a:outerShdw blurRad="38100" dist="25400" dir="5400000" algn="t" rotWithShape="0">
              <a:schemeClr val="tx1">
                <a:lumMod val="50000"/>
                <a:alpha val="70000"/>
              </a:schemeClr>
            </a:outerShdw>
          </a:effectLst>
        </p:spPr>
        <p:txBody>
          <a:bodyPr/>
          <a:lstStyle/>
          <a:p>
            <a:r>
              <a:rPr lang="en-US" dirty="0">
                <a:solidFill>
                  <a:srgbClr val="39C2D7"/>
                </a:solidFill>
                <a:effectLst>
                  <a:outerShdw blurRad="50800" dist="38100" dir="5400000" algn="ctr" rotWithShape="0">
                    <a:schemeClr val="tx1">
                      <a:lumMod val="75000"/>
                    </a:schemeClr>
                  </a:outerShdw>
                </a:effectLst>
              </a:rPr>
              <a:t>KITTIES and BOOBIES</a:t>
            </a:r>
          </a:p>
        </p:txBody>
      </p:sp>
      <p:sp>
        <p:nvSpPr>
          <p:cNvPr id="5" name="Прямокутник 4"/>
          <p:cNvSpPr/>
          <p:nvPr/>
        </p:nvSpPr>
        <p:spPr>
          <a:xfrm>
            <a:off x="-609600" y="-609600"/>
            <a:ext cx="9829800" cy="7696200"/>
          </a:xfrm>
          <a:prstGeom prst="rect">
            <a:avLst/>
          </a:prstGeom>
          <a:solidFill>
            <a:srgbClr val="0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0" y="-1473200"/>
            <a:ext cx="8559800" cy="8559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14450" y="6100870"/>
            <a:ext cx="6515100" cy="757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3600" b="1" dirty="0">
                <a:solidFill>
                  <a:schemeClr val="bg1"/>
                </a:solidFill>
                <a:latin typeface="Trebuchet MS"/>
                <a:cs typeface="Trebuchet MS"/>
              </a:rPr>
              <a:t>YOU  ARE  NOT  PREPARED!</a:t>
            </a:r>
          </a:p>
        </p:txBody>
      </p:sp>
    </p:spTree>
    <p:extLst>
      <p:ext uri="{BB962C8B-B14F-4D97-AF65-F5344CB8AC3E}">
        <p14:creationId xmlns:p14="http://schemas.microsoft.com/office/powerpoint/2010/main" val="16870799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0" y="0"/>
            <a:ext cx="9144000" cy="590550"/>
          </a:xfrm>
          <a:prstGeom prst="rect">
            <a:avLst/>
          </a:prstGeom>
          <a:solidFill>
            <a:srgbClr val="464547"/>
          </a:solidFill>
          <a:ln>
            <a:noFill/>
          </a:ln>
          <a:effectLst>
            <a:outerShdw blurRad="38100" dist="25400" dir="5400000" algn="t" rotWithShape="0">
              <a:schemeClr val="tx1">
                <a:lumMod val="50000"/>
                <a:alpha val="70000"/>
              </a:schemeClr>
            </a:outerShdw>
          </a:effectLst>
        </p:spPr>
        <p:txBody>
          <a:bodyPr/>
          <a:lstStyle/>
          <a:p>
            <a:r>
              <a:rPr lang="en-US" dirty="0">
                <a:solidFill>
                  <a:srgbClr val="39C2D7"/>
                </a:solidFill>
                <a:effectLst>
                  <a:outerShdw blurRad="50800" dist="38100" dir="5400000" algn="ctr" rotWithShape="0">
                    <a:schemeClr val="tx1">
                      <a:lumMod val="75000"/>
                    </a:schemeClr>
                  </a:outerShdw>
                </a:effectLst>
              </a:rPr>
              <a:t>SOAP/ </a:t>
            </a:r>
            <a:r>
              <a:rPr lang="en-US" dirty="0">
                <a:solidFill>
                  <a:srgbClr val="39C2D7"/>
                </a:solidFill>
              </a:rPr>
              <a:t>JAX-WS</a:t>
            </a:r>
            <a:endParaRPr lang="en-US" dirty="0">
              <a:solidFill>
                <a:srgbClr val="39C2D7"/>
              </a:solidFill>
              <a:effectLst>
                <a:outerShdw blurRad="50800" dist="38100" dir="5400000" algn="ctr" rotWithShape="0">
                  <a:schemeClr val="tx1">
                    <a:lumMod val="75000"/>
                  </a:schemeClr>
                </a:outerShdw>
              </a:effectLst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086100" y="858810"/>
            <a:ext cx="2971800" cy="3508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lv-LV" altLang="en-US" sz="1400" b="1" dirty="0"/>
              <a:t>Java API for XML Web Services</a:t>
            </a:r>
            <a:endParaRPr lang="en-US" b="1" dirty="0">
              <a:solidFill>
                <a:srgbClr val="444444"/>
              </a:solidFill>
              <a:latin typeface="Trebuchet MS"/>
              <a:cs typeface="Trebuchet MS"/>
            </a:endParaRPr>
          </a:p>
        </p:txBody>
      </p:sp>
      <p:pic>
        <p:nvPicPr>
          <p:cNvPr id="3074" name="Picture 2" descr="Description of Figure 28-1 follow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2250" y="1516035"/>
            <a:ext cx="3619500" cy="6286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1104900" y="2760366"/>
            <a:ext cx="6934200" cy="15881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b="1" dirty="0">
                <a:solidFill>
                  <a:srgbClr val="444444"/>
                </a:solidFill>
                <a:latin typeface="Trebuchet MS"/>
                <a:cs typeface="Trebuchet MS"/>
              </a:rPr>
              <a:t>Wright JAX-WS Server</a:t>
            </a:r>
          </a:p>
          <a:p>
            <a:pPr>
              <a:lnSpc>
                <a:spcPct val="120000"/>
              </a:lnSpc>
            </a:pPr>
            <a:endParaRPr lang="en-US" dirty="0">
              <a:solidFill>
                <a:srgbClr val="444444"/>
              </a:solidFill>
              <a:latin typeface="Trebuchet MS"/>
              <a:cs typeface="Trebuchet MS"/>
            </a:endParaRPr>
          </a:p>
          <a:p>
            <a:pPr marL="342900" indent="-342900">
              <a:lnSpc>
                <a:spcPct val="120000"/>
              </a:lnSpc>
              <a:buFont typeface="+mj-lt"/>
              <a:buAutoNum type="arabicPeriod"/>
            </a:pPr>
            <a:r>
              <a:rPr lang="en-US" dirty="0"/>
              <a:t>Create Web Service Endpoint Interface</a:t>
            </a:r>
          </a:p>
          <a:p>
            <a:pPr marL="342900" indent="-342900">
              <a:lnSpc>
                <a:spcPct val="120000"/>
              </a:lnSpc>
              <a:buFont typeface="+mj-lt"/>
              <a:buAutoNum type="arabicPeriod"/>
            </a:pPr>
            <a:r>
              <a:rPr lang="en-US" dirty="0"/>
              <a:t>Create Web Service Endpoint Implementation</a:t>
            </a:r>
          </a:p>
          <a:p>
            <a:pPr marL="342900" indent="-342900">
              <a:lnSpc>
                <a:spcPct val="120000"/>
              </a:lnSpc>
              <a:buFont typeface="+mj-lt"/>
              <a:buAutoNum type="arabicPeriod"/>
            </a:pPr>
            <a:r>
              <a:rPr lang="en-US" dirty="0"/>
              <a:t>Publish your WSDL</a:t>
            </a:r>
          </a:p>
          <a:p>
            <a:pPr>
              <a:lnSpc>
                <a:spcPct val="120000"/>
              </a:lnSpc>
            </a:pPr>
            <a:endParaRPr lang="en-US" dirty="0">
              <a:solidFill>
                <a:srgbClr val="444444"/>
              </a:solidFill>
              <a:latin typeface="Trebuchet MS"/>
              <a:cs typeface="Trebuchet M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04900" y="4724400"/>
            <a:ext cx="6934200" cy="133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b="1" dirty="0">
                <a:solidFill>
                  <a:srgbClr val="444444"/>
                </a:solidFill>
                <a:latin typeface="Trebuchet MS"/>
                <a:cs typeface="Trebuchet MS"/>
              </a:rPr>
              <a:t>Wright JAX-WS Client</a:t>
            </a:r>
          </a:p>
          <a:p>
            <a:pPr>
              <a:lnSpc>
                <a:spcPct val="120000"/>
              </a:lnSpc>
            </a:pPr>
            <a:endParaRPr lang="en-US" dirty="0">
              <a:solidFill>
                <a:srgbClr val="444444"/>
              </a:solidFill>
              <a:latin typeface="Trebuchet MS"/>
              <a:cs typeface="Trebuchet MS"/>
            </a:endParaRPr>
          </a:p>
          <a:p>
            <a:pPr marL="342900" indent="-342900">
              <a:lnSpc>
                <a:spcPct val="120000"/>
              </a:lnSpc>
              <a:buFont typeface="+mj-lt"/>
              <a:buAutoNum type="arabicPeriod"/>
            </a:pPr>
            <a:r>
              <a:rPr lang="en-US" dirty="0"/>
              <a:t>Use -</a:t>
            </a:r>
            <a:r>
              <a:rPr lang="en-US" dirty="0" err="1"/>
              <a:t>wsimport</a:t>
            </a:r>
            <a:r>
              <a:rPr lang="en-US" dirty="0"/>
              <a:t> to generate necessary client files from WSDL</a:t>
            </a:r>
          </a:p>
          <a:p>
            <a:pPr marL="342900" indent="-342900">
              <a:lnSpc>
                <a:spcPct val="120000"/>
              </a:lnSpc>
              <a:buFont typeface="+mj-lt"/>
              <a:buAutoNum type="arabicPeriod"/>
            </a:pPr>
            <a:r>
              <a:rPr lang="en-US" i="1" dirty="0"/>
              <a:t>Make a remote call.</a:t>
            </a:r>
          </a:p>
          <a:p>
            <a:pPr>
              <a:lnSpc>
                <a:spcPct val="120000"/>
              </a:lnSpc>
            </a:pPr>
            <a:endParaRPr lang="en-US" dirty="0">
              <a:solidFill>
                <a:srgbClr val="444444"/>
              </a:solidFill>
              <a:latin typeface="Trebuchet MS"/>
              <a:cs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2900280816"/>
      </p:ext>
    </p:extLst>
  </p:cSld>
  <p:clrMapOvr>
    <a:masterClrMapping/>
  </p:clrMapOvr>
  <p:transition spd="med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0" y="0"/>
            <a:ext cx="9144000" cy="590550"/>
          </a:xfrm>
          <a:prstGeom prst="rect">
            <a:avLst/>
          </a:prstGeom>
          <a:solidFill>
            <a:srgbClr val="464547"/>
          </a:solidFill>
          <a:ln>
            <a:noFill/>
          </a:ln>
          <a:effectLst>
            <a:outerShdw blurRad="38100" dist="25400" dir="5400000" algn="t" rotWithShape="0">
              <a:schemeClr val="tx1">
                <a:lumMod val="50000"/>
                <a:alpha val="70000"/>
              </a:schemeClr>
            </a:outerShdw>
          </a:effectLst>
        </p:spPr>
        <p:txBody>
          <a:bodyPr/>
          <a:lstStyle/>
          <a:p>
            <a:r>
              <a:rPr lang="en-US" dirty="0">
                <a:solidFill>
                  <a:srgbClr val="39C2D7"/>
                </a:solidFill>
                <a:effectLst>
                  <a:outerShdw blurRad="50800" dist="38100" dir="5400000" algn="ctr" rotWithShape="0">
                    <a:schemeClr val="tx1">
                      <a:lumMod val="75000"/>
                    </a:schemeClr>
                  </a:outerShdw>
                </a:effectLst>
              </a:rPr>
              <a:t>SOAP/ Frameworks</a:t>
            </a:r>
          </a:p>
        </p:txBody>
      </p:sp>
      <p:pic>
        <p:nvPicPr>
          <p:cNvPr id="3074" name="Picture 2" descr="http://javacodebook.com/wp-content/uploads/2013/08/GoogleTrendsWSFrameworks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3581400"/>
            <a:ext cx="8367185" cy="274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Групувати 7"/>
          <p:cNvGrpSpPr/>
          <p:nvPr/>
        </p:nvGrpSpPr>
        <p:grpSpPr>
          <a:xfrm>
            <a:off x="1104900" y="791908"/>
            <a:ext cx="6934200" cy="341632"/>
            <a:chOff x="914400" y="1004561"/>
            <a:chExt cx="6934200" cy="341632"/>
          </a:xfrm>
        </p:grpSpPr>
        <p:sp>
          <p:nvSpPr>
            <p:cNvPr id="3" name="TextBox 2"/>
            <p:cNvSpPr txBox="1"/>
            <p:nvPr/>
          </p:nvSpPr>
          <p:spPr>
            <a:xfrm>
              <a:off x="914400" y="1020704"/>
              <a:ext cx="1143000" cy="3000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Apache CXF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3810000" y="1004561"/>
              <a:ext cx="1295400" cy="3416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b="1" dirty="0"/>
                <a:t>Apache Axis2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6858000" y="1004561"/>
              <a:ext cx="990600" cy="3416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b="1" dirty="0"/>
                <a:t>Spring WS</a:t>
              </a:r>
            </a:p>
          </p:txBody>
        </p:sp>
      </p:grpSp>
      <p:sp>
        <p:nvSpPr>
          <p:cNvPr id="16" name="TextBox 15"/>
          <p:cNvSpPr txBox="1"/>
          <p:nvPr/>
        </p:nvSpPr>
        <p:spPr>
          <a:xfrm>
            <a:off x="398184" y="1334898"/>
            <a:ext cx="2603123" cy="18374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b="1" dirty="0">
                <a:solidFill>
                  <a:srgbClr val="444444"/>
                </a:solidFill>
                <a:latin typeface="Trebuchet MS"/>
                <a:cs typeface="Trebuchet MS"/>
              </a:rPr>
              <a:t> [ </a:t>
            </a:r>
            <a:r>
              <a:rPr lang="en-US" b="1" cap="all" dirty="0">
                <a:solidFill>
                  <a:srgbClr val="A3C745"/>
                </a:solidFill>
                <a:latin typeface="Trebuchet MS"/>
                <a:cs typeface="Trebuchet MS"/>
              </a:rPr>
              <a:t>Profs </a:t>
            </a:r>
            <a:r>
              <a:rPr lang="en-US" b="1" cap="all" dirty="0">
                <a:solidFill>
                  <a:schemeClr val="tx1">
                    <a:lumMod val="50000"/>
                  </a:schemeClr>
                </a:solidFill>
                <a:latin typeface="Trebuchet MS"/>
                <a:cs typeface="Trebuchet MS"/>
              </a:rPr>
              <a:t>]</a:t>
            </a:r>
          </a:p>
          <a:p>
            <a:pPr algn="ctr">
              <a:lnSpc>
                <a:spcPct val="120000"/>
              </a:lnSpc>
            </a:pPr>
            <a:r>
              <a:rPr lang="en-US" dirty="0"/>
              <a:t> Fully compliant with JAX-WS</a:t>
            </a:r>
          </a:p>
          <a:p>
            <a:pPr algn="ctr">
              <a:lnSpc>
                <a:spcPct val="120000"/>
              </a:lnSpc>
            </a:pPr>
            <a:r>
              <a:rPr lang="en-US" dirty="0"/>
              <a:t>Contract-First and</a:t>
            </a:r>
          </a:p>
          <a:p>
            <a:pPr algn="ctr">
              <a:lnSpc>
                <a:spcPct val="120000"/>
              </a:lnSpc>
            </a:pPr>
            <a:r>
              <a:rPr lang="en-US" dirty="0"/>
              <a:t> Contract-Last support</a:t>
            </a:r>
            <a:endParaRPr lang="en-US" dirty="0">
              <a:solidFill>
                <a:srgbClr val="444444"/>
              </a:solidFill>
              <a:latin typeface="Trebuchet MS"/>
              <a:cs typeface="Trebuchet MS"/>
            </a:endParaRPr>
          </a:p>
          <a:p>
            <a:pPr algn="ctr">
              <a:lnSpc>
                <a:spcPct val="120000"/>
              </a:lnSpc>
            </a:pPr>
            <a:endParaRPr lang="en-US" dirty="0">
              <a:solidFill>
                <a:srgbClr val="444444"/>
              </a:solidFill>
              <a:latin typeface="Trebuchet MS"/>
              <a:cs typeface="Trebuchet MS"/>
            </a:endParaRPr>
          </a:p>
          <a:p>
            <a:pPr algn="ctr">
              <a:lnSpc>
                <a:spcPct val="120000"/>
              </a:lnSpc>
            </a:pPr>
            <a:r>
              <a:rPr lang="en-US" b="1" dirty="0">
                <a:solidFill>
                  <a:srgbClr val="444444"/>
                </a:solidFill>
                <a:latin typeface="Trebuchet MS"/>
                <a:cs typeface="Trebuchet MS"/>
              </a:rPr>
              <a:t> [ </a:t>
            </a:r>
            <a:r>
              <a:rPr lang="en-US" b="1" cap="all" dirty="0">
                <a:solidFill>
                  <a:srgbClr val="B22746"/>
                </a:solidFill>
                <a:latin typeface="Trebuchet MS"/>
                <a:cs typeface="Trebuchet MS"/>
              </a:rPr>
              <a:t>Cons </a:t>
            </a:r>
            <a:r>
              <a:rPr lang="en-US" b="1" cap="all" dirty="0">
                <a:solidFill>
                  <a:schemeClr val="tx1">
                    <a:lumMod val="50000"/>
                  </a:schemeClr>
                </a:solidFill>
                <a:latin typeface="Trebuchet MS"/>
                <a:cs typeface="Trebuchet MS"/>
              </a:rPr>
              <a:t>]</a:t>
            </a:r>
          </a:p>
          <a:p>
            <a:pPr algn="ctr">
              <a:lnSpc>
                <a:spcPct val="120000"/>
              </a:lnSpc>
            </a:pPr>
            <a:r>
              <a:rPr lang="en-US" dirty="0">
                <a:solidFill>
                  <a:srgbClr val="444444"/>
                </a:solidFill>
                <a:cs typeface="Trebuchet MS"/>
              </a:rPr>
              <a:t>Comparatively more coding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22046" y="1334898"/>
            <a:ext cx="2637491" cy="20867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b="1" dirty="0">
                <a:solidFill>
                  <a:srgbClr val="444444"/>
                </a:solidFill>
                <a:latin typeface="Trebuchet MS"/>
                <a:cs typeface="Trebuchet MS"/>
              </a:rPr>
              <a:t> [ </a:t>
            </a:r>
            <a:r>
              <a:rPr lang="en-US" b="1" cap="all" dirty="0">
                <a:solidFill>
                  <a:srgbClr val="A3C745"/>
                </a:solidFill>
                <a:latin typeface="Trebuchet MS"/>
                <a:cs typeface="Trebuchet MS"/>
              </a:rPr>
              <a:t>Profs </a:t>
            </a:r>
            <a:r>
              <a:rPr lang="en-US" b="1" cap="all" dirty="0">
                <a:solidFill>
                  <a:schemeClr val="tx1">
                    <a:lumMod val="50000"/>
                  </a:schemeClr>
                </a:solidFill>
                <a:latin typeface="Trebuchet MS"/>
                <a:cs typeface="Trebuchet MS"/>
              </a:rPr>
              <a:t>]</a:t>
            </a:r>
          </a:p>
          <a:p>
            <a:pPr algn="ctr">
              <a:lnSpc>
                <a:spcPct val="120000"/>
              </a:lnSpc>
            </a:pPr>
            <a:r>
              <a:rPr lang="en-US" dirty="0"/>
              <a:t>Contract-First and</a:t>
            </a:r>
          </a:p>
          <a:p>
            <a:pPr algn="ctr">
              <a:lnSpc>
                <a:spcPct val="120000"/>
              </a:lnSpc>
            </a:pPr>
            <a:r>
              <a:rPr lang="en-US" dirty="0"/>
              <a:t> Contract-Last support</a:t>
            </a:r>
          </a:p>
          <a:p>
            <a:pPr algn="ctr">
              <a:lnSpc>
                <a:spcPct val="120000"/>
              </a:lnSpc>
            </a:pPr>
            <a:endParaRPr lang="en-US" dirty="0">
              <a:solidFill>
                <a:srgbClr val="444444"/>
              </a:solidFill>
              <a:latin typeface="Trebuchet MS"/>
              <a:cs typeface="Trebuchet MS"/>
            </a:endParaRPr>
          </a:p>
          <a:p>
            <a:pPr algn="ctr">
              <a:lnSpc>
                <a:spcPct val="120000"/>
              </a:lnSpc>
            </a:pPr>
            <a:endParaRPr lang="en-US" dirty="0">
              <a:solidFill>
                <a:srgbClr val="444444"/>
              </a:solidFill>
              <a:latin typeface="Trebuchet MS"/>
              <a:cs typeface="Trebuchet MS"/>
            </a:endParaRPr>
          </a:p>
          <a:p>
            <a:pPr algn="ctr">
              <a:lnSpc>
                <a:spcPct val="120000"/>
              </a:lnSpc>
            </a:pPr>
            <a:r>
              <a:rPr lang="en-US" b="1" dirty="0">
                <a:solidFill>
                  <a:srgbClr val="444444"/>
                </a:solidFill>
                <a:latin typeface="Trebuchet MS"/>
                <a:cs typeface="Trebuchet MS"/>
              </a:rPr>
              <a:t> [ </a:t>
            </a:r>
            <a:r>
              <a:rPr lang="en-US" b="1" cap="all" dirty="0">
                <a:solidFill>
                  <a:srgbClr val="B22746"/>
                </a:solidFill>
                <a:latin typeface="Trebuchet MS"/>
                <a:cs typeface="Trebuchet MS"/>
              </a:rPr>
              <a:t>Cons </a:t>
            </a:r>
            <a:r>
              <a:rPr lang="en-US" b="1" cap="all" dirty="0">
                <a:solidFill>
                  <a:schemeClr val="tx1">
                    <a:lumMod val="50000"/>
                  </a:schemeClr>
                </a:solidFill>
                <a:latin typeface="Trebuchet MS"/>
                <a:cs typeface="Trebuchet MS"/>
              </a:rPr>
              <a:t>]</a:t>
            </a:r>
          </a:p>
          <a:p>
            <a:pPr algn="ctr">
              <a:lnSpc>
                <a:spcPct val="120000"/>
              </a:lnSpc>
            </a:pPr>
            <a:r>
              <a:rPr lang="en-US" dirty="0"/>
              <a:t>Not fully compliant for JAX-WS.</a:t>
            </a:r>
          </a:p>
          <a:p>
            <a:pPr algn="ctr">
              <a:lnSpc>
                <a:spcPct val="120000"/>
              </a:lnSpc>
            </a:pPr>
            <a:r>
              <a:rPr lang="en-US" dirty="0">
                <a:solidFill>
                  <a:srgbClr val="444444"/>
                </a:solidFill>
                <a:cs typeface="Trebuchet MS"/>
              </a:rPr>
              <a:t>Comparatively more coding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95092" y="1334898"/>
            <a:ext cx="2497415" cy="18374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b="1" dirty="0">
                <a:solidFill>
                  <a:srgbClr val="444444"/>
                </a:solidFill>
                <a:latin typeface="Trebuchet MS"/>
                <a:cs typeface="Trebuchet MS"/>
              </a:rPr>
              <a:t> [ </a:t>
            </a:r>
            <a:r>
              <a:rPr lang="en-US" b="1" cap="all" dirty="0">
                <a:solidFill>
                  <a:srgbClr val="A3C745"/>
                </a:solidFill>
                <a:latin typeface="Trebuchet MS"/>
                <a:cs typeface="Trebuchet MS"/>
              </a:rPr>
              <a:t>Profs </a:t>
            </a:r>
            <a:r>
              <a:rPr lang="en-US" b="1" cap="all" dirty="0">
                <a:solidFill>
                  <a:schemeClr val="tx1">
                    <a:lumMod val="50000"/>
                  </a:schemeClr>
                </a:solidFill>
                <a:latin typeface="Trebuchet MS"/>
                <a:cs typeface="Trebuchet MS"/>
              </a:rPr>
              <a:t>]</a:t>
            </a:r>
          </a:p>
          <a:p>
            <a:pPr algn="ctr">
              <a:lnSpc>
                <a:spcPct val="120000"/>
              </a:lnSpc>
            </a:pPr>
            <a:r>
              <a:rPr lang="en-US" dirty="0"/>
              <a:t>Supports JAX-WS Annotations </a:t>
            </a:r>
          </a:p>
          <a:p>
            <a:pPr algn="ctr">
              <a:lnSpc>
                <a:spcPct val="120000"/>
              </a:lnSpc>
            </a:pPr>
            <a:r>
              <a:rPr lang="en-US" dirty="0"/>
              <a:t>Best for Contract-First</a:t>
            </a:r>
            <a:endParaRPr lang="en-US" dirty="0">
              <a:solidFill>
                <a:srgbClr val="444444"/>
              </a:solidFill>
              <a:latin typeface="Trebuchet MS"/>
              <a:cs typeface="Trebuchet MS"/>
            </a:endParaRPr>
          </a:p>
          <a:p>
            <a:pPr algn="ctr">
              <a:lnSpc>
                <a:spcPct val="120000"/>
              </a:lnSpc>
            </a:pPr>
            <a:endParaRPr lang="en-US" dirty="0">
              <a:solidFill>
                <a:srgbClr val="444444"/>
              </a:solidFill>
              <a:latin typeface="Trebuchet MS"/>
              <a:cs typeface="Trebuchet MS"/>
            </a:endParaRPr>
          </a:p>
          <a:p>
            <a:pPr algn="ctr">
              <a:lnSpc>
                <a:spcPct val="120000"/>
              </a:lnSpc>
            </a:pPr>
            <a:endParaRPr lang="en-US" dirty="0">
              <a:solidFill>
                <a:srgbClr val="444444"/>
              </a:solidFill>
              <a:latin typeface="Trebuchet MS"/>
              <a:cs typeface="Trebuchet MS"/>
            </a:endParaRPr>
          </a:p>
          <a:p>
            <a:pPr algn="ctr">
              <a:lnSpc>
                <a:spcPct val="120000"/>
              </a:lnSpc>
            </a:pPr>
            <a:r>
              <a:rPr lang="en-US" b="1" dirty="0">
                <a:solidFill>
                  <a:srgbClr val="444444"/>
                </a:solidFill>
                <a:latin typeface="Trebuchet MS"/>
                <a:cs typeface="Trebuchet MS"/>
              </a:rPr>
              <a:t> [ </a:t>
            </a:r>
            <a:r>
              <a:rPr lang="en-US" b="1" cap="all" dirty="0">
                <a:solidFill>
                  <a:srgbClr val="B22746"/>
                </a:solidFill>
                <a:latin typeface="Trebuchet MS"/>
                <a:cs typeface="Trebuchet MS"/>
              </a:rPr>
              <a:t>Cons </a:t>
            </a:r>
            <a:r>
              <a:rPr lang="en-US" b="1" cap="all" dirty="0">
                <a:solidFill>
                  <a:schemeClr val="tx1">
                    <a:lumMod val="50000"/>
                  </a:schemeClr>
                </a:solidFill>
                <a:latin typeface="Trebuchet MS"/>
                <a:cs typeface="Trebuchet MS"/>
              </a:rPr>
              <a:t>]</a:t>
            </a:r>
          </a:p>
          <a:p>
            <a:pPr algn="ctr">
              <a:lnSpc>
                <a:spcPct val="120000"/>
              </a:lnSpc>
            </a:pPr>
            <a:r>
              <a:rPr lang="en-US" dirty="0"/>
              <a:t>No Contract-Last support</a:t>
            </a:r>
          </a:p>
        </p:txBody>
      </p:sp>
    </p:spTree>
    <p:extLst>
      <p:ext uri="{BB962C8B-B14F-4D97-AF65-F5344CB8AC3E}">
        <p14:creationId xmlns:p14="http://schemas.microsoft.com/office/powerpoint/2010/main" val="3971356593"/>
      </p:ext>
    </p:extLst>
  </p:cSld>
  <p:clrMapOvr>
    <a:masterClrMapping/>
  </p:clrMapOvr>
  <p:transition spd="med">
    <p:push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0" y="0"/>
            <a:ext cx="9144000" cy="590550"/>
          </a:xfrm>
          <a:prstGeom prst="rect">
            <a:avLst/>
          </a:prstGeom>
          <a:solidFill>
            <a:srgbClr val="464547"/>
          </a:solidFill>
          <a:ln>
            <a:noFill/>
          </a:ln>
          <a:effectLst>
            <a:outerShdw blurRad="38100" dist="25400" dir="5400000" algn="t" rotWithShape="0">
              <a:schemeClr val="tx1">
                <a:lumMod val="50000"/>
                <a:alpha val="70000"/>
              </a:schemeClr>
            </a:outerShdw>
          </a:effectLst>
        </p:spPr>
        <p:txBody>
          <a:bodyPr/>
          <a:lstStyle/>
          <a:p>
            <a:r>
              <a:rPr lang="en-US" dirty="0">
                <a:solidFill>
                  <a:srgbClr val="39C2D7"/>
                </a:solidFill>
                <a:effectLst>
                  <a:outerShdw blurRad="50800" dist="38100" dir="5400000" algn="ctr" rotWithShape="0">
                    <a:schemeClr val="tx1">
                      <a:lumMod val="75000"/>
                    </a:schemeClr>
                  </a:outerShdw>
                </a:effectLst>
              </a:rPr>
              <a:t>SOAP/ SAAJ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19400" y="2440321"/>
            <a:ext cx="40988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Why SOAP needs attachments?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21122" y="2883570"/>
            <a:ext cx="4651278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dirty="0"/>
              <a:t>- All parts of a SOAP message must conform to XML rules.</a:t>
            </a:r>
            <a:endParaRPr lang="en-US" dirty="0">
              <a:solidFill>
                <a:srgbClr val="444444"/>
              </a:solidFill>
              <a:latin typeface="Trebuchet MS"/>
              <a:cs typeface="Trebuchet M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121122" y="3299456"/>
            <a:ext cx="5489478" cy="59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dirty="0"/>
              <a:t>- Possible memory issues</a:t>
            </a:r>
            <a:br>
              <a:rPr lang="ru-RU" dirty="0"/>
            </a:br>
            <a:r>
              <a:rPr lang="ru-RU" dirty="0"/>
              <a:t>        </a:t>
            </a:r>
            <a:r>
              <a:rPr lang="en-US" dirty="0"/>
              <a:t>since entire SOAP message is parsed before further processing.</a:t>
            </a:r>
            <a:endParaRPr lang="en-US" dirty="0">
              <a:solidFill>
                <a:srgbClr val="444444"/>
              </a:solidFill>
              <a:latin typeface="Trebuchet MS"/>
              <a:cs typeface="Trebuchet MS"/>
            </a:endParaRPr>
          </a:p>
        </p:txBody>
      </p:sp>
      <p:pic>
        <p:nvPicPr>
          <p:cNvPr id="6146" name="Picture 2" descr="Diagram of SOAPMessage Object with SOAPPart, SOAPEnvelope, SOAPHeader, SOAPBody, and two AttachmentPart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676400"/>
            <a:ext cx="1923684" cy="3984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/>
          <p:cNvSpPr txBox="1"/>
          <p:nvPr/>
        </p:nvSpPr>
        <p:spPr>
          <a:xfrm>
            <a:off x="6842097" y="910553"/>
            <a:ext cx="1828800" cy="428259"/>
          </a:xfrm>
          <a:prstGeom prst="rect">
            <a:avLst/>
          </a:prstGeom>
          <a:solidFill>
            <a:srgbClr val="A3C745"/>
          </a:solidFill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444444"/>
                </a:solidFill>
                <a:latin typeface="Trebuchet MS"/>
                <a:cs typeface="Trebuchet MS"/>
              </a:rPr>
              <a:t>SAAJ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91000" y="4256237"/>
            <a:ext cx="3810000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b="1" dirty="0"/>
              <a:t>MIME Headers  +</a:t>
            </a:r>
            <a:r>
              <a:rPr lang="en-US" dirty="0"/>
              <a:t>  </a:t>
            </a:r>
            <a:r>
              <a:rPr lang="en-US" b="1" dirty="0" err="1"/>
              <a:t>Contens</a:t>
            </a:r>
            <a:endParaRPr lang="en-US" b="1" dirty="0">
              <a:solidFill>
                <a:srgbClr val="444444"/>
              </a:solidFill>
              <a:latin typeface="Trebuchet MS"/>
              <a:cs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570574195"/>
      </p:ext>
    </p:extLst>
  </p:cSld>
  <p:clrMapOvr>
    <a:masterClrMapping/>
  </p:clrMapOvr>
  <p:transition spd="med">
    <p:push dir="u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0" y="0"/>
            <a:ext cx="9144000" cy="590550"/>
          </a:xfrm>
          <a:prstGeom prst="rect">
            <a:avLst/>
          </a:prstGeom>
          <a:solidFill>
            <a:srgbClr val="464547"/>
          </a:solidFill>
          <a:ln>
            <a:noFill/>
          </a:ln>
          <a:effectLst>
            <a:outerShdw blurRad="38100" dist="25400" dir="5400000" algn="t" rotWithShape="0">
              <a:schemeClr val="tx1">
                <a:lumMod val="50000"/>
                <a:alpha val="70000"/>
              </a:schemeClr>
            </a:outerShdw>
          </a:effectLst>
        </p:spPr>
        <p:txBody>
          <a:bodyPr>
            <a:normAutofit/>
          </a:bodyPr>
          <a:lstStyle/>
          <a:p>
            <a:r>
              <a:rPr lang="en-US" dirty="0">
                <a:solidFill>
                  <a:srgbClr val="39C2D7"/>
                </a:solidFill>
                <a:effectLst>
                  <a:outerShdw blurRad="50800" dist="38100" dir="5400000" algn="ctr" rotWithShape="0">
                    <a:schemeClr val="tx1">
                      <a:lumMod val="75000"/>
                    </a:schemeClr>
                  </a:outerShdw>
                </a:effectLst>
              </a:rPr>
              <a:t>SOAP/ Extended Specifications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914400"/>
            <a:ext cx="7848600" cy="20544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US" sz="1800" b="1" dirty="0"/>
              <a:t>WS-Security</a:t>
            </a:r>
            <a:endParaRPr lang="en-US" sz="1800" dirty="0"/>
          </a:p>
          <a:p>
            <a:pPr fontAlgn="base"/>
            <a:r>
              <a:rPr lang="en-US" dirty="0"/>
              <a:t>Specifies how integrity and confidentiality can be enforced on messages and allows the communication of various security token formats, such as </a:t>
            </a:r>
            <a:r>
              <a:rPr lang="en-US" b="1" dirty="0"/>
              <a:t>SAML</a:t>
            </a:r>
            <a:r>
              <a:rPr lang="en-US" dirty="0"/>
              <a:t>, </a:t>
            </a:r>
            <a:r>
              <a:rPr lang="en-US" b="1" dirty="0"/>
              <a:t>Kerberos</a:t>
            </a:r>
            <a:r>
              <a:rPr lang="en-US" dirty="0"/>
              <a:t>, and </a:t>
            </a:r>
            <a:r>
              <a:rPr lang="en-US" b="1" dirty="0"/>
              <a:t>X.509</a:t>
            </a:r>
          </a:p>
          <a:p>
            <a:pPr fontAlgn="base"/>
            <a:r>
              <a:rPr lang="en-US" b="1" dirty="0"/>
              <a:t>	</a:t>
            </a:r>
          </a:p>
          <a:p>
            <a:pPr fontAlgn="base"/>
            <a:r>
              <a:rPr lang="en-US" b="1" dirty="0"/>
              <a:t>	</a:t>
            </a:r>
            <a:r>
              <a:rPr lang="en-US" sz="1400" b="1" dirty="0"/>
              <a:t>WS-Trust</a:t>
            </a:r>
            <a:r>
              <a:rPr lang="en-US" b="1" dirty="0"/>
              <a:t> – </a:t>
            </a:r>
            <a:r>
              <a:rPr lang="en-US" dirty="0"/>
              <a:t>dealing with the issuing, renewing, and validating of security tokens</a:t>
            </a:r>
            <a:endParaRPr lang="en-US" b="1" dirty="0"/>
          </a:p>
          <a:p>
            <a:pPr fontAlgn="base"/>
            <a:endParaRPr lang="en-US" b="1" dirty="0"/>
          </a:p>
          <a:p>
            <a:pPr fontAlgn="base"/>
            <a:r>
              <a:rPr lang="en-US" dirty="0"/>
              <a:t>	</a:t>
            </a:r>
            <a:r>
              <a:rPr lang="en-US" sz="1400" b="1" dirty="0"/>
              <a:t>XML Encryption </a:t>
            </a:r>
            <a:r>
              <a:rPr lang="en-US" b="1" dirty="0"/>
              <a:t>– </a:t>
            </a:r>
            <a:r>
              <a:rPr lang="en-US" dirty="0"/>
              <a:t>defines how to encrypt the contents of an XML element</a:t>
            </a:r>
          </a:p>
          <a:p>
            <a:pPr fontAlgn="base"/>
            <a:endParaRPr lang="en-US" b="1" dirty="0"/>
          </a:p>
          <a:p>
            <a:pPr fontAlgn="base"/>
            <a:r>
              <a:rPr lang="en-US" b="1" dirty="0"/>
              <a:t>	</a:t>
            </a:r>
            <a:r>
              <a:rPr lang="en-US" sz="1400" b="1" dirty="0"/>
              <a:t>XML Signature </a:t>
            </a:r>
            <a:r>
              <a:rPr lang="en-US" dirty="0"/>
              <a:t>-  defines an XML syntax for digital signatures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3298150"/>
            <a:ext cx="7848600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US" sz="1800" b="1" dirty="0"/>
              <a:t>WS-Transaction</a:t>
            </a:r>
          </a:p>
          <a:p>
            <a:pPr fontAlgn="base"/>
            <a:r>
              <a:rPr lang="en-US" dirty="0"/>
              <a:t>Defines two coordination types: </a:t>
            </a:r>
            <a:r>
              <a:rPr lang="en-US" b="1" dirty="0"/>
              <a:t>Atomic Transaction</a:t>
            </a:r>
            <a:r>
              <a:rPr lang="en-US" dirty="0"/>
              <a:t> for individual operations</a:t>
            </a:r>
          </a:p>
          <a:p>
            <a:pPr fontAlgn="base"/>
            <a:r>
              <a:rPr lang="en-US" dirty="0"/>
              <a:t>and </a:t>
            </a:r>
            <a:r>
              <a:rPr lang="en-US" b="1" dirty="0"/>
              <a:t>Business Activity </a:t>
            </a:r>
            <a:r>
              <a:rPr lang="en-US" dirty="0"/>
              <a:t>for long running transactions</a:t>
            </a:r>
            <a:endParaRPr lang="en-US" b="1" dirty="0"/>
          </a:p>
        </p:txBody>
      </p:sp>
      <p:sp>
        <p:nvSpPr>
          <p:cNvPr id="6" name="TextBox 5"/>
          <p:cNvSpPr txBox="1"/>
          <p:nvPr/>
        </p:nvSpPr>
        <p:spPr>
          <a:xfrm>
            <a:off x="581025" y="4288750"/>
            <a:ext cx="7848600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US" sz="1800" b="1" dirty="0"/>
              <a:t>WS-</a:t>
            </a:r>
            <a:r>
              <a:rPr lang="en-US" sz="1800" b="1" dirty="0" err="1"/>
              <a:t>ReliableMessaging</a:t>
            </a:r>
            <a:endParaRPr lang="en-US" sz="1800" b="1" dirty="0"/>
          </a:p>
          <a:p>
            <a:pPr fontAlgn="base"/>
            <a:r>
              <a:rPr lang="en-US" dirty="0"/>
              <a:t>Describes a protocol that allows SOAP messages to be reliably delivered between distributed applications in the presence of software component, system, or network failures</a:t>
            </a:r>
            <a:endParaRPr lang="en-US" b="1" dirty="0"/>
          </a:p>
        </p:txBody>
      </p:sp>
      <p:sp>
        <p:nvSpPr>
          <p:cNvPr id="7" name="TextBox 6"/>
          <p:cNvSpPr txBox="1"/>
          <p:nvPr/>
        </p:nvSpPr>
        <p:spPr>
          <a:xfrm>
            <a:off x="609600" y="5279350"/>
            <a:ext cx="7848600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US" sz="1800" b="1" dirty="0"/>
              <a:t>WS-Discovery</a:t>
            </a:r>
          </a:p>
          <a:p>
            <a:pPr fontAlgn="base"/>
            <a:r>
              <a:rPr lang="en-US" dirty="0"/>
              <a:t>Defines a multicast discovery protocol to locate services on a local network</a:t>
            </a:r>
          </a:p>
          <a:p>
            <a:pPr fontAlgn="base"/>
            <a:r>
              <a:rPr lang="en-US" dirty="0"/>
              <a:t>operates over TCP and UDP port 3702 and uses IP multicast address 239.255.255.250</a:t>
            </a:r>
          </a:p>
        </p:txBody>
      </p:sp>
    </p:spTree>
    <p:extLst>
      <p:ext uri="{BB962C8B-B14F-4D97-AF65-F5344CB8AC3E}">
        <p14:creationId xmlns:p14="http://schemas.microsoft.com/office/powerpoint/2010/main" val="1292214720"/>
      </p:ext>
    </p:extLst>
  </p:cSld>
  <p:clrMapOvr>
    <a:masterClrMapping/>
  </p:clrMapOvr>
  <p:transition spd="med">
    <p:push dir="u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0" y="0"/>
            <a:ext cx="9144000" cy="590550"/>
          </a:xfrm>
          <a:prstGeom prst="rect">
            <a:avLst/>
          </a:prstGeom>
          <a:solidFill>
            <a:srgbClr val="464547"/>
          </a:solidFill>
          <a:ln>
            <a:noFill/>
          </a:ln>
          <a:effectLst>
            <a:outerShdw blurRad="38100" dist="25400" dir="5400000" algn="t" rotWithShape="0">
              <a:schemeClr val="tx1">
                <a:lumMod val="50000"/>
                <a:alpha val="70000"/>
              </a:schemeClr>
            </a:outerShdw>
          </a:effectLst>
        </p:spPr>
        <p:txBody>
          <a:bodyPr>
            <a:normAutofit/>
          </a:bodyPr>
          <a:lstStyle/>
          <a:p>
            <a:r>
              <a:rPr lang="en-US" dirty="0">
                <a:solidFill>
                  <a:srgbClr val="39C2D7"/>
                </a:solidFill>
                <a:effectLst>
                  <a:outerShdw blurRad="50800" dist="38100" dir="5400000" algn="ctr" rotWithShape="0">
                    <a:schemeClr val="tx1">
                      <a:lumMod val="75000"/>
                    </a:schemeClr>
                  </a:outerShdw>
                </a:effectLst>
              </a:rPr>
              <a:t>When to SOAP?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1447800"/>
            <a:ext cx="838200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2200" b="1" dirty="0">
                <a:solidFill>
                  <a:srgbClr val="B22746"/>
                </a:solidFill>
              </a:rPr>
              <a:t>NOT</a:t>
            </a:r>
            <a:r>
              <a:rPr lang="en-US" sz="2200" dirty="0"/>
              <a:t>  if you just need a simple Web Service</a:t>
            </a:r>
          </a:p>
          <a:p>
            <a:pPr>
              <a:lnSpc>
                <a:spcPct val="120000"/>
              </a:lnSpc>
            </a:pPr>
            <a:r>
              <a:rPr lang="en-US" sz="2200" b="1" dirty="0">
                <a:solidFill>
                  <a:srgbClr val="B22746"/>
                </a:solidFill>
                <a:cs typeface="Trebuchet MS"/>
              </a:rPr>
              <a:t>NOT</a:t>
            </a:r>
            <a:r>
              <a:rPr lang="en-US" sz="2200" dirty="0">
                <a:solidFill>
                  <a:srgbClr val="444444"/>
                </a:solidFill>
                <a:cs typeface="Trebuchet MS"/>
              </a:rPr>
              <a:t>  if you are looking for an easy way to build a Web Service</a:t>
            </a:r>
          </a:p>
          <a:p>
            <a:pPr>
              <a:lnSpc>
                <a:spcPct val="120000"/>
              </a:lnSpc>
            </a:pPr>
            <a:r>
              <a:rPr lang="en-US" sz="2200" b="1" dirty="0">
                <a:solidFill>
                  <a:srgbClr val="B22746"/>
                </a:solidFill>
                <a:cs typeface="Trebuchet MS"/>
              </a:rPr>
              <a:t>NOT</a:t>
            </a:r>
            <a:r>
              <a:rPr lang="en-US" sz="2200" dirty="0">
                <a:solidFill>
                  <a:srgbClr val="444444"/>
                </a:solidFill>
                <a:cs typeface="Trebuchet MS"/>
              </a:rPr>
              <a:t>  if traffic matters</a:t>
            </a:r>
          </a:p>
          <a:p>
            <a:pPr>
              <a:lnSpc>
                <a:spcPct val="120000"/>
              </a:lnSpc>
            </a:pPr>
            <a:r>
              <a:rPr lang="en-US" sz="2200" b="1" dirty="0">
                <a:solidFill>
                  <a:srgbClr val="B22746"/>
                </a:solidFill>
                <a:cs typeface="Trebuchet MS"/>
              </a:rPr>
              <a:t>NOT</a:t>
            </a:r>
            <a:r>
              <a:rPr lang="en-US" sz="2200" dirty="0">
                <a:solidFill>
                  <a:srgbClr val="444444"/>
                </a:solidFill>
                <a:cs typeface="Trebuchet MS"/>
              </a:rPr>
              <a:t>  if all operations are stateless </a:t>
            </a:r>
          </a:p>
          <a:p>
            <a:pPr>
              <a:lnSpc>
                <a:spcPct val="120000"/>
              </a:lnSpc>
            </a:pPr>
            <a:endParaRPr lang="en-US" sz="2200" dirty="0">
              <a:solidFill>
                <a:srgbClr val="444444"/>
              </a:solidFill>
              <a:cs typeface="Trebuchet MS"/>
            </a:endParaRPr>
          </a:p>
          <a:p>
            <a:pPr>
              <a:lnSpc>
                <a:spcPct val="120000"/>
              </a:lnSpc>
            </a:pPr>
            <a:endParaRPr lang="en-US" sz="2200" dirty="0">
              <a:solidFill>
                <a:srgbClr val="444444"/>
              </a:solidFill>
              <a:cs typeface="Trebuchet MS"/>
            </a:endParaRPr>
          </a:p>
          <a:p>
            <a:pPr>
              <a:lnSpc>
                <a:spcPct val="120000"/>
              </a:lnSpc>
            </a:pPr>
            <a:r>
              <a:rPr lang="en-US" sz="2200" b="1" dirty="0">
                <a:solidFill>
                  <a:srgbClr val="A3C745"/>
                </a:solidFill>
                <a:cs typeface="Trebuchet MS"/>
              </a:rPr>
              <a:t>YES</a:t>
            </a:r>
            <a:r>
              <a:rPr lang="en-US" sz="2200" dirty="0">
                <a:solidFill>
                  <a:srgbClr val="444444"/>
                </a:solidFill>
                <a:cs typeface="Trebuchet MS"/>
              </a:rPr>
              <a:t>  if you require reliable messaging</a:t>
            </a:r>
          </a:p>
          <a:p>
            <a:pPr>
              <a:lnSpc>
                <a:spcPct val="120000"/>
              </a:lnSpc>
            </a:pPr>
            <a:r>
              <a:rPr lang="en-US" sz="2200" b="1" dirty="0">
                <a:solidFill>
                  <a:srgbClr val="A3C745"/>
                </a:solidFill>
                <a:cs typeface="Trebuchet MS"/>
              </a:rPr>
              <a:t>YES</a:t>
            </a:r>
            <a:r>
              <a:rPr lang="en-US" sz="2200" dirty="0">
                <a:solidFill>
                  <a:srgbClr val="444444"/>
                </a:solidFill>
                <a:cs typeface="Trebuchet MS"/>
              </a:rPr>
              <a:t>  if you need </a:t>
            </a:r>
            <a:r>
              <a:rPr lang="en-US" sz="2200" dirty="0" err="1">
                <a:solidFill>
                  <a:srgbClr val="444444"/>
                </a:solidFill>
                <a:cs typeface="Trebuchet MS"/>
              </a:rPr>
              <a:t>Statefull</a:t>
            </a:r>
            <a:r>
              <a:rPr lang="en-US" sz="2200" dirty="0">
                <a:solidFill>
                  <a:srgbClr val="444444"/>
                </a:solidFill>
                <a:cs typeface="Trebuchet MS"/>
              </a:rPr>
              <a:t> operations and Transactions</a:t>
            </a:r>
          </a:p>
          <a:p>
            <a:pPr>
              <a:lnSpc>
                <a:spcPct val="120000"/>
              </a:lnSpc>
            </a:pPr>
            <a:r>
              <a:rPr lang="en-US" sz="2200" b="1" dirty="0">
                <a:solidFill>
                  <a:srgbClr val="A3C745"/>
                </a:solidFill>
                <a:cs typeface="Trebuchet MS"/>
              </a:rPr>
              <a:t>YES</a:t>
            </a:r>
            <a:r>
              <a:rPr lang="en-US" sz="2200" dirty="0">
                <a:solidFill>
                  <a:srgbClr val="444444"/>
                </a:solidFill>
                <a:cs typeface="Trebuchet MS"/>
              </a:rPr>
              <a:t>  if Security matters</a:t>
            </a:r>
          </a:p>
          <a:p>
            <a:pPr>
              <a:lnSpc>
                <a:spcPct val="120000"/>
              </a:lnSpc>
            </a:pPr>
            <a:r>
              <a:rPr lang="en-US" sz="2200" b="1" dirty="0">
                <a:solidFill>
                  <a:srgbClr val="A3C745"/>
                </a:solidFill>
                <a:cs typeface="Trebuchet MS"/>
              </a:rPr>
              <a:t>YES</a:t>
            </a:r>
            <a:r>
              <a:rPr lang="en-US" sz="2200" dirty="0">
                <a:solidFill>
                  <a:srgbClr val="444444"/>
                </a:solidFill>
                <a:cs typeface="Trebuchet MS"/>
              </a:rPr>
              <a:t>  if you go Enterprise</a:t>
            </a:r>
          </a:p>
        </p:txBody>
      </p:sp>
    </p:spTree>
    <p:extLst>
      <p:ext uri="{BB962C8B-B14F-4D97-AF65-F5344CB8AC3E}">
        <p14:creationId xmlns:p14="http://schemas.microsoft.com/office/powerpoint/2010/main" val="475975054"/>
      </p:ext>
    </p:extLst>
  </p:cSld>
  <p:clrMapOvr>
    <a:masterClrMapping/>
  </p:clrMapOvr>
  <p:transition spd="med">
    <p:push dir="u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0" y="0"/>
            <a:ext cx="9144000" cy="590550"/>
          </a:xfrm>
          <a:prstGeom prst="rect">
            <a:avLst/>
          </a:prstGeom>
          <a:solidFill>
            <a:srgbClr val="464547"/>
          </a:solidFill>
          <a:ln>
            <a:noFill/>
          </a:ln>
          <a:effectLst>
            <a:outerShdw blurRad="38100" dist="25400" dir="5400000" algn="t" rotWithShape="0">
              <a:schemeClr val="tx1">
                <a:lumMod val="50000"/>
                <a:alpha val="70000"/>
              </a:schemeClr>
            </a:outerShdw>
          </a:effectLst>
        </p:spPr>
        <p:txBody>
          <a:bodyPr/>
          <a:lstStyle/>
          <a:p>
            <a:r>
              <a:rPr lang="en-US" dirty="0">
                <a:solidFill>
                  <a:srgbClr val="39C2D7"/>
                </a:solidFill>
                <a:effectLst>
                  <a:outerShdw blurRad="50800" dist="38100" dir="5400000" algn="ctr" rotWithShape="0">
                    <a:schemeClr val="tx1">
                      <a:lumMod val="75000"/>
                    </a:schemeClr>
                  </a:outerShdw>
                </a:effectLst>
              </a:rPr>
              <a:t>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8100" y="3124200"/>
            <a:ext cx="1447800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dirty="0">
                <a:solidFill>
                  <a:srgbClr val="444444"/>
                </a:solidFill>
                <a:latin typeface="Trebuchet MS"/>
                <a:cs typeface="Trebuchet MS"/>
              </a:rPr>
              <a:t>Don’t you dare!</a:t>
            </a:r>
          </a:p>
        </p:txBody>
      </p:sp>
    </p:spTree>
    <p:extLst>
      <p:ext uri="{BB962C8B-B14F-4D97-AF65-F5344CB8AC3E}">
        <p14:creationId xmlns:p14="http://schemas.microsoft.com/office/powerpoint/2010/main" val="3743534587"/>
      </p:ext>
    </p:extLst>
  </p:cSld>
  <p:clrMapOvr>
    <a:masterClrMapping/>
  </p:clrMapOvr>
  <p:transition spd="med">
    <p:push dir="u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0200" y="1600200"/>
            <a:ext cx="5844618" cy="4876800"/>
          </a:xfrm>
          <a:prstGeom prst="rect">
            <a:avLst/>
          </a:prstGeom>
        </p:spPr>
      </p:pic>
      <p:sp>
        <p:nvSpPr>
          <p:cNvPr id="6" name="Прямокутник 5"/>
          <p:cNvSpPr/>
          <p:nvPr/>
        </p:nvSpPr>
        <p:spPr>
          <a:xfrm>
            <a:off x="0" y="6553200"/>
            <a:ext cx="9151460" cy="3048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1066800" y="381000"/>
            <a:ext cx="7162800" cy="757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3600" b="1" dirty="0">
                <a:solidFill>
                  <a:schemeClr val="bg1"/>
                </a:solidFill>
                <a:latin typeface="Arial Black" panose="020B0A04020102020204" pitchFamily="34" charset="0"/>
                <a:cs typeface="Trebuchet MS"/>
              </a:rPr>
              <a:t>May the SOAP be with You!</a:t>
            </a:r>
          </a:p>
        </p:txBody>
      </p:sp>
    </p:spTree>
    <p:extLst>
      <p:ext uri="{BB962C8B-B14F-4D97-AF65-F5344CB8AC3E}">
        <p14:creationId xmlns:p14="http://schemas.microsoft.com/office/powerpoint/2010/main" val="25024368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theme/theme1.xml><?xml version="1.0" encoding="utf-8"?>
<a:theme xmlns:a="http://schemas.openxmlformats.org/drawingml/2006/main" name="1_Content Slides">
  <a:themeElements>
    <a:clrScheme name="EPAM">
      <a:dk1>
        <a:srgbClr val="464547"/>
      </a:dk1>
      <a:lt1>
        <a:sysClr val="window" lastClr="FFFFFF"/>
      </a:lt1>
      <a:dk2>
        <a:srgbClr val="666666"/>
      </a:dk2>
      <a:lt2>
        <a:srgbClr val="999999"/>
      </a:lt2>
      <a:accent1>
        <a:srgbClr val="CCCCCC"/>
      </a:accent1>
      <a:accent2>
        <a:srgbClr val="39C2D7"/>
      </a:accent2>
      <a:accent3>
        <a:srgbClr val="1A9CB0"/>
      </a:accent3>
      <a:accent4>
        <a:srgbClr val="A3C644"/>
      </a:accent4>
      <a:accent5>
        <a:srgbClr val="7F993A"/>
      </a:accent5>
      <a:accent6>
        <a:srgbClr val="B22746"/>
      </a:accent6>
      <a:hlink>
        <a:srgbClr val="FFFFFF"/>
      </a:hlink>
      <a:folHlink>
        <a:srgbClr val="FFFFFF"/>
      </a:folHlink>
    </a:clrScheme>
    <a:fontScheme name="Slipstream">
      <a:majorFont>
        <a:latin typeface="Trebuchet MS"/>
        <a:ea typeface=""/>
        <a:cs typeface=""/>
        <a:font script="Jpan" typeface="ＭＳ ゴシック"/>
        <a:font script="Hang" typeface="HY그래픽B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ＭＳ ゴシック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lnSpc>
            <a:spcPct val="120000"/>
          </a:lnSpc>
          <a:defRPr dirty="0" err="1">
            <a:solidFill>
              <a:srgbClr val="444444"/>
            </a:solidFill>
            <a:latin typeface="Trebuchet MS"/>
            <a:cs typeface="Trebuchet MS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EPAM_PPT_CaseStudy_STANDARD_20150424</Template>
  <TotalTime>7081</TotalTime>
  <Words>740</Words>
  <Application>Microsoft Office PowerPoint</Application>
  <PresentationFormat>On-screen Show (4:3)</PresentationFormat>
  <Paragraphs>300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8" baseType="lpstr">
      <vt:lpstr>Arial</vt:lpstr>
      <vt:lpstr>Arial Black</vt:lpstr>
      <vt:lpstr>Calibri</vt:lpstr>
      <vt:lpstr>Consolas</vt:lpstr>
      <vt:lpstr>Courier New</vt:lpstr>
      <vt:lpstr>Trebuchet MS</vt:lpstr>
      <vt:lpstr>Wingdings</vt:lpstr>
      <vt:lpstr>1_Content Slides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Презентація PowerPoint</dc:title>
  <dc:subject>&lt;Project Name&gt;</dc:subject>
  <dc:creator>TiredDude</dc:creator>
  <cp:lastModifiedBy>WorkStation</cp:lastModifiedBy>
  <cp:revision>230</cp:revision>
  <cp:lastPrinted>2011-12-05T22:59:34Z</cp:lastPrinted>
  <dcterms:created xsi:type="dcterms:W3CDTF">2016-02-06T17:30:02Z</dcterms:created>
  <dcterms:modified xsi:type="dcterms:W3CDTF">2016-06-02T11:36:09Z</dcterms:modified>
  <cp:category>Project-related Documents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ID">
    <vt:lpwstr>Project ID</vt:lpwstr>
  </property>
</Properties>
</file>